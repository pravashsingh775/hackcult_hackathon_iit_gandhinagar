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66" r:id="rId5"/>
    <p:sldId id="259" r:id="rId6"/>
    <p:sldId id="267" r:id="rId7"/>
    <p:sldId id="261" r:id="rId8"/>
    <p:sldId id="269" r:id="rId9"/>
    <p:sldId id="270"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58" d="100"/>
          <a:sy n="58" d="100"/>
        </p:scale>
        <p:origin x="85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68459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Confirm founder name and that you are entering solo. Statuses: hardware parts are WORKING individually per the original deck; AI and software are IN PROGRESS. Update to match reality before submission.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Original figures (25%+ crop loss, 60% manual guarding, Rs 50,000+ electronic systems) were removed because no sources were supplied. Add a cited figure or delete the placeholder box.</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Editable slide. The cow/person detection image and the event-log panel are illustrative, labelled as such. Replace with a real screenshot once you have one.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photo from the original deck. The camera in the photo looks like a dome IP camera; your component list says ESP32-CAM. Confirm which camera is actually used and relabel. Add close-up photos of the enclosure if you have them.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Editable slide. Architecture shows planned and unverified parts with dashed borders. The camera frame is illustrative. Confirm camera type (ESP32-CAM vs the dome camera in your photo) and where inference runs.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Editable slide. Add the real GitHub repo URL and unlisted YouTube URL, then replace the two dashed QR placeholders with real QR codes generated from those URLs. Swap the newspaper picture for your actual scan of the Dainik Bhaskar feature.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6F1E3"/>
        </a:solidFill>
        <a:effectLst/>
      </p:bgPr>
    </p:bg>
    <p:spTree>
      <p:nvGrpSpPr>
        <p:cNvPr id="1" name=""/>
        <p:cNvGrpSpPr/>
        <p:nvPr/>
      </p:nvGrpSpPr>
      <p:grpSpPr>
        <a:xfrm>
          <a:off x="0" y="0"/>
          <a:ext cx="0" cy="0"/>
          <a:chOff x="0" y="0"/>
          <a:chExt cx="0" cy="0"/>
        </a:xfrm>
      </p:grpSpPr>
      <p:sp>
        <p:nvSpPr>
          <p:cNvPr id="2" name="Text 0"/>
          <p:cNvSpPr/>
          <p:nvPr/>
        </p:nvSpPr>
        <p:spPr>
          <a:xfrm>
            <a:off x="548640" y="6419088"/>
            <a:ext cx="7315200" cy="274320"/>
          </a:xfrm>
          <a:prstGeom prst="rect">
            <a:avLst/>
          </a:prstGeom>
          <a:noFill/>
          <a:ln/>
        </p:spPr>
        <p:txBody>
          <a:bodyPr wrap="square" lIns="0" tIns="0" rIns="0" bIns="0" rtlCol="0" anchor="ctr"/>
          <a:lstStyle/>
          <a:p>
            <a:pPr marL="0" indent="0">
              <a:buNone/>
            </a:pPr>
            <a:r>
              <a:rPr lang="en-US" sz="1000" dirty="0">
                <a:solidFill>
                  <a:schemeClr val="accent4"/>
                </a:solidFill>
              </a:rPr>
              <a:t>SMART BIJUKA  |  HackCult ’26  |  Green Energy &amp; Sustainability</a:t>
            </a:r>
            <a:endParaRPr lang="en-US" sz="1000" dirty="0"/>
          </a:p>
        </p:txBody>
      </p:sp>
      <p:sp>
        <p:nvSpPr>
          <p:cNvPr id="3" name="Text 1"/>
          <p:cNvSpPr>
            <a:spLocks noGrp="1"/>
          </p:cNvSpPr>
          <p:nvPr>
            <p:ph type="title" idx="101" hasCustomPrompt="1"/>
          </p:nvPr>
        </p:nvSpPr>
        <p:spPr>
          <a:xfrm>
            <a:off x="548640" y="566928"/>
            <a:ext cx="11091672" cy="731520"/>
          </a:xfrm>
          <a:prstGeom prst="rect">
            <a:avLst/>
          </a:prstGeom>
          <a:noFill/>
          <a:ln/>
        </p:spPr>
        <p:txBody>
          <a:bodyPr wrap="square" rtlCol="0"/>
          <a:lstStyle>
            <a:lvl1pPr marL="0" indent="0" algn="l">
              <a:buNone/>
              <a:defRPr lang="en-US" sz="3000" b="1" dirty="0">
                <a:solidFill>
                  <a:schemeClr val="tx2"/>
                </a:solidFill>
                <a:latin typeface="Cambria" pitchFamily="34" charset="0"/>
                <a:ea typeface="Cambria" pitchFamily="34" charset="-122"/>
                <a:cs typeface="Cambria" pitchFamily="34" charset="-120"/>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0725912" y="6419088"/>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F4D36"/>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5912" y="6419088"/>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hyperlink" Target="https://epubs.icar.org.in/index.php/IJEE/article/view/128427"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notesSlide" Target="../notesSlides/notesSlide5.xml"/><Relationship Id="rId16"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image" Target="../media/image7.png"/><Relationship Id="rId9" Type="http://schemas.openxmlformats.org/officeDocument/2006/relationships/image" Target="../media/image12.png"/><Relationship Id="rId14"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Smart Bijuka logo"/>
          <p:cNvPicPr>
            <a:picLocks noChangeAspect="1"/>
          </p:cNvPicPr>
          <p:nvPr/>
        </p:nvPicPr>
        <p:blipFill>
          <a:blip r:embed="rId3"/>
          <a:stretch>
            <a:fillRect/>
          </a:stretch>
        </p:blipFill>
        <p:spPr>
          <a:xfrm>
            <a:off x="640080" y="457200"/>
            <a:ext cx="502920" cy="457200"/>
          </a:xfrm>
          <a:prstGeom prst="rect">
            <a:avLst/>
          </a:prstGeom>
        </p:spPr>
      </p:pic>
      <p:sp>
        <p:nvSpPr>
          <p:cNvPr id="3" name="Text 0"/>
          <p:cNvSpPr txBox="1"/>
          <p:nvPr/>
        </p:nvSpPr>
        <p:spPr>
          <a:xfrm>
            <a:off x="1325880" y="566928"/>
            <a:ext cx="6035040" cy="274320"/>
          </a:xfrm>
          <a:prstGeom prst="rect">
            <a:avLst/>
          </a:prstGeom>
          <a:noFill/>
          <a:ln/>
        </p:spPr>
        <p:txBody>
          <a:bodyPr wrap="square" lIns="0" tIns="0" rIns="0" bIns="0" rtlCol="0" anchor="ctr"/>
          <a:lstStyle/>
          <a:p>
            <a:pPr marL="0" indent="0">
              <a:buNone/>
            </a:pPr>
            <a:r>
              <a:rPr lang="en-US" sz="1600" b="1" kern="0" spc="100" dirty="0">
                <a:solidFill>
                  <a:schemeClr val="accent3"/>
                </a:solidFill>
              </a:rPr>
              <a:t>HACKCULT ’26  |  GREEN ENERGY &amp; SUSTAINABILITY</a:t>
            </a:r>
            <a:endParaRPr lang="en-US" sz="1600" b="1" dirty="0"/>
          </a:p>
        </p:txBody>
      </p:sp>
      <p:sp>
        <p:nvSpPr>
          <p:cNvPr id="4" name="Text 1"/>
          <p:cNvSpPr txBox="1"/>
          <p:nvPr/>
        </p:nvSpPr>
        <p:spPr>
          <a:xfrm>
            <a:off x="640080" y="1188720"/>
            <a:ext cx="6675120" cy="914400"/>
          </a:xfrm>
          <a:prstGeom prst="rect">
            <a:avLst/>
          </a:prstGeom>
          <a:noFill/>
          <a:ln/>
        </p:spPr>
        <p:txBody>
          <a:bodyPr wrap="square" lIns="0" tIns="0" rIns="0" bIns="0" rtlCol="0" anchor="ctr"/>
          <a:lstStyle/>
          <a:p>
            <a:pPr marL="0" indent="0">
              <a:buNone/>
            </a:pPr>
            <a:r>
              <a:rPr lang="en-US" sz="6000" b="1" dirty="0">
                <a:solidFill>
                  <a:schemeClr val="bg1"/>
                </a:solidFill>
                <a:latin typeface="Cambria" pitchFamily="34" charset="0"/>
                <a:ea typeface="Cambria" pitchFamily="34" charset="-122"/>
                <a:cs typeface="Cambria" pitchFamily="34" charset="-120"/>
              </a:rPr>
              <a:t>SMART BIJUKA</a:t>
            </a:r>
            <a:endParaRPr lang="en-US" sz="6000" dirty="0"/>
          </a:p>
        </p:txBody>
      </p:sp>
      <p:sp>
        <p:nvSpPr>
          <p:cNvPr id="5" name="Text 2"/>
          <p:cNvSpPr txBox="1"/>
          <p:nvPr/>
        </p:nvSpPr>
        <p:spPr>
          <a:xfrm>
            <a:off x="640080" y="2286000"/>
            <a:ext cx="6400800" cy="1280160"/>
          </a:xfrm>
          <a:prstGeom prst="rect">
            <a:avLst/>
          </a:prstGeom>
          <a:noFill/>
          <a:ln/>
        </p:spPr>
        <p:txBody>
          <a:bodyPr wrap="square" lIns="0" tIns="0" rIns="0" bIns="0" rtlCol="0" anchor="t"/>
          <a:lstStyle/>
          <a:p>
            <a:pPr marL="0" indent="0">
              <a:buNone/>
            </a:pPr>
            <a:r>
              <a:rPr lang="en-US" sz="3000" dirty="0">
                <a:solidFill>
                  <a:schemeClr val="bg2"/>
                </a:solidFill>
                <a:latin typeface="Cambria" pitchFamily="34" charset="0"/>
                <a:ea typeface="Cambria" pitchFamily="34" charset="-122"/>
                <a:cs typeface="Cambria" pitchFamily="34" charset="-120"/>
              </a:rPr>
              <a:t>AI-Powered Crop Protection That Sees Before It Responds.</a:t>
            </a:r>
            <a:endParaRPr lang="en-US" sz="3000" dirty="0"/>
          </a:p>
        </p:txBody>
      </p:sp>
      <p:sp>
        <p:nvSpPr>
          <p:cNvPr id="6" name="Text 3"/>
          <p:cNvSpPr txBox="1"/>
          <p:nvPr/>
        </p:nvSpPr>
        <p:spPr>
          <a:xfrm>
            <a:off x="640080" y="3703320"/>
            <a:ext cx="6675120" cy="457200"/>
          </a:xfrm>
          <a:prstGeom prst="rect">
            <a:avLst/>
          </a:prstGeom>
          <a:noFill/>
          <a:ln/>
        </p:spPr>
        <p:txBody>
          <a:bodyPr wrap="square" lIns="0" tIns="0" rIns="0" bIns="0" rtlCol="0" anchor="ctr"/>
          <a:lstStyle/>
          <a:p>
            <a:pPr marL="0" indent="0">
              <a:buNone/>
            </a:pPr>
            <a:r>
              <a:rPr lang="en-US" sz="2400" b="1" dirty="0">
                <a:solidFill>
                  <a:schemeClr val="accent3"/>
                </a:solidFill>
              </a:rPr>
              <a:t>Detect  →  Decide  →  Deter  →  Record</a:t>
            </a:r>
            <a:endParaRPr lang="en-US" sz="2400" dirty="0"/>
          </a:p>
        </p:txBody>
      </p:sp>
      <p:sp>
        <p:nvSpPr>
          <p:cNvPr id="7" name="Text 4"/>
          <p:cNvSpPr txBox="1"/>
          <p:nvPr/>
        </p:nvSpPr>
        <p:spPr>
          <a:xfrm>
            <a:off x="640080" y="4389120"/>
            <a:ext cx="6309360" cy="1005840"/>
          </a:xfrm>
          <a:prstGeom prst="rect">
            <a:avLst/>
          </a:prstGeom>
          <a:noFill/>
          <a:ln/>
        </p:spPr>
        <p:txBody>
          <a:bodyPr wrap="square" lIns="0" tIns="0" rIns="0" bIns="0" rtlCol="0" anchor="t"/>
          <a:lstStyle/>
          <a:p>
            <a:pPr marL="0" indent="0" algn="just">
              <a:buNone/>
            </a:pPr>
            <a:r>
              <a:rPr lang="en-US" sz="1600" dirty="0">
                <a:solidFill>
                  <a:schemeClr val="bg2"/>
                </a:solidFill>
              </a:rPr>
              <a:t>A solar-powered scarecrow prototype that uses a camera and YOLOv8 object detection to tell supported animals from people, then triggers a selective audio and arm-movement response.</a:t>
            </a:r>
            <a:endParaRPr lang="en-US" sz="1600" dirty="0"/>
          </a:p>
        </p:txBody>
      </p:sp>
      <p:sp>
        <p:nvSpPr>
          <p:cNvPr id="12" name="Text 9"/>
          <p:cNvSpPr txBox="1"/>
          <p:nvPr/>
        </p:nvSpPr>
        <p:spPr>
          <a:xfrm>
            <a:off x="640080" y="6035040"/>
            <a:ext cx="6400800" cy="320040"/>
          </a:xfrm>
          <a:prstGeom prst="rect">
            <a:avLst/>
          </a:prstGeom>
          <a:noFill/>
          <a:ln/>
        </p:spPr>
        <p:txBody>
          <a:bodyPr wrap="square" lIns="0" tIns="0" rIns="0" bIns="0" rtlCol="0" anchor="ctr"/>
          <a:lstStyle/>
          <a:p>
            <a:pPr marL="0" indent="0">
              <a:buNone/>
            </a:pPr>
            <a:r>
              <a:rPr lang="en-US" sz="2400" b="1" dirty="0">
                <a:solidFill>
                  <a:schemeClr val="bg1"/>
                </a:solidFill>
              </a:rPr>
              <a:t>founder: Pravash Singh</a:t>
            </a:r>
            <a:endParaRPr lang="en-US" sz="2400" dirty="0"/>
          </a:p>
        </p:txBody>
      </p:sp>
      <p:pic>
        <p:nvPicPr>
          <p:cNvPr id="13" name="Image 1" descr="Smart Bijuka prototype: human-like scarecrow figure with a camera and solar panel above the head"/>
          <p:cNvPicPr>
            <a:picLocks noChangeAspect="1"/>
          </p:cNvPicPr>
          <p:nvPr/>
        </p:nvPicPr>
        <p:blipFill>
          <a:blip r:embed="rId4"/>
          <a:stretch>
            <a:fillRect/>
          </a:stretch>
        </p:blipFill>
        <p:spPr>
          <a:xfrm>
            <a:off x="7680960" y="502920"/>
            <a:ext cx="3936342" cy="5760720"/>
          </a:xfrm>
          <a:prstGeom prst="rect">
            <a:avLst/>
          </a:prstGeom>
        </p:spPr>
      </p:pic>
      <p:sp>
        <p:nvSpPr>
          <p:cNvPr id="14" name="Text 10"/>
          <p:cNvSpPr txBox="1"/>
          <p:nvPr/>
        </p:nvSpPr>
        <p:spPr>
          <a:xfrm>
            <a:off x="8346111" y="6327648"/>
            <a:ext cx="2606040" cy="320040"/>
          </a:xfrm>
          <a:prstGeom prst="rect">
            <a:avLst/>
          </a:prstGeom>
          <a:solidFill>
            <a:schemeClr val="accent3"/>
          </a:solidFill>
          <a:ln/>
        </p:spPr>
        <p:txBody>
          <a:bodyPr wrap="square" lIns="0" tIns="0" rIns="0" bIns="0" rtlCol="0" anchor="t"/>
          <a:lstStyle/>
          <a:p>
            <a:pPr marL="0" indent="0">
              <a:buNone/>
            </a:pPr>
            <a:r>
              <a:rPr lang="en-US" b="1" dirty="0"/>
              <a:t>Real prototype photograph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548640" y="310896"/>
            <a:ext cx="7315200" cy="237744"/>
          </a:xfrm>
          <a:prstGeom prst="rect">
            <a:avLst/>
          </a:prstGeom>
          <a:noFill/>
          <a:ln/>
        </p:spPr>
        <p:txBody>
          <a:bodyPr wrap="square" lIns="0" tIns="0" rIns="0" bIns="0" rtlCol="0" anchor="t"/>
          <a:lstStyle/>
          <a:p>
            <a:pPr marL="0" indent="0">
              <a:buNone/>
            </a:pPr>
            <a:r>
              <a:rPr lang="en-US" sz="1600" b="1" kern="0" spc="150" dirty="0">
                <a:solidFill>
                  <a:schemeClr val="accent2"/>
                </a:solidFill>
              </a:rPr>
              <a:t>02  |  THE PROBLEM</a:t>
            </a:r>
            <a:endParaRPr lang="en-US" sz="1600" b="1" dirty="0"/>
          </a:p>
        </p:txBody>
      </p:sp>
      <p:sp>
        <p:nvSpPr>
          <p:cNvPr id="3" name="Text 1"/>
          <p:cNvSpPr>
            <a:spLocks noGrp="1"/>
          </p:cNvSpPr>
          <p:nvPr>
            <p:ph type="title" idx="101" hasCustomPrompt="1"/>
          </p:nvPr>
        </p:nvSpPr>
        <p:spPr>
          <a:xfrm>
            <a:off x="548640" y="566928"/>
            <a:ext cx="11091672" cy="73152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Guarding fields is manual and alarms are blind</a:t>
            </a:r>
            <a:endParaRPr lang="en-US" sz="3000" dirty="0"/>
          </a:p>
        </p:txBody>
      </p:sp>
      <p:sp>
        <p:nvSpPr>
          <p:cNvPr id="4" name="Card PROBLEM"/>
          <p:cNvSpPr/>
          <p:nvPr/>
        </p:nvSpPr>
        <p:spPr>
          <a:xfrm>
            <a:off x="548640" y="1508760"/>
            <a:ext cx="3383280" cy="3200400"/>
          </a:xfrm>
          <a:prstGeom prst="roundRect">
            <a:avLst>
              <a:gd name="adj" fmla="val 2286"/>
            </a:avLst>
          </a:prstGeom>
          <a:solidFill>
            <a:schemeClr val="bg1"/>
          </a:solidFill>
          <a:ln w="12700">
            <a:solidFill>
              <a:srgbClr val="D9D2BC"/>
            </a:solidFill>
            <a:prstDash val="solid"/>
          </a:ln>
        </p:spPr>
        <p:txBody>
          <a:bodyPr/>
          <a:lstStyle/>
          <a:p>
            <a:endParaRPr lang="en-IN"/>
          </a:p>
        </p:txBody>
      </p:sp>
      <p:sp>
        <p:nvSpPr>
          <p:cNvPr id="5" name="Text 3"/>
          <p:cNvSpPr txBox="1"/>
          <p:nvPr/>
        </p:nvSpPr>
        <p:spPr>
          <a:xfrm>
            <a:off x="822960" y="1737360"/>
            <a:ext cx="2834640" cy="274320"/>
          </a:xfrm>
          <a:prstGeom prst="rect">
            <a:avLst/>
          </a:prstGeom>
          <a:noFill/>
          <a:ln/>
        </p:spPr>
        <p:txBody>
          <a:bodyPr wrap="square" lIns="0" tIns="0" rIns="0" bIns="0" rtlCol="0" anchor="t"/>
          <a:lstStyle/>
          <a:p>
            <a:pPr marL="0" indent="0">
              <a:buNone/>
            </a:pPr>
            <a:r>
              <a:rPr lang="en-US" sz="1400" b="1" kern="0" spc="150" dirty="0">
                <a:solidFill>
                  <a:schemeClr val="accent5"/>
                </a:solidFill>
              </a:rPr>
              <a:t>PROBLEM</a:t>
            </a:r>
            <a:endParaRPr lang="en-US" sz="1400" dirty="0"/>
          </a:p>
        </p:txBody>
      </p:sp>
      <p:sp>
        <p:nvSpPr>
          <p:cNvPr id="6" name="Text 4"/>
          <p:cNvSpPr txBox="1"/>
          <p:nvPr/>
        </p:nvSpPr>
        <p:spPr>
          <a:xfrm>
            <a:off x="822960" y="2148840"/>
            <a:ext cx="2834640" cy="1097280"/>
          </a:xfrm>
          <a:prstGeom prst="rect">
            <a:avLst/>
          </a:prstGeom>
          <a:noFill/>
          <a:ln/>
        </p:spPr>
        <p:txBody>
          <a:bodyPr wrap="square" lIns="0" tIns="0" rIns="0" bIns="0" rtlCol="0" anchor="t"/>
          <a:lstStyle/>
          <a:p>
            <a:pPr marL="0" indent="0">
              <a:buNone/>
            </a:pPr>
            <a:r>
              <a:rPr lang="en-US" sz="2200" b="1" dirty="0">
                <a:solidFill>
                  <a:schemeClr val="tx2"/>
                </a:solidFill>
                <a:latin typeface="Cambria" pitchFamily="34" charset="0"/>
                <a:ea typeface="Cambria" pitchFamily="34" charset="-122"/>
                <a:cs typeface="Cambria" pitchFamily="34" charset="-120"/>
              </a:rPr>
              <a:t>Animals enter fields and damage crops.</a:t>
            </a:r>
            <a:endParaRPr lang="en-US" sz="2200" dirty="0"/>
          </a:p>
        </p:txBody>
      </p:sp>
      <p:sp>
        <p:nvSpPr>
          <p:cNvPr id="7" name="Text 5"/>
          <p:cNvSpPr txBox="1"/>
          <p:nvPr/>
        </p:nvSpPr>
        <p:spPr>
          <a:xfrm>
            <a:off x="822960" y="3291840"/>
            <a:ext cx="2834640" cy="1325880"/>
          </a:xfrm>
          <a:prstGeom prst="rect">
            <a:avLst/>
          </a:prstGeom>
          <a:noFill/>
          <a:ln/>
        </p:spPr>
        <p:txBody>
          <a:bodyPr wrap="square" lIns="0" tIns="0" rIns="0" bIns="0" rtlCol="0" anchor="t"/>
          <a:lstStyle/>
          <a:p>
            <a:pPr marL="0" indent="0">
              <a:buNone/>
            </a:pPr>
            <a:r>
              <a:rPr lang="en-US" sz="1600" dirty="0">
                <a:solidFill>
                  <a:schemeClr val="tx1"/>
                </a:solidFill>
              </a:rPr>
              <a:t>Farmers respond by guarding by hand, often at night. That costs sleep and carries personal risk.</a:t>
            </a:r>
            <a:endParaRPr lang="en-US" sz="1600" dirty="0"/>
          </a:p>
        </p:txBody>
      </p:sp>
      <p:sp>
        <p:nvSpPr>
          <p:cNvPr id="8" name="Arrow"/>
          <p:cNvSpPr/>
          <p:nvPr/>
        </p:nvSpPr>
        <p:spPr>
          <a:xfrm>
            <a:off x="4005072" y="3108960"/>
            <a:ext cx="324612" cy="0"/>
          </a:xfrm>
          <a:prstGeom prst="line">
            <a:avLst/>
          </a:prstGeom>
          <a:noFill/>
          <a:ln w="25400">
            <a:solidFill>
              <a:schemeClr val="accent2"/>
            </a:solidFill>
            <a:prstDash val="solid"/>
            <a:tailEnd type="triangle"/>
          </a:ln>
        </p:spPr>
        <p:txBody>
          <a:bodyPr/>
          <a:lstStyle/>
          <a:p>
            <a:endParaRPr lang="en-IN"/>
          </a:p>
        </p:txBody>
      </p:sp>
      <p:sp>
        <p:nvSpPr>
          <p:cNvPr id="9" name="Card LIMITATION"/>
          <p:cNvSpPr/>
          <p:nvPr/>
        </p:nvSpPr>
        <p:spPr>
          <a:xfrm>
            <a:off x="4402836" y="1508760"/>
            <a:ext cx="3383280" cy="3200400"/>
          </a:xfrm>
          <a:prstGeom prst="roundRect">
            <a:avLst>
              <a:gd name="adj" fmla="val 2286"/>
            </a:avLst>
          </a:prstGeom>
          <a:solidFill>
            <a:schemeClr val="bg1"/>
          </a:solidFill>
          <a:ln w="12700">
            <a:solidFill>
              <a:srgbClr val="D9D2BC"/>
            </a:solidFill>
            <a:prstDash val="solid"/>
          </a:ln>
        </p:spPr>
        <p:txBody>
          <a:bodyPr/>
          <a:lstStyle/>
          <a:p>
            <a:endParaRPr lang="en-IN"/>
          </a:p>
        </p:txBody>
      </p:sp>
      <p:sp>
        <p:nvSpPr>
          <p:cNvPr id="10" name="Text 8"/>
          <p:cNvSpPr txBox="1"/>
          <p:nvPr/>
        </p:nvSpPr>
        <p:spPr>
          <a:xfrm>
            <a:off x="4677156" y="1737360"/>
            <a:ext cx="2834640" cy="274320"/>
          </a:xfrm>
          <a:prstGeom prst="rect">
            <a:avLst/>
          </a:prstGeom>
          <a:noFill/>
          <a:ln/>
        </p:spPr>
        <p:txBody>
          <a:bodyPr wrap="square" lIns="0" tIns="0" rIns="0" bIns="0" rtlCol="0" anchor="t"/>
          <a:lstStyle/>
          <a:p>
            <a:pPr marL="0" indent="0">
              <a:buNone/>
            </a:pPr>
            <a:r>
              <a:rPr lang="en-US" sz="1400" b="1" kern="0" spc="150" dirty="0">
                <a:solidFill>
                  <a:schemeClr val="accent5"/>
                </a:solidFill>
              </a:rPr>
              <a:t>LIMITATION</a:t>
            </a:r>
            <a:endParaRPr lang="en-US" sz="1400" dirty="0"/>
          </a:p>
        </p:txBody>
      </p:sp>
      <p:sp>
        <p:nvSpPr>
          <p:cNvPr id="11" name="Text 9"/>
          <p:cNvSpPr txBox="1"/>
          <p:nvPr/>
        </p:nvSpPr>
        <p:spPr>
          <a:xfrm>
            <a:off x="4677156" y="2148840"/>
            <a:ext cx="2834640" cy="1097280"/>
          </a:xfrm>
          <a:prstGeom prst="rect">
            <a:avLst/>
          </a:prstGeom>
          <a:noFill/>
          <a:ln/>
        </p:spPr>
        <p:txBody>
          <a:bodyPr wrap="square" lIns="0" tIns="0" rIns="0" bIns="0" rtlCol="0" anchor="t"/>
          <a:lstStyle/>
          <a:p>
            <a:pPr marL="0" indent="0">
              <a:buNone/>
            </a:pPr>
            <a:r>
              <a:rPr lang="en-US" sz="2200" b="1" dirty="0">
                <a:solidFill>
                  <a:schemeClr val="tx2"/>
                </a:solidFill>
                <a:latin typeface="Cambria" pitchFamily="34" charset="0"/>
                <a:ea typeface="Cambria" pitchFamily="34" charset="-122"/>
                <a:cs typeface="Cambria" pitchFamily="34" charset="-120"/>
              </a:rPr>
              <a:t>Today's tools do not look before they react.</a:t>
            </a:r>
            <a:endParaRPr lang="en-US" sz="2200" dirty="0"/>
          </a:p>
        </p:txBody>
      </p:sp>
      <p:sp>
        <p:nvSpPr>
          <p:cNvPr id="12" name="Text 10"/>
          <p:cNvSpPr txBox="1"/>
          <p:nvPr/>
        </p:nvSpPr>
        <p:spPr>
          <a:xfrm>
            <a:off x="4677156" y="3291840"/>
            <a:ext cx="2834640" cy="1325880"/>
          </a:xfrm>
          <a:prstGeom prst="rect">
            <a:avLst/>
          </a:prstGeom>
          <a:noFill/>
          <a:ln/>
        </p:spPr>
        <p:txBody>
          <a:bodyPr wrap="square" lIns="0" tIns="0" rIns="0" bIns="0" rtlCol="0" anchor="t"/>
          <a:lstStyle/>
          <a:p>
            <a:pPr marL="0" indent="0">
              <a:buNone/>
            </a:pPr>
            <a:r>
              <a:rPr lang="en-US" sz="1600" dirty="0">
                <a:solidFill>
                  <a:schemeClr val="tx1"/>
                </a:solidFill>
              </a:rPr>
              <a:t>A static scarecrow stops working once animals get used to it. A generic motion alarm cannot tell an animal from a farmer or a worker.</a:t>
            </a:r>
            <a:endParaRPr lang="en-US" sz="1600" dirty="0"/>
          </a:p>
        </p:txBody>
      </p:sp>
      <p:sp>
        <p:nvSpPr>
          <p:cNvPr id="13" name="Arrow"/>
          <p:cNvSpPr/>
          <p:nvPr/>
        </p:nvSpPr>
        <p:spPr>
          <a:xfrm>
            <a:off x="7859268" y="3108960"/>
            <a:ext cx="324612" cy="0"/>
          </a:xfrm>
          <a:prstGeom prst="line">
            <a:avLst/>
          </a:prstGeom>
          <a:noFill/>
          <a:ln w="25400">
            <a:solidFill>
              <a:schemeClr val="accent2"/>
            </a:solidFill>
            <a:prstDash val="solid"/>
            <a:tailEnd type="triangle"/>
          </a:ln>
        </p:spPr>
        <p:txBody>
          <a:bodyPr/>
          <a:lstStyle/>
          <a:p>
            <a:endParaRPr lang="en-IN"/>
          </a:p>
        </p:txBody>
      </p:sp>
      <p:sp>
        <p:nvSpPr>
          <p:cNvPr id="14" name="Card OPPORTUNITY"/>
          <p:cNvSpPr/>
          <p:nvPr/>
        </p:nvSpPr>
        <p:spPr>
          <a:xfrm>
            <a:off x="8257032" y="1508760"/>
            <a:ext cx="3383280" cy="3200400"/>
          </a:xfrm>
          <a:prstGeom prst="roundRect">
            <a:avLst>
              <a:gd name="adj" fmla="val 2286"/>
            </a:avLst>
          </a:prstGeom>
          <a:solidFill>
            <a:schemeClr val="bg1"/>
          </a:solidFill>
          <a:ln w="12700">
            <a:solidFill>
              <a:srgbClr val="D9D2BC"/>
            </a:solidFill>
            <a:prstDash val="solid"/>
          </a:ln>
        </p:spPr>
        <p:txBody>
          <a:bodyPr/>
          <a:lstStyle/>
          <a:p>
            <a:endParaRPr lang="en-IN"/>
          </a:p>
        </p:txBody>
      </p:sp>
      <p:sp>
        <p:nvSpPr>
          <p:cNvPr id="15" name="Text 13"/>
          <p:cNvSpPr txBox="1"/>
          <p:nvPr/>
        </p:nvSpPr>
        <p:spPr>
          <a:xfrm>
            <a:off x="8531352" y="1737360"/>
            <a:ext cx="2834640" cy="274320"/>
          </a:xfrm>
          <a:prstGeom prst="rect">
            <a:avLst/>
          </a:prstGeom>
          <a:noFill/>
          <a:ln/>
        </p:spPr>
        <p:txBody>
          <a:bodyPr wrap="square" lIns="0" tIns="0" rIns="0" bIns="0" rtlCol="0" anchor="t"/>
          <a:lstStyle/>
          <a:p>
            <a:pPr marL="0" indent="0">
              <a:buNone/>
            </a:pPr>
            <a:r>
              <a:rPr lang="en-US" sz="1400" b="1" kern="0" spc="150" dirty="0">
                <a:solidFill>
                  <a:schemeClr val="accent2"/>
                </a:solidFill>
              </a:rPr>
              <a:t>OPPORTUNITY</a:t>
            </a:r>
            <a:endParaRPr lang="en-US" sz="1400" dirty="0"/>
          </a:p>
        </p:txBody>
      </p:sp>
      <p:sp>
        <p:nvSpPr>
          <p:cNvPr id="16" name="Text 14"/>
          <p:cNvSpPr txBox="1"/>
          <p:nvPr/>
        </p:nvSpPr>
        <p:spPr>
          <a:xfrm>
            <a:off x="8531352" y="2148840"/>
            <a:ext cx="2834640" cy="1097280"/>
          </a:xfrm>
          <a:prstGeom prst="rect">
            <a:avLst/>
          </a:prstGeom>
          <a:noFill/>
          <a:ln/>
        </p:spPr>
        <p:txBody>
          <a:bodyPr wrap="square" lIns="0" tIns="0" rIns="0" bIns="0" rtlCol="0" anchor="t"/>
          <a:lstStyle/>
          <a:p>
            <a:pPr marL="0" indent="0">
              <a:buNone/>
            </a:pPr>
            <a:r>
              <a:rPr lang="en-US" sz="2200" b="1" dirty="0">
                <a:solidFill>
                  <a:schemeClr val="tx2"/>
                </a:solidFill>
                <a:latin typeface="Cambria" pitchFamily="34" charset="0"/>
                <a:ea typeface="Cambria" pitchFamily="34" charset="-122"/>
                <a:cs typeface="Cambria" pitchFamily="34" charset="-120"/>
              </a:rPr>
              <a:t>Respond only when it matters.</a:t>
            </a:r>
            <a:endParaRPr lang="en-US" sz="2200" dirty="0"/>
          </a:p>
        </p:txBody>
      </p:sp>
      <p:sp>
        <p:nvSpPr>
          <p:cNvPr id="17" name="Text 15"/>
          <p:cNvSpPr txBox="1"/>
          <p:nvPr/>
        </p:nvSpPr>
        <p:spPr>
          <a:xfrm>
            <a:off x="8531352" y="3291840"/>
            <a:ext cx="2834640" cy="1325880"/>
          </a:xfrm>
          <a:prstGeom prst="rect">
            <a:avLst/>
          </a:prstGeom>
          <a:noFill/>
          <a:ln/>
        </p:spPr>
        <p:txBody>
          <a:bodyPr wrap="square" lIns="0" tIns="0" rIns="0" bIns="0" rtlCol="0" anchor="t"/>
          <a:lstStyle/>
          <a:p>
            <a:pPr marL="0" indent="0">
              <a:buNone/>
            </a:pPr>
            <a:r>
              <a:rPr lang="en-US" sz="1600" dirty="0">
                <a:solidFill>
                  <a:schemeClr val="tx1"/>
                </a:solidFill>
              </a:rPr>
              <a:t>Smart Bijuka aims to detect the object first, then trigger deterrence for supported animal classes and stay quiet for people.</a:t>
            </a:r>
            <a:endParaRPr lang="en-US" sz="1600" dirty="0"/>
          </a:p>
        </p:txBody>
      </p:sp>
      <p:sp>
        <p:nvSpPr>
          <p:cNvPr id="18" name="Placeholder source"/>
          <p:cNvSpPr/>
          <p:nvPr/>
        </p:nvSpPr>
        <p:spPr>
          <a:xfrm>
            <a:off x="548640" y="5029199"/>
            <a:ext cx="11091672" cy="1298443"/>
          </a:xfrm>
          <a:prstGeom prst="roundRect">
            <a:avLst>
              <a:gd name="adj" fmla="val 8421"/>
            </a:avLst>
          </a:prstGeom>
          <a:solidFill>
            <a:srgbClr val="FBF6DD"/>
          </a:solidFill>
          <a:ln w="19050">
            <a:solidFill>
              <a:srgbClr val="B8962E"/>
            </a:solidFill>
            <a:prstDash val="dash"/>
          </a:ln>
        </p:spPr>
        <p:txBody>
          <a:bodyPr/>
          <a:lstStyle/>
          <a:p>
            <a:r>
              <a:rPr lang="en-IN" dirty="0"/>
              <a:t>Deepak Chand Meena and B.S. Meena, Sanchita Garai, H.R. Meena, Gopal </a:t>
            </a:r>
            <a:r>
              <a:rPr lang="en-IN" dirty="0" err="1"/>
              <a:t>Sankhala</a:t>
            </a:r>
            <a:r>
              <a:rPr lang="en-IN" dirty="0"/>
              <a:t>, Akshita Chadda, “Crop and Livestock Depredation by Wild Animals: The Case of Ranthambore Tiger Reserve, India”, </a:t>
            </a:r>
            <a:r>
              <a:rPr lang="en-IN" i="1" dirty="0"/>
              <a:t>Indian J Ext Edu</a:t>
            </a:r>
            <a:r>
              <a:rPr lang="en-IN" dirty="0"/>
              <a:t>, vol. 58, no. 4, pp. 38–41, Sept. 2022, Accessed: Oct. 27, 2026. [Online]. Available: </a:t>
            </a:r>
            <a:r>
              <a:rPr lang="en-IN" dirty="0">
                <a:hlinkClick r:id="rId3"/>
              </a:rPr>
              <a:t>https://epubs.icar.org.in/index.php/IJEE/article/view/128427</a:t>
            </a:r>
            <a:endParaRPr lang="en-IN" dirty="0"/>
          </a:p>
        </p:txBody>
      </p:sp>
      <p:sp>
        <p:nvSpPr>
          <p:cNvPr id="25" name="Slide Number Placeholder 0"/>
          <p:cNvSpPr>
            <a:spLocks noGrp="1"/>
          </p:cNvSpPr>
          <p:nvPr>
            <p:ph type="sldNum" sz="quarter" idx="4294967295"/>
          </p:nvPr>
        </p:nvSpPr>
        <p:spPr>
          <a:xfrm>
            <a:off x="10725912" y="6419088"/>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56032"/>
            <a:ext cx="5486400" cy="237744"/>
          </a:xfrm>
          <a:prstGeom prst="rect">
            <a:avLst/>
          </a:prstGeom>
          <a:noFill/>
          <a:ln/>
        </p:spPr>
        <p:txBody>
          <a:bodyPr wrap="square" lIns="0" tIns="0" rIns="0" bIns="0" rtlCol="0" anchor="t"/>
          <a:lstStyle/>
          <a:p>
            <a:pPr marL="0" indent="0">
              <a:buNone/>
            </a:pPr>
            <a:r>
              <a:rPr lang="en-US" sz="1600" b="1" kern="0" spc="150" dirty="0">
                <a:solidFill>
                  <a:srgbClr val="2E7D4F"/>
                </a:solidFill>
                <a:latin typeface="Calibri" pitchFamily="34" charset="0"/>
                <a:ea typeface="Calibri" pitchFamily="34" charset="-122"/>
                <a:cs typeface="Calibri" pitchFamily="34" charset="-120"/>
              </a:rPr>
              <a:t>03  |  THE SOLUTION</a:t>
            </a:r>
            <a:endParaRPr lang="en-US" sz="1600" b="1" dirty="0"/>
          </a:p>
        </p:txBody>
      </p:sp>
      <p:sp>
        <p:nvSpPr>
          <p:cNvPr id="3" name="Text 1"/>
          <p:cNvSpPr txBox="1"/>
          <p:nvPr/>
        </p:nvSpPr>
        <p:spPr>
          <a:xfrm>
            <a:off x="548640" y="530352"/>
            <a:ext cx="8641080" cy="566928"/>
          </a:xfrm>
          <a:prstGeom prst="rect">
            <a:avLst/>
          </a:prstGeom>
          <a:noFill/>
          <a:ln/>
        </p:spPr>
        <p:txBody>
          <a:bodyPr wrap="square" lIns="0" tIns="0" rIns="0" bIns="0" rtlCol="0" anchor="ctr"/>
          <a:lstStyle/>
          <a:p>
            <a:pPr marL="0" indent="0">
              <a:buNone/>
            </a:pPr>
            <a:r>
              <a:rPr lang="en-US" sz="2700" b="1" dirty="0">
                <a:solidFill>
                  <a:srgbClr val="1F4D36"/>
                </a:solidFill>
                <a:latin typeface="Cambria" pitchFamily="34" charset="0"/>
                <a:ea typeface="Cambria" pitchFamily="34" charset="-122"/>
                <a:cs typeface="Cambria" pitchFamily="34" charset="-120"/>
              </a:rPr>
              <a:t>One system that detects, decides, deters and records</a:t>
            </a:r>
            <a:endParaRPr lang="en-US" sz="2700" dirty="0"/>
          </a:p>
        </p:txBody>
      </p:sp>
      <p:sp>
        <p:nvSpPr>
          <p:cNvPr id="4" name="Text 2"/>
          <p:cNvSpPr txBox="1"/>
          <p:nvPr/>
        </p:nvSpPr>
        <p:spPr>
          <a:xfrm>
            <a:off x="548640" y="1097280"/>
            <a:ext cx="8412480" cy="292608"/>
          </a:xfrm>
          <a:prstGeom prst="rect">
            <a:avLst/>
          </a:prstGeom>
          <a:noFill/>
          <a:ln/>
        </p:spPr>
        <p:txBody>
          <a:bodyPr wrap="square" lIns="0" tIns="0" rIns="0" bIns="0" rtlCol="0" anchor="t"/>
          <a:lstStyle/>
          <a:p>
            <a:pPr marL="0" indent="0">
              <a:buNone/>
            </a:pPr>
            <a:r>
              <a:rPr lang="en-US" sz="1500" dirty="0">
                <a:latin typeface="Calibri" pitchFamily="34" charset="0"/>
                <a:ea typeface="Calibri" pitchFamily="34" charset="-122"/>
                <a:cs typeface="Calibri" pitchFamily="34" charset="-120"/>
              </a:rPr>
              <a:t>AI-assisted crop protection using vision, decision logic and a selective response.</a:t>
            </a:r>
            <a:endParaRPr lang="en-US" sz="1500" dirty="0"/>
          </a:p>
        </p:txBody>
      </p:sp>
      <p:sp>
        <p:nvSpPr>
          <p:cNvPr id="9" name="Step card DETECT"/>
          <p:cNvSpPr/>
          <p:nvPr/>
        </p:nvSpPr>
        <p:spPr>
          <a:xfrm>
            <a:off x="548640" y="1554480"/>
            <a:ext cx="2656332" cy="3246120"/>
          </a:xfrm>
          <a:prstGeom prst="roundRect">
            <a:avLst>
              <a:gd name="adj" fmla="val 2754"/>
            </a:avLst>
          </a:prstGeom>
          <a:solidFill>
            <a:srgbClr val="FFFFFF"/>
          </a:solidFill>
          <a:ln w="19050">
            <a:solidFill>
              <a:srgbClr val="D9D2BC"/>
            </a:solidFill>
            <a:prstDash val="dash"/>
          </a:ln>
        </p:spPr>
        <p:txBody>
          <a:bodyPr/>
          <a:lstStyle/>
          <a:p>
            <a:endParaRPr lang="en-IN"/>
          </a:p>
        </p:txBody>
      </p:sp>
      <p:sp>
        <p:nvSpPr>
          <p:cNvPr id="10" name="Step number 01"/>
          <p:cNvSpPr/>
          <p:nvPr/>
        </p:nvSpPr>
        <p:spPr>
          <a:xfrm>
            <a:off x="658368" y="1664208"/>
            <a:ext cx="384048" cy="310896"/>
          </a:xfrm>
          <a:prstGeom prst="roundRect">
            <a:avLst>
              <a:gd name="adj" fmla="val 17647"/>
            </a:avLst>
          </a:prstGeom>
          <a:solidFill>
            <a:srgbClr val="1F4D36"/>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11" name="Text 8"/>
          <p:cNvSpPr txBox="1"/>
          <p:nvPr/>
        </p:nvSpPr>
        <p:spPr>
          <a:xfrm>
            <a:off x="1115568" y="1664208"/>
            <a:ext cx="914400" cy="310896"/>
          </a:xfrm>
          <a:prstGeom prst="rect">
            <a:avLst/>
          </a:prstGeom>
          <a:noFill/>
          <a:ln/>
        </p:spPr>
        <p:txBody>
          <a:bodyPr wrap="square" lIns="0" tIns="0" rIns="0" bIns="0" rtlCol="0" anchor="ctr"/>
          <a:lstStyle/>
          <a:p>
            <a:pPr marL="0" indent="0">
              <a:buNone/>
            </a:pPr>
            <a:r>
              <a:rPr lang="en-US" sz="1500" b="1" dirty="0">
                <a:solidFill>
                  <a:srgbClr val="1F4D36"/>
                </a:solidFill>
                <a:latin typeface="Calibri" pitchFamily="34" charset="0"/>
                <a:ea typeface="Calibri" pitchFamily="34" charset="-122"/>
                <a:cs typeface="Calibri" pitchFamily="34" charset="-120"/>
              </a:rPr>
              <a:t>DETECT</a:t>
            </a:r>
            <a:endParaRPr lang="en-US" sz="1500" dirty="0"/>
          </a:p>
        </p:txBody>
      </p:sp>
      <p:sp>
        <p:nvSpPr>
          <p:cNvPr id="13" name="Text 10"/>
          <p:cNvSpPr txBox="1"/>
          <p:nvPr/>
        </p:nvSpPr>
        <p:spPr>
          <a:xfrm>
            <a:off x="685800" y="2084832"/>
            <a:ext cx="2382012" cy="256032"/>
          </a:xfrm>
          <a:prstGeom prst="rect">
            <a:avLst/>
          </a:prstGeom>
          <a:noFill/>
          <a:ln/>
        </p:spPr>
        <p:txBody>
          <a:bodyPr wrap="square" lIns="0" tIns="0" rIns="0" bIns="0" rtlCol="0" anchor="t"/>
          <a:lstStyle/>
          <a:p>
            <a:pPr marL="0" indent="0">
              <a:buNone/>
            </a:pPr>
            <a:r>
              <a:rPr lang="en-US" sz="1250" b="1" dirty="0">
                <a:solidFill>
                  <a:srgbClr val="1B2A22"/>
                </a:solidFill>
                <a:latin typeface="Calibri" pitchFamily="34" charset="0"/>
                <a:ea typeface="Calibri" pitchFamily="34" charset="-122"/>
                <a:cs typeface="Calibri" pitchFamily="34" charset="-120"/>
              </a:rPr>
              <a:t>Camera + YOLOv8</a:t>
            </a:r>
            <a:endParaRPr lang="en-US" sz="1250" dirty="0"/>
          </a:p>
        </p:txBody>
      </p:sp>
      <p:pic>
        <p:nvPicPr>
          <p:cNvPr id="14" name="Image 1" descr="Illustrative detection example"/>
          <p:cNvPicPr>
            <a:picLocks noChangeAspect="1"/>
          </p:cNvPicPr>
          <p:nvPr/>
        </p:nvPicPr>
        <p:blipFill>
          <a:blip r:embed="rId3"/>
          <a:stretch>
            <a:fillRect/>
          </a:stretch>
        </p:blipFill>
        <p:spPr>
          <a:xfrm>
            <a:off x="685800" y="2423160"/>
            <a:ext cx="1920240" cy="1106424"/>
          </a:xfrm>
          <a:prstGeom prst="rect">
            <a:avLst/>
          </a:prstGeom>
        </p:spPr>
      </p:pic>
      <p:sp>
        <p:nvSpPr>
          <p:cNvPr id="15" name="Text 11"/>
          <p:cNvSpPr txBox="1"/>
          <p:nvPr/>
        </p:nvSpPr>
        <p:spPr>
          <a:xfrm>
            <a:off x="685800" y="3557016"/>
            <a:ext cx="2377440" cy="182880"/>
          </a:xfrm>
          <a:prstGeom prst="rect">
            <a:avLst/>
          </a:prstGeom>
          <a:noFill/>
          <a:ln/>
        </p:spPr>
        <p:txBody>
          <a:bodyPr wrap="square" lIns="0" tIns="0" rIns="0" bIns="0" rtlCol="0" anchor="t"/>
          <a:lstStyle/>
          <a:p>
            <a:pPr marL="0" indent="0">
              <a:buNone/>
            </a:pPr>
            <a:r>
              <a:rPr lang="en-US" sz="1000" b="1" dirty="0">
                <a:solidFill>
                  <a:srgbClr val="A65F1B"/>
                </a:solidFill>
                <a:latin typeface="Calibri" pitchFamily="34" charset="0"/>
                <a:ea typeface="Calibri" pitchFamily="34" charset="-122"/>
                <a:cs typeface="Calibri" pitchFamily="34" charset="-120"/>
              </a:rPr>
              <a:t>ILLUSTRATIVE</a:t>
            </a:r>
            <a:endParaRPr lang="en-US" sz="1000" dirty="0"/>
          </a:p>
        </p:txBody>
      </p:sp>
      <p:sp>
        <p:nvSpPr>
          <p:cNvPr id="16" name="Text 12"/>
          <p:cNvSpPr txBox="1"/>
          <p:nvPr/>
        </p:nvSpPr>
        <p:spPr>
          <a:xfrm>
            <a:off x="685800" y="3931920"/>
            <a:ext cx="2427732" cy="822960"/>
          </a:xfrm>
          <a:prstGeom prst="rect">
            <a:avLst/>
          </a:prstGeom>
          <a:noFill/>
          <a:ln/>
        </p:spPr>
        <p:txBody>
          <a:bodyPr wrap="square" lIns="0" tIns="0" rIns="0" bIns="0" rtlCol="0" anchor="t"/>
          <a:lstStyle/>
          <a:p>
            <a:pPr marL="127000" indent="-127000">
              <a:spcAft>
                <a:spcPts val="100"/>
              </a:spcAft>
              <a:buSzPct val="100000"/>
              <a:buChar char="•"/>
            </a:pPr>
            <a:r>
              <a:rPr lang="en-US" sz="1000" dirty="0">
                <a:solidFill>
                  <a:srgbClr val="1B2A22"/>
                </a:solidFill>
                <a:latin typeface="Calibri" pitchFamily="34" charset="0"/>
                <a:ea typeface="Calibri" pitchFamily="34" charset="-122"/>
                <a:cs typeface="Calibri" pitchFamily="34" charset="-120"/>
              </a:rPr>
              <a:t>Camera captures frames in real time</a:t>
            </a:r>
            <a:endParaRPr lang="en-US" sz="1000" dirty="0"/>
          </a:p>
          <a:p>
            <a:pPr marL="127000" indent="-127000">
              <a:spcAft>
                <a:spcPts val="100"/>
              </a:spcAft>
              <a:buSzPct val="100000"/>
              <a:buChar char="•"/>
            </a:pPr>
            <a:r>
              <a:rPr lang="en-US" sz="1000" dirty="0">
                <a:solidFill>
                  <a:srgbClr val="1B2A22"/>
                </a:solidFill>
                <a:latin typeface="Calibri" pitchFamily="34" charset="0"/>
                <a:ea typeface="Calibri" pitchFamily="34" charset="-122"/>
                <a:cs typeface="Calibri" pitchFamily="34" charset="-120"/>
              </a:rPr>
              <a:t>YOLOv8 detects supported object classes</a:t>
            </a:r>
            <a:endParaRPr lang="en-US" sz="1000" dirty="0"/>
          </a:p>
          <a:p>
            <a:pPr marL="127000" indent="-127000">
              <a:spcAft>
                <a:spcPts val="100"/>
              </a:spcAft>
              <a:buSzPct val="100000"/>
              <a:buChar char="•"/>
            </a:pPr>
            <a:r>
              <a:rPr lang="en-US" sz="1000" dirty="0">
                <a:solidFill>
                  <a:srgbClr val="1B2A22"/>
                </a:solidFill>
                <a:latin typeface="Calibri" pitchFamily="34" charset="0"/>
                <a:ea typeface="Calibri" pitchFamily="34" charset="-122"/>
                <a:cs typeface="Calibri" pitchFamily="34" charset="-120"/>
              </a:rPr>
              <a:t>Outputs class and confidence score</a:t>
            </a:r>
            <a:endParaRPr lang="en-US" sz="1000" dirty="0"/>
          </a:p>
        </p:txBody>
      </p:sp>
      <p:sp>
        <p:nvSpPr>
          <p:cNvPr id="17" name="Step arrow"/>
          <p:cNvSpPr/>
          <p:nvPr/>
        </p:nvSpPr>
        <p:spPr>
          <a:xfrm>
            <a:off x="3214116" y="3108960"/>
            <a:ext cx="137160" cy="0"/>
          </a:xfrm>
          <a:prstGeom prst="line">
            <a:avLst/>
          </a:prstGeom>
          <a:noFill/>
          <a:ln w="25400">
            <a:solidFill>
              <a:srgbClr val="1F4D36"/>
            </a:solidFill>
            <a:prstDash val="solid"/>
            <a:tailEnd type="triangle"/>
          </a:ln>
        </p:spPr>
        <p:txBody>
          <a:bodyPr/>
          <a:lstStyle/>
          <a:p>
            <a:endParaRPr lang="en-IN"/>
          </a:p>
        </p:txBody>
      </p:sp>
      <p:sp>
        <p:nvSpPr>
          <p:cNvPr id="18" name="Step card DECIDE"/>
          <p:cNvSpPr/>
          <p:nvPr/>
        </p:nvSpPr>
        <p:spPr>
          <a:xfrm>
            <a:off x="3360420" y="1554480"/>
            <a:ext cx="2656332" cy="3246120"/>
          </a:xfrm>
          <a:prstGeom prst="roundRect">
            <a:avLst>
              <a:gd name="adj" fmla="val 2754"/>
            </a:avLst>
          </a:prstGeom>
          <a:solidFill>
            <a:srgbClr val="FFFFFF"/>
          </a:solidFill>
          <a:ln w="19050">
            <a:solidFill>
              <a:srgbClr val="D9D2BC"/>
            </a:solidFill>
            <a:prstDash val="dash"/>
          </a:ln>
        </p:spPr>
        <p:txBody>
          <a:bodyPr/>
          <a:lstStyle/>
          <a:p>
            <a:endParaRPr lang="en-IN"/>
          </a:p>
        </p:txBody>
      </p:sp>
      <p:sp>
        <p:nvSpPr>
          <p:cNvPr id="19" name="Step number 02"/>
          <p:cNvSpPr/>
          <p:nvPr/>
        </p:nvSpPr>
        <p:spPr>
          <a:xfrm>
            <a:off x="3470148" y="1664208"/>
            <a:ext cx="384048" cy="310896"/>
          </a:xfrm>
          <a:prstGeom prst="roundRect">
            <a:avLst>
              <a:gd name="adj" fmla="val 17647"/>
            </a:avLst>
          </a:prstGeom>
          <a:solidFill>
            <a:srgbClr val="1F4D36"/>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20" name="Text 16"/>
          <p:cNvSpPr txBox="1"/>
          <p:nvPr/>
        </p:nvSpPr>
        <p:spPr>
          <a:xfrm>
            <a:off x="3927348" y="1664208"/>
            <a:ext cx="914400" cy="310896"/>
          </a:xfrm>
          <a:prstGeom prst="rect">
            <a:avLst/>
          </a:prstGeom>
          <a:noFill/>
          <a:ln/>
        </p:spPr>
        <p:txBody>
          <a:bodyPr wrap="square" lIns="0" tIns="0" rIns="0" bIns="0" rtlCol="0" anchor="ctr"/>
          <a:lstStyle/>
          <a:p>
            <a:pPr marL="0" indent="0">
              <a:buNone/>
            </a:pPr>
            <a:r>
              <a:rPr lang="en-US" sz="1500" b="1" dirty="0">
                <a:solidFill>
                  <a:srgbClr val="1F4D36"/>
                </a:solidFill>
                <a:latin typeface="Calibri" pitchFamily="34" charset="0"/>
                <a:ea typeface="Calibri" pitchFamily="34" charset="-122"/>
                <a:cs typeface="Calibri" pitchFamily="34" charset="-120"/>
              </a:rPr>
              <a:t>DECIDE</a:t>
            </a:r>
            <a:endParaRPr lang="en-US" sz="1500" dirty="0"/>
          </a:p>
        </p:txBody>
      </p:sp>
      <p:sp>
        <p:nvSpPr>
          <p:cNvPr id="22" name="Text 18"/>
          <p:cNvSpPr txBox="1"/>
          <p:nvPr/>
        </p:nvSpPr>
        <p:spPr>
          <a:xfrm>
            <a:off x="3497580" y="2084832"/>
            <a:ext cx="2382012" cy="256032"/>
          </a:xfrm>
          <a:prstGeom prst="rect">
            <a:avLst/>
          </a:prstGeom>
          <a:noFill/>
          <a:ln/>
        </p:spPr>
        <p:txBody>
          <a:bodyPr wrap="square" lIns="0" tIns="0" rIns="0" bIns="0" rtlCol="0" anchor="t"/>
          <a:lstStyle/>
          <a:p>
            <a:pPr marL="0" indent="0">
              <a:buNone/>
            </a:pPr>
            <a:r>
              <a:rPr lang="en-US" sz="1250" b="1" dirty="0">
                <a:solidFill>
                  <a:srgbClr val="1B2A22"/>
                </a:solidFill>
                <a:latin typeface="Calibri" pitchFamily="34" charset="0"/>
                <a:ea typeface="Calibri" pitchFamily="34" charset="-122"/>
                <a:cs typeface="Calibri" pitchFamily="34" charset="-120"/>
              </a:rPr>
              <a:t>Class, threshold and decision logic</a:t>
            </a:r>
            <a:endParaRPr lang="en-US" sz="1250" dirty="0"/>
          </a:p>
        </p:txBody>
      </p:sp>
      <p:sp>
        <p:nvSpPr>
          <p:cNvPr id="23" name="Flow detected object"/>
          <p:cNvSpPr/>
          <p:nvPr/>
        </p:nvSpPr>
        <p:spPr>
          <a:xfrm>
            <a:off x="3470148" y="2606040"/>
            <a:ext cx="731520" cy="411480"/>
          </a:xfrm>
          <a:prstGeom prst="roundRect">
            <a:avLst>
              <a:gd name="adj" fmla="val 13333"/>
            </a:avLst>
          </a:prstGeom>
          <a:solidFill>
            <a:srgbClr val="1F4D36"/>
          </a:solidFill>
          <a:ln/>
        </p:spPr>
        <p:txBody>
          <a:bodyPr wrap="square" lIns="254" tIns="254" rIns="254" bIns="254"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Detected object</a:t>
            </a:r>
            <a:endParaRPr lang="en-US" sz="1000" dirty="0"/>
          </a:p>
        </p:txBody>
      </p:sp>
      <p:sp>
        <p:nvSpPr>
          <p:cNvPr id="24" name="Flow decision"/>
          <p:cNvSpPr/>
          <p:nvPr/>
        </p:nvSpPr>
        <p:spPr>
          <a:xfrm>
            <a:off x="4293108" y="2441448"/>
            <a:ext cx="868680" cy="731520"/>
          </a:xfrm>
          <a:prstGeom prst="diamond">
            <a:avLst/>
          </a:prstGeom>
          <a:solidFill>
            <a:srgbClr val="B8D8C0"/>
          </a:solidFill>
          <a:ln/>
        </p:spPr>
        <p:txBody>
          <a:bodyPr wrap="square" lIns="0" tIns="0" rIns="0" bIns="0" rtlCol="0" anchor="ctr"/>
          <a:lstStyle/>
          <a:p>
            <a:pPr marL="0" indent="0" algn="ctr">
              <a:buNone/>
            </a:pPr>
            <a:r>
              <a:rPr lang="en-US" sz="1000" b="1" dirty="0">
                <a:solidFill>
                  <a:srgbClr val="1F4D36"/>
                </a:solidFill>
                <a:latin typeface="Calibri" pitchFamily="34" charset="0"/>
                <a:ea typeface="Calibri" pitchFamily="34" charset="-122"/>
                <a:cs typeface="Calibri" pitchFamily="34" charset="-120"/>
              </a:rPr>
              <a:t>Animal class?</a:t>
            </a:r>
            <a:endParaRPr lang="en-US" sz="1000" dirty="0"/>
          </a:p>
        </p:txBody>
      </p:sp>
      <p:sp>
        <p:nvSpPr>
          <p:cNvPr id="25" name="Flow no deterrence"/>
          <p:cNvSpPr/>
          <p:nvPr/>
        </p:nvSpPr>
        <p:spPr>
          <a:xfrm>
            <a:off x="5253228" y="2606040"/>
            <a:ext cx="658368" cy="411480"/>
          </a:xfrm>
          <a:prstGeom prst="roundRect">
            <a:avLst>
              <a:gd name="adj" fmla="val 13333"/>
            </a:avLst>
          </a:prstGeom>
          <a:solidFill>
            <a:srgbClr val="E4E8E4"/>
          </a:solidFill>
          <a:ln/>
        </p:spPr>
        <p:txBody>
          <a:bodyPr wrap="square" lIns="254" tIns="254" rIns="254" bIns="254" rtlCol="0" anchor="ctr"/>
          <a:lstStyle/>
          <a:p>
            <a:pPr marL="0" indent="0" algn="ctr">
              <a:buNone/>
            </a:pPr>
            <a:r>
              <a:rPr lang="en-US" sz="1000" b="1" dirty="0">
                <a:solidFill>
                  <a:srgbClr val="66756D"/>
                </a:solidFill>
                <a:latin typeface="Calibri" pitchFamily="34" charset="0"/>
                <a:ea typeface="Calibri" pitchFamily="34" charset="-122"/>
                <a:cs typeface="Calibri" pitchFamily="34" charset="-120"/>
              </a:rPr>
              <a:t>No deterrence</a:t>
            </a:r>
            <a:endParaRPr lang="en-US" sz="1000" dirty="0"/>
          </a:p>
        </p:txBody>
      </p:sp>
      <p:sp>
        <p:nvSpPr>
          <p:cNvPr id="26" name="Connector"/>
          <p:cNvSpPr/>
          <p:nvPr/>
        </p:nvSpPr>
        <p:spPr>
          <a:xfrm>
            <a:off x="4201668" y="2807208"/>
            <a:ext cx="91440" cy="0"/>
          </a:xfrm>
          <a:prstGeom prst="line">
            <a:avLst/>
          </a:prstGeom>
          <a:noFill/>
          <a:ln w="25400">
            <a:solidFill>
              <a:srgbClr val="66756D"/>
            </a:solidFill>
            <a:prstDash val="solid"/>
            <a:tailEnd type="triangle"/>
          </a:ln>
        </p:spPr>
        <p:txBody>
          <a:bodyPr/>
          <a:lstStyle/>
          <a:p>
            <a:endParaRPr lang="en-IN"/>
          </a:p>
        </p:txBody>
      </p:sp>
      <p:sp>
        <p:nvSpPr>
          <p:cNvPr id="27" name="Connector"/>
          <p:cNvSpPr/>
          <p:nvPr/>
        </p:nvSpPr>
        <p:spPr>
          <a:xfrm>
            <a:off x="5161788" y="2807208"/>
            <a:ext cx="91440" cy="0"/>
          </a:xfrm>
          <a:prstGeom prst="line">
            <a:avLst/>
          </a:prstGeom>
          <a:noFill/>
          <a:ln w="25400">
            <a:solidFill>
              <a:srgbClr val="66756D"/>
            </a:solidFill>
            <a:prstDash val="solid"/>
            <a:tailEnd type="triangle"/>
          </a:ln>
        </p:spPr>
        <p:txBody>
          <a:bodyPr/>
          <a:lstStyle/>
          <a:p>
            <a:endParaRPr lang="en-IN"/>
          </a:p>
        </p:txBody>
      </p:sp>
      <p:sp>
        <p:nvSpPr>
          <p:cNvPr id="28" name="Text 24"/>
          <p:cNvSpPr txBox="1"/>
          <p:nvPr/>
        </p:nvSpPr>
        <p:spPr>
          <a:xfrm>
            <a:off x="5116068" y="2459736"/>
            <a:ext cx="822960" cy="146304"/>
          </a:xfrm>
          <a:prstGeom prst="rect">
            <a:avLst/>
          </a:prstGeom>
          <a:noFill/>
          <a:ln/>
        </p:spPr>
        <p:txBody>
          <a:bodyPr wrap="square" lIns="0" tIns="0" rIns="0" bIns="0" rtlCol="0" anchor="t"/>
          <a:lstStyle/>
          <a:p>
            <a:pPr marL="0" indent="0" algn="ctr">
              <a:buNone/>
            </a:pPr>
            <a:r>
              <a:rPr lang="en-US" sz="900" dirty="0">
                <a:solidFill>
                  <a:srgbClr val="66756D"/>
                </a:solidFill>
                <a:latin typeface="Calibri" pitchFamily="34" charset="0"/>
                <a:ea typeface="Calibri" pitchFamily="34" charset="-122"/>
                <a:cs typeface="Calibri" pitchFamily="34" charset="-120"/>
              </a:rPr>
              <a:t>No (human)</a:t>
            </a:r>
            <a:endParaRPr lang="en-US" sz="900" dirty="0"/>
          </a:p>
        </p:txBody>
      </p:sp>
      <p:sp>
        <p:nvSpPr>
          <p:cNvPr id="29" name="Connector"/>
          <p:cNvSpPr/>
          <p:nvPr/>
        </p:nvSpPr>
        <p:spPr>
          <a:xfrm>
            <a:off x="4727448" y="3172968"/>
            <a:ext cx="0" cy="137160"/>
          </a:xfrm>
          <a:prstGeom prst="line">
            <a:avLst/>
          </a:prstGeom>
          <a:noFill/>
          <a:ln w="25400">
            <a:solidFill>
              <a:srgbClr val="2E7D4F"/>
            </a:solidFill>
            <a:prstDash val="solid"/>
            <a:tailEnd type="triangle"/>
          </a:ln>
        </p:spPr>
        <p:txBody>
          <a:bodyPr/>
          <a:lstStyle/>
          <a:p>
            <a:endParaRPr lang="en-IN"/>
          </a:p>
        </p:txBody>
      </p:sp>
      <p:sp>
        <p:nvSpPr>
          <p:cNvPr id="30" name="Text 26"/>
          <p:cNvSpPr txBox="1"/>
          <p:nvPr/>
        </p:nvSpPr>
        <p:spPr>
          <a:xfrm>
            <a:off x="4805172" y="3172968"/>
            <a:ext cx="365760" cy="146304"/>
          </a:xfrm>
          <a:prstGeom prst="rect">
            <a:avLst/>
          </a:prstGeom>
          <a:noFill/>
          <a:ln/>
        </p:spPr>
        <p:txBody>
          <a:bodyPr wrap="square" lIns="0" tIns="0" rIns="0" bIns="0" rtlCol="0" anchor="t"/>
          <a:lstStyle/>
          <a:p>
            <a:pPr marL="0" indent="0">
              <a:buNone/>
            </a:pPr>
            <a:r>
              <a:rPr lang="en-US" sz="1000" b="1" dirty="0">
                <a:solidFill>
                  <a:srgbClr val="2E7D4F"/>
                </a:solidFill>
                <a:latin typeface="Calibri" pitchFamily="34" charset="0"/>
                <a:ea typeface="Calibri" pitchFamily="34" charset="-122"/>
                <a:cs typeface="Calibri" pitchFamily="34" charset="-120"/>
              </a:rPr>
              <a:t>Yes</a:t>
            </a:r>
            <a:endParaRPr lang="en-US" sz="1000" dirty="0"/>
          </a:p>
        </p:txBody>
      </p:sp>
      <p:sp>
        <p:nvSpPr>
          <p:cNvPr id="31" name="Flow trigger"/>
          <p:cNvSpPr/>
          <p:nvPr/>
        </p:nvSpPr>
        <p:spPr>
          <a:xfrm>
            <a:off x="3863340" y="3328416"/>
            <a:ext cx="1783080" cy="457200"/>
          </a:xfrm>
          <a:prstGeom prst="roundRect">
            <a:avLst>
              <a:gd name="adj" fmla="val 12000"/>
            </a:avLst>
          </a:prstGeom>
          <a:solidFill>
            <a:srgbClr val="2E7D4F"/>
          </a:solidFill>
          <a:ln/>
        </p:spPr>
        <p:txBody>
          <a:bodyPr wrap="square" lIns="508" tIns="508" rIns="508" bIns="508"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Trigger deterrence (if confidence ≥ threshold)</a:t>
            </a:r>
            <a:endParaRPr lang="en-US" sz="1000" dirty="0"/>
          </a:p>
        </p:txBody>
      </p:sp>
      <p:sp>
        <p:nvSpPr>
          <p:cNvPr id="32" name="Text 28"/>
          <p:cNvSpPr txBox="1"/>
          <p:nvPr/>
        </p:nvSpPr>
        <p:spPr>
          <a:xfrm>
            <a:off x="3497580" y="3931920"/>
            <a:ext cx="2427732" cy="822960"/>
          </a:xfrm>
          <a:prstGeom prst="rect">
            <a:avLst/>
          </a:prstGeom>
          <a:noFill/>
          <a:ln/>
        </p:spPr>
        <p:txBody>
          <a:bodyPr wrap="square" lIns="0" tIns="0" rIns="0" bIns="0" rtlCol="0" anchor="t"/>
          <a:lstStyle/>
          <a:p>
            <a:pPr marL="127000" indent="-127000">
              <a:spcAft>
                <a:spcPts val="100"/>
              </a:spcAft>
              <a:buSzPct val="100000"/>
              <a:buChar char="•"/>
            </a:pPr>
            <a:r>
              <a:rPr lang="en-US" sz="1000" dirty="0">
                <a:solidFill>
                  <a:srgbClr val="1B2A22"/>
                </a:solidFill>
                <a:latin typeface="Calibri" pitchFamily="34" charset="0"/>
                <a:ea typeface="Calibri" pitchFamily="34" charset="-122"/>
                <a:cs typeface="Calibri" pitchFamily="34" charset="-120"/>
              </a:rPr>
              <a:t>Check class, confidence threshold and cooldown</a:t>
            </a:r>
            <a:endParaRPr lang="en-US" sz="1000" dirty="0"/>
          </a:p>
          <a:p>
            <a:pPr marL="127000" indent="-127000">
              <a:spcAft>
                <a:spcPts val="100"/>
              </a:spcAft>
              <a:buSzPct val="100000"/>
              <a:buChar char="•"/>
            </a:pPr>
            <a:r>
              <a:rPr lang="en-US" sz="1000" dirty="0">
                <a:solidFill>
                  <a:srgbClr val="1B2A22"/>
                </a:solidFill>
                <a:latin typeface="Calibri" pitchFamily="34" charset="0"/>
                <a:ea typeface="Calibri" pitchFamily="34" charset="-122"/>
                <a:cs typeface="Calibri" pitchFamily="34" charset="-120"/>
              </a:rPr>
              <a:t>Suppress deterrence for humans</a:t>
            </a:r>
            <a:endParaRPr lang="en-US" sz="1000" dirty="0"/>
          </a:p>
          <a:p>
            <a:pPr marL="127000" indent="-127000">
              <a:spcAft>
                <a:spcPts val="100"/>
              </a:spcAft>
              <a:buSzPct val="100000"/>
              <a:buChar char="•"/>
            </a:pPr>
            <a:r>
              <a:rPr lang="en-US" sz="1000" dirty="0">
                <a:solidFill>
                  <a:srgbClr val="1B2A22"/>
                </a:solidFill>
                <a:latin typeface="Calibri" pitchFamily="34" charset="0"/>
                <a:ea typeface="Calibri" pitchFamily="34" charset="-122"/>
                <a:cs typeface="Calibri" pitchFamily="34" charset="-120"/>
              </a:rPr>
              <a:t>Handle no-detection and error cases</a:t>
            </a:r>
            <a:endParaRPr lang="en-US" sz="1000" dirty="0"/>
          </a:p>
        </p:txBody>
      </p:sp>
      <p:sp>
        <p:nvSpPr>
          <p:cNvPr id="33" name="Step arrow"/>
          <p:cNvSpPr/>
          <p:nvPr/>
        </p:nvSpPr>
        <p:spPr>
          <a:xfrm>
            <a:off x="6025896" y="3108960"/>
            <a:ext cx="137160" cy="0"/>
          </a:xfrm>
          <a:prstGeom prst="line">
            <a:avLst/>
          </a:prstGeom>
          <a:noFill/>
          <a:ln w="25400">
            <a:solidFill>
              <a:srgbClr val="1F4D36"/>
            </a:solidFill>
            <a:prstDash val="solid"/>
            <a:tailEnd type="triangle"/>
          </a:ln>
        </p:spPr>
        <p:txBody>
          <a:bodyPr/>
          <a:lstStyle/>
          <a:p>
            <a:endParaRPr lang="en-IN"/>
          </a:p>
        </p:txBody>
      </p:sp>
      <p:sp>
        <p:nvSpPr>
          <p:cNvPr id="34" name="Step card DETER"/>
          <p:cNvSpPr/>
          <p:nvPr/>
        </p:nvSpPr>
        <p:spPr>
          <a:xfrm>
            <a:off x="6172200" y="1554480"/>
            <a:ext cx="2656332" cy="3246120"/>
          </a:xfrm>
          <a:prstGeom prst="roundRect">
            <a:avLst>
              <a:gd name="adj" fmla="val 2754"/>
            </a:avLst>
          </a:prstGeom>
          <a:solidFill>
            <a:srgbClr val="FFFFFF"/>
          </a:solidFill>
          <a:ln w="12700">
            <a:solidFill>
              <a:srgbClr val="D9D2BC"/>
            </a:solidFill>
            <a:prstDash val="solid"/>
          </a:ln>
        </p:spPr>
        <p:txBody>
          <a:bodyPr/>
          <a:lstStyle/>
          <a:p>
            <a:endParaRPr lang="en-IN"/>
          </a:p>
        </p:txBody>
      </p:sp>
      <p:sp>
        <p:nvSpPr>
          <p:cNvPr id="35" name="Step number 03"/>
          <p:cNvSpPr/>
          <p:nvPr/>
        </p:nvSpPr>
        <p:spPr>
          <a:xfrm>
            <a:off x="6281928" y="1664208"/>
            <a:ext cx="384048" cy="310896"/>
          </a:xfrm>
          <a:prstGeom prst="roundRect">
            <a:avLst>
              <a:gd name="adj" fmla="val 17647"/>
            </a:avLst>
          </a:prstGeom>
          <a:solidFill>
            <a:srgbClr val="1F4D36"/>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36" name="Text 32"/>
          <p:cNvSpPr txBox="1"/>
          <p:nvPr/>
        </p:nvSpPr>
        <p:spPr>
          <a:xfrm>
            <a:off x="6739128" y="1664208"/>
            <a:ext cx="914400" cy="310896"/>
          </a:xfrm>
          <a:prstGeom prst="rect">
            <a:avLst/>
          </a:prstGeom>
          <a:noFill/>
          <a:ln/>
        </p:spPr>
        <p:txBody>
          <a:bodyPr wrap="square" lIns="0" tIns="0" rIns="0" bIns="0" rtlCol="0" anchor="ctr"/>
          <a:lstStyle/>
          <a:p>
            <a:pPr marL="0" indent="0">
              <a:buNone/>
            </a:pPr>
            <a:r>
              <a:rPr lang="en-US" sz="1500" b="1" dirty="0">
                <a:solidFill>
                  <a:srgbClr val="1F4D36"/>
                </a:solidFill>
                <a:latin typeface="Calibri" pitchFamily="34" charset="0"/>
                <a:ea typeface="Calibri" pitchFamily="34" charset="-122"/>
                <a:cs typeface="Calibri" pitchFamily="34" charset="-120"/>
              </a:rPr>
              <a:t>DETER</a:t>
            </a:r>
            <a:endParaRPr lang="en-US" sz="1500" dirty="0"/>
          </a:p>
        </p:txBody>
      </p:sp>
      <p:sp>
        <p:nvSpPr>
          <p:cNvPr id="37" name="Status WORKING"/>
          <p:cNvSpPr/>
          <p:nvPr/>
        </p:nvSpPr>
        <p:spPr>
          <a:xfrm>
            <a:off x="7804404" y="1709928"/>
            <a:ext cx="914400" cy="219456"/>
          </a:xfrm>
          <a:prstGeom prst="roundRect">
            <a:avLst>
              <a:gd name="adj" fmla="val 29167"/>
            </a:avLst>
          </a:prstGeom>
          <a:solidFill>
            <a:srgbClr val="2E7D4F"/>
          </a:solidFill>
          <a:ln/>
        </p:spPr>
        <p:txBody>
          <a:bodyPr wrap="square" lIns="0" tIns="0" rIns="0" bIns="0" rtlCol="0" anchor="ctr"/>
          <a:lstStyle/>
          <a:p>
            <a:pPr marL="0" indent="0" algn="ctr">
              <a:buNone/>
            </a:pPr>
            <a:r>
              <a:rPr lang="en-US" sz="1000" b="1" kern="0" spc="50" dirty="0">
                <a:solidFill>
                  <a:srgbClr val="FFFFFF"/>
                </a:solidFill>
                <a:latin typeface="Calibri" pitchFamily="34" charset="0"/>
                <a:ea typeface="Calibri" pitchFamily="34" charset="-122"/>
                <a:cs typeface="Calibri" pitchFamily="34" charset="-120"/>
              </a:rPr>
              <a:t>WORKING</a:t>
            </a:r>
            <a:endParaRPr lang="en-US" sz="1000" dirty="0"/>
          </a:p>
        </p:txBody>
      </p:sp>
      <p:sp>
        <p:nvSpPr>
          <p:cNvPr id="38" name="Text 34"/>
          <p:cNvSpPr txBox="1"/>
          <p:nvPr/>
        </p:nvSpPr>
        <p:spPr>
          <a:xfrm>
            <a:off x="6309360" y="2084832"/>
            <a:ext cx="2382012" cy="256032"/>
          </a:xfrm>
          <a:prstGeom prst="rect">
            <a:avLst/>
          </a:prstGeom>
          <a:noFill/>
          <a:ln/>
        </p:spPr>
        <p:txBody>
          <a:bodyPr wrap="square" lIns="0" tIns="0" rIns="0" bIns="0" rtlCol="0" anchor="t"/>
          <a:lstStyle/>
          <a:p>
            <a:pPr marL="0" indent="0">
              <a:buNone/>
            </a:pPr>
            <a:r>
              <a:rPr lang="en-US" sz="1250" b="1" dirty="0">
                <a:solidFill>
                  <a:srgbClr val="1B2A22"/>
                </a:solidFill>
                <a:latin typeface="Calibri" pitchFamily="34" charset="0"/>
                <a:ea typeface="Calibri" pitchFamily="34" charset="-122"/>
                <a:cs typeface="Calibri" pitchFamily="34" charset="-120"/>
              </a:rPr>
              <a:t>Audio and arm movement</a:t>
            </a:r>
            <a:endParaRPr lang="en-US" sz="1250" dirty="0"/>
          </a:p>
        </p:txBody>
      </p:sp>
      <p:pic>
        <p:nvPicPr>
          <p:cNvPr id="39" name="Image 2" descr="Speaker"/>
          <p:cNvPicPr>
            <a:picLocks noChangeAspect="1"/>
          </p:cNvPicPr>
          <p:nvPr/>
        </p:nvPicPr>
        <p:blipFill>
          <a:blip r:embed="rId4"/>
          <a:stretch>
            <a:fillRect/>
          </a:stretch>
        </p:blipFill>
        <p:spPr>
          <a:xfrm>
            <a:off x="6281928" y="2423160"/>
            <a:ext cx="1097280" cy="941832"/>
          </a:xfrm>
          <a:prstGeom prst="rect">
            <a:avLst/>
          </a:prstGeom>
        </p:spPr>
      </p:pic>
      <p:pic>
        <p:nvPicPr>
          <p:cNvPr id="40" name="Image 3" descr="Servo motor"/>
          <p:cNvPicPr>
            <a:picLocks noChangeAspect="1"/>
          </p:cNvPicPr>
          <p:nvPr/>
        </p:nvPicPr>
        <p:blipFill>
          <a:blip r:embed="rId5"/>
          <a:stretch>
            <a:fillRect/>
          </a:stretch>
        </p:blipFill>
        <p:spPr>
          <a:xfrm>
            <a:off x="7543800" y="2423160"/>
            <a:ext cx="1097280" cy="941832"/>
          </a:xfrm>
          <a:prstGeom prst="rect">
            <a:avLst/>
          </a:prstGeom>
        </p:spPr>
      </p:pic>
      <p:sp>
        <p:nvSpPr>
          <p:cNvPr id="41" name="Text 35"/>
          <p:cNvSpPr txBox="1"/>
          <p:nvPr/>
        </p:nvSpPr>
        <p:spPr>
          <a:xfrm>
            <a:off x="6217920" y="3429000"/>
            <a:ext cx="1280160" cy="329184"/>
          </a:xfrm>
          <a:prstGeom prst="rect">
            <a:avLst/>
          </a:prstGeom>
          <a:noFill/>
          <a:ln/>
        </p:spPr>
        <p:txBody>
          <a:bodyPr wrap="square" lIns="0" tIns="0" rIns="0" bIns="0" rtlCol="0" anchor="t"/>
          <a:lstStyle/>
          <a:p>
            <a:pPr marL="0" indent="0" algn="ctr">
              <a:buNone/>
            </a:pPr>
            <a:r>
              <a:rPr lang="en-US" sz="1000" dirty="0">
                <a:solidFill>
                  <a:srgbClr val="1B2A22"/>
                </a:solidFill>
                <a:latin typeface="Calibri" pitchFamily="34" charset="0"/>
                <a:ea typeface="Calibri" pitchFamily="34" charset="-122"/>
                <a:cs typeface="Calibri" pitchFamily="34" charset="-120"/>
              </a:rPr>
              <a:t>DFPlayer Mini + speaker</a:t>
            </a:r>
            <a:endParaRPr lang="en-US" sz="1000" dirty="0"/>
          </a:p>
        </p:txBody>
      </p:sp>
      <p:sp>
        <p:nvSpPr>
          <p:cNvPr id="42" name="Text 36"/>
          <p:cNvSpPr txBox="1"/>
          <p:nvPr/>
        </p:nvSpPr>
        <p:spPr>
          <a:xfrm>
            <a:off x="7498080" y="3429000"/>
            <a:ext cx="1188720" cy="329184"/>
          </a:xfrm>
          <a:prstGeom prst="rect">
            <a:avLst/>
          </a:prstGeom>
          <a:noFill/>
          <a:ln/>
        </p:spPr>
        <p:txBody>
          <a:bodyPr wrap="square" lIns="0" tIns="0" rIns="0" bIns="0" rtlCol="0" anchor="t"/>
          <a:lstStyle/>
          <a:p>
            <a:pPr marL="0" indent="0" algn="ctr">
              <a:buNone/>
            </a:pPr>
            <a:r>
              <a:rPr lang="en-US" sz="1000" dirty="0">
                <a:solidFill>
                  <a:srgbClr val="1B2A22"/>
                </a:solidFill>
                <a:latin typeface="Calibri" pitchFamily="34" charset="0"/>
                <a:ea typeface="Calibri" pitchFamily="34" charset="-122"/>
                <a:cs typeface="Calibri" pitchFamily="34" charset="-120"/>
              </a:rPr>
              <a:t>Servo motors</a:t>
            </a:r>
            <a:endParaRPr lang="en-US" sz="1000" dirty="0"/>
          </a:p>
        </p:txBody>
      </p:sp>
      <p:sp>
        <p:nvSpPr>
          <p:cNvPr id="43" name="Text 37"/>
          <p:cNvSpPr txBox="1"/>
          <p:nvPr/>
        </p:nvSpPr>
        <p:spPr>
          <a:xfrm>
            <a:off x="6309360" y="3931920"/>
            <a:ext cx="2427732" cy="822960"/>
          </a:xfrm>
          <a:prstGeom prst="rect">
            <a:avLst/>
          </a:prstGeom>
          <a:noFill/>
          <a:ln/>
        </p:spPr>
        <p:txBody>
          <a:bodyPr wrap="square" lIns="0" tIns="0" rIns="0" bIns="0" rtlCol="0" anchor="t"/>
          <a:lstStyle/>
          <a:p>
            <a:pPr marL="127000" indent="-127000">
              <a:spcAft>
                <a:spcPts val="100"/>
              </a:spcAft>
              <a:buSzPct val="100000"/>
              <a:buChar char="•"/>
            </a:pPr>
            <a:r>
              <a:rPr lang="en-US" sz="1000" dirty="0">
                <a:solidFill>
                  <a:srgbClr val="1B2A22"/>
                </a:solidFill>
                <a:latin typeface="Calibri" pitchFamily="34" charset="0"/>
                <a:ea typeface="Calibri" pitchFamily="34" charset="-122"/>
                <a:cs typeface="Calibri" pitchFamily="34" charset="-120"/>
              </a:rPr>
              <a:t>Plays deterrent sound when triggered</a:t>
            </a:r>
            <a:endParaRPr lang="en-US" sz="1000" dirty="0"/>
          </a:p>
          <a:p>
            <a:pPr marL="127000" indent="-127000">
              <a:spcAft>
                <a:spcPts val="100"/>
              </a:spcAft>
              <a:buSzPct val="100000"/>
              <a:buChar char="•"/>
            </a:pPr>
            <a:r>
              <a:rPr lang="en-US" sz="1000" dirty="0">
                <a:solidFill>
                  <a:srgbClr val="1B2A22"/>
                </a:solidFill>
                <a:latin typeface="Calibri" pitchFamily="34" charset="0"/>
                <a:ea typeface="Calibri" pitchFamily="34" charset="-122"/>
                <a:cs typeface="Calibri" pitchFamily="34" charset="-120"/>
              </a:rPr>
              <a:t>Moves arms to create visual and motion scare</a:t>
            </a:r>
            <a:endParaRPr lang="en-US" sz="1000" dirty="0"/>
          </a:p>
          <a:p>
            <a:pPr marL="127000" indent="-127000">
              <a:spcAft>
                <a:spcPts val="100"/>
              </a:spcAft>
              <a:buSzPct val="100000"/>
              <a:buChar char="•"/>
            </a:pPr>
            <a:r>
              <a:rPr lang="en-US" sz="1000" dirty="0">
                <a:solidFill>
                  <a:srgbClr val="1B2A22"/>
                </a:solidFill>
                <a:latin typeface="Calibri" pitchFamily="34" charset="0"/>
                <a:ea typeface="Calibri" pitchFamily="34" charset="-122"/>
                <a:cs typeface="Calibri" pitchFamily="34" charset="-120"/>
              </a:rPr>
              <a:t>Response controlled by ESP32</a:t>
            </a:r>
            <a:endParaRPr lang="en-US" sz="1000" dirty="0"/>
          </a:p>
        </p:txBody>
      </p:sp>
      <p:sp>
        <p:nvSpPr>
          <p:cNvPr id="44" name="Step arrow"/>
          <p:cNvSpPr/>
          <p:nvPr/>
        </p:nvSpPr>
        <p:spPr>
          <a:xfrm>
            <a:off x="8837676" y="3108960"/>
            <a:ext cx="137160" cy="0"/>
          </a:xfrm>
          <a:prstGeom prst="line">
            <a:avLst/>
          </a:prstGeom>
          <a:noFill/>
          <a:ln w="25400">
            <a:solidFill>
              <a:srgbClr val="1F4D36"/>
            </a:solidFill>
            <a:prstDash val="solid"/>
            <a:tailEnd type="triangle"/>
          </a:ln>
        </p:spPr>
        <p:txBody>
          <a:bodyPr/>
          <a:lstStyle/>
          <a:p>
            <a:endParaRPr lang="en-IN"/>
          </a:p>
        </p:txBody>
      </p:sp>
      <p:sp>
        <p:nvSpPr>
          <p:cNvPr id="45" name="Step card RECORD"/>
          <p:cNvSpPr/>
          <p:nvPr/>
        </p:nvSpPr>
        <p:spPr>
          <a:xfrm>
            <a:off x="8983980" y="1554480"/>
            <a:ext cx="2656332" cy="3246120"/>
          </a:xfrm>
          <a:prstGeom prst="roundRect">
            <a:avLst>
              <a:gd name="adj" fmla="val 2754"/>
            </a:avLst>
          </a:prstGeom>
          <a:solidFill>
            <a:srgbClr val="FFFFFF"/>
          </a:solidFill>
          <a:ln w="19050">
            <a:solidFill>
              <a:srgbClr val="D9D2BC"/>
            </a:solidFill>
            <a:prstDash val="dash"/>
          </a:ln>
        </p:spPr>
        <p:txBody>
          <a:bodyPr/>
          <a:lstStyle/>
          <a:p>
            <a:endParaRPr lang="en-IN"/>
          </a:p>
        </p:txBody>
      </p:sp>
      <p:sp>
        <p:nvSpPr>
          <p:cNvPr id="46" name="Step number 04"/>
          <p:cNvSpPr/>
          <p:nvPr/>
        </p:nvSpPr>
        <p:spPr>
          <a:xfrm>
            <a:off x="9093708" y="1664208"/>
            <a:ext cx="384048" cy="310896"/>
          </a:xfrm>
          <a:prstGeom prst="roundRect">
            <a:avLst>
              <a:gd name="adj" fmla="val 17647"/>
            </a:avLst>
          </a:prstGeom>
          <a:solidFill>
            <a:srgbClr val="1F4D36"/>
          </a:solid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7" name="Text 41"/>
          <p:cNvSpPr txBox="1"/>
          <p:nvPr/>
        </p:nvSpPr>
        <p:spPr>
          <a:xfrm>
            <a:off x="9550908" y="1664208"/>
            <a:ext cx="914400" cy="310896"/>
          </a:xfrm>
          <a:prstGeom prst="rect">
            <a:avLst/>
          </a:prstGeom>
          <a:noFill/>
          <a:ln/>
        </p:spPr>
        <p:txBody>
          <a:bodyPr wrap="square" lIns="0" tIns="0" rIns="0" bIns="0" rtlCol="0" anchor="ctr"/>
          <a:lstStyle/>
          <a:p>
            <a:pPr marL="0" indent="0">
              <a:buNone/>
            </a:pPr>
            <a:r>
              <a:rPr lang="en-US" sz="1500" b="1" dirty="0">
                <a:solidFill>
                  <a:srgbClr val="1F4D36"/>
                </a:solidFill>
                <a:latin typeface="Calibri" pitchFamily="34" charset="0"/>
                <a:ea typeface="Calibri" pitchFamily="34" charset="-122"/>
                <a:cs typeface="Calibri" pitchFamily="34" charset="-120"/>
              </a:rPr>
              <a:t>RECORD</a:t>
            </a:r>
            <a:endParaRPr lang="en-US" sz="1500" dirty="0"/>
          </a:p>
        </p:txBody>
      </p:sp>
      <p:sp>
        <p:nvSpPr>
          <p:cNvPr id="48" name="Status IN PROGRESS"/>
          <p:cNvSpPr/>
          <p:nvPr/>
        </p:nvSpPr>
        <p:spPr>
          <a:xfrm>
            <a:off x="10433304" y="1709928"/>
            <a:ext cx="1097280" cy="219456"/>
          </a:xfrm>
          <a:prstGeom prst="roundRect">
            <a:avLst>
              <a:gd name="adj" fmla="val 29167"/>
            </a:avLst>
          </a:prstGeom>
          <a:solidFill>
            <a:srgbClr val="D9B84A"/>
          </a:solidFill>
          <a:ln/>
        </p:spPr>
        <p:txBody>
          <a:bodyPr wrap="square" lIns="0" tIns="0" rIns="0" bIns="0" rtlCol="0" anchor="ctr"/>
          <a:lstStyle/>
          <a:p>
            <a:pPr marL="0" indent="0" algn="ctr">
              <a:buNone/>
            </a:pPr>
            <a:r>
              <a:rPr lang="en-US" sz="1000" b="1" kern="0" spc="50" dirty="0">
                <a:solidFill>
                  <a:srgbClr val="1B2A22"/>
                </a:solidFill>
                <a:latin typeface="Calibri" pitchFamily="34" charset="0"/>
                <a:ea typeface="Calibri" pitchFamily="34" charset="-122"/>
                <a:cs typeface="Calibri" pitchFamily="34" charset="-120"/>
              </a:rPr>
              <a:t>IN PROGRESS</a:t>
            </a:r>
            <a:endParaRPr lang="en-US" sz="1000" dirty="0"/>
          </a:p>
        </p:txBody>
      </p:sp>
      <p:sp>
        <p:nvSpPr>
          <p:cNvPr id="49" name="Text 43"/>
          <p:cNvSpPr txBox="1"/>
          <p:nvPr/>
        </p:nvSpPr>
        <p:spPr>
          <a:xfrm>
            <a:off x="9121140" y="2084832"/>
            <a:ext cx="2382012" cy="256032"/>
          </a:xfrm>
          <a:prstGeom prst="rect">
            <a:avLst/>
          </a:prstGeom>
          <a:noFill/>
          <a:ln/>
        </p:spPr>
        <p:txBody>
          <a:bodyPr wrap="square" lIns="0" tIns="0" rIns="0" bIns="0" rtlCol="0" anchor="t"/>
          <a:lstStyle/>
          <a:p>
            <a:pPr marL="0" indent="0">
              <a:buNone/>
            </a:pPr>
            <a:r>
              <a:rPr lang="en-US" sz="1250" b="1" dirty="0">
                <a:solidFill>
                  <a:srgbClr val="1B2A22"/>
                </a:solidFill>
                <a:latin typeface="Calibri" pitchFamily="34" charset="0"/>
                <a:ea typeface="Calibri" pitchFamily="34" charset="-122"/>
                <a:cs typeface="Calibri" pitchFamily="34" charset="-120"/>
              </a:rPr>
              <a:t>Event log and optional alerts</a:t>
            </a:r>
            <a:endParaRPr lang="en-US" sz="1250" dirty="0"/>
          </a:p>
        </p:txBody>
      </p:sp>
      <p:sp>
        <p:nvSpPr>
          <p:cNvPr id="50" name="Event log mock"/>
          <p:cNvSpPr/>
          <p:nvPr/>
        </p:nvSpPr>
        <p:spPr>
          <a:xfrm>
            <a:off x="9121140" y="2423160"/>
            <a:ext cx="2377440" cy="1234440"/>
          </a:xfrm>
          <a:prstGeom prst="roundRect">
            <a:avLst>
              <a:gd name="adj" fmla="val 5926"/>
            </a:avLst>
          </a:prstGeom>
          <a:solidFill>
            <a:srgbClr val="F3F5F3"/>
          </a:solidFill>
          <a:ln w="12700">
            <a:solidFill>
              <a:srgbClr val="D9D2BC"/>
            </a:solidFill>
            <a:prstDash val="solid"/>
          </a:ln>
        </p:spPr>
        <p:txBody>
          <a:bodyPr/>
          <a:lstStyle/>
          <a:p>
            <a:endParaRPr lang="en-IN"/>
          </a:p>
        </p:txBody>
      </p:sp>
      <p:sp>
        <p:nvSpPr>
          <p:cNvPr id="51" name="Text 45"/>
          <p:cNvSpPr txBox="1"/>
          <p:nvPr/>
        </p:nvSpPr>
        <p:spPr>
          <a:xfrm>
            <a:off x="9230868" y="2496312"/>
            <a:ext cx="2194560" cy="182880"/>
          </a:xfrm>
          <a:prstGeom prst="rect">
            <a:avLst/>
          </a:prstGeom>
          <a:noFill/>
          <a:ln/>
        </p:spPr>
        <p:txBody>
          <a:bodyPr wrap="square" lIns="0" tIns="0" rIns="0" bIns="0" rtlCol="0" anchor="t"/>
          <a:lstStyle/>
          <a:p>
            <a:pPr marL="0" indent="0">
              <a:buNone/>
            </a:pPr>
            <a:r>
              <a:rPr lang="en-US" sz="1000" b="1" dirty="0">
                <a:solidFill>
                  <a:srgbClr val="1F4D36"/>
                </a:solidFill>
                <a:latin typeface="Calibri" pitchFamily="34" charset="0"/>
                <a:ea typeface="Calibri" pitchFamily="34" charset="-122"/>
                <a:cs typeface="Calibri" pitchFamily="34" charset="-120"/>
              </a:rPr>
              <a:t>Recent events (example)</a:t>
            </a:r>
            <a:endParaRPr lang="en-US" sz="1000" dirty="0"/>
          </a:p>
        </p:txBody>
      </p:sp>
      <p:sp>
        <p:nvSpPr>
          <p:cNvPr id="52" name="Text 46"/>
          <p:cNvSpPr txBox="1"/>
          <p:nvPr/>
        </p:nvSpPr>
        <p:spPr>
          <a:xfrm>
            <a:off x="9230868" y="2734056"/>
            <a:ext cx="1097280" cy="219456"/>
          </a:xfrm>
          <a:prstGeom prst="rect">
            <a:avLst/>
          </a:prstGeom>
          <a:noFill/>
          <a:ln/>
        </p:spPr>
        <p:txBody>
          <a:bodyPr wrap="square" lIns="0" tIns="0" rIns="0" bIns="0" rtlCol="0" anchor="ctr"/>
          <a:lstStyle/>
          <a:p>
            <a:pPr marL="0" indent="0">
              <a:buNone/>
            </a:pPr>
            <a:r>
              <a:rPr lang="en-US" sz="1000" dirty="0">
                <a:solidFill>
                  <a:srgbClr val="1B2A22"/>
                </a:solidFill>
                <a:latin typeface="Calibri" pitchFamily="34" charset="0"/>
                <a:ea typeface="Calibri" pitchFamily="34" charset="-122"/>
                <a:cs typeface="Calibri" pitchFamily="34" charset="-120"/>
              </a:rPr>
              <a:t>Cow detected</a:t>
            </a:r>
            <a:endParaRPr lang="en-US" sz="1000" dirty="0"/>
          </a:p>
        </p:txBody>
      </p:sp>
      <p:sp>
        <p:nvSpPr>
          <p:cNvPr id="53" name="Text 47"/>
          <p:cNvSpPr/>
          <p:nvPr/>
        </p:nvSpPr>
        <p:spPr>
          <a:xfrm>
            <a:off x="10264140" y="2734056"/>
            <a:ext cx="1143000" cy="219456"/>
          </a:xfrm>
          <a:prstGeom prst="roundRect">
            <a:avLst>
              <a:gd name="adj" fmla="val 20833"/>
            </a:avLst>
          </a:prstGeom>
          <a:solidFill>
            <a:srgbClr val="F6D9D4"/>
          </a:solidFill>
          <a:ln/>
        </p:spPr>
        <p:txBody>
          <a:bodyPr wrap="square" lIns="0" tIns="0" rIns="0" bIns="0" rtlCol="0" anchor="ctr"/>
          <a:lstStyle/>
          <a:p>
            <a:pPr marL="0" indent="0" algn="ctr">
              <a:buNone/>
            </a:pPr>
            <a:r>
              <a:rPr lang="en-US" sz="900" dirty="0">
                <a:solidFill>
                  <a:srgbClr val="1B2A22"/>
                </a:solidFill>
                <a:latin typeface="Calibri" pitchFamily="34" charset="0"/>
                <a:ea typeface="Calibri" pitchFamily="34" charset="-122"/>
                <a:cs typeface="Calibri" pitchFamily="34" charset="-120"/>
              </a:rPr>
              <a:t>Deterrence triggered</a:t>
            </a:r>
            <a:endParaRPr lang="en-US" sz="900" dirty="0"/>
          </a:p>
        </p:txBody>
      </p:sp>
      <p:sp>
        <p:nvSpPr>
          <p:cNvPr id="54" name="Text 48"/>
          <p:cNvSpPr txBox="1"/>
          <p:nvPr/>
        </p:nvSpPr>
        <p:spPr>
          <a:xfrm>
            <a:off x="9230868" y="3017520"/>
            <a:ext cx="1097280" cy="219456"/>
          </a:xfrm>
          <a:prstGeom prst="rect">
            <a:avLst/>
          </a:prstGeom>
          <a:noFill/>
          <a:ln/>
        </p:spPr>
        <p:txBody>
          <a:bodyPr wrap="square" lIns="0" tIns="0" rIns="0" bIns="0" rtlCol="0" anchor="ctr"/>
          <a:lstStyle/>
          <a:p>
            <a:pPr marL="0" indent="0">
              <a:buNone/>
            </a:pPr>
            <a:r>
              <a:rPr lang="en-US" sz="1000" dirty="0">
                <a:solidFill>
                  <a:srgbClr val="1B2A22"/>
                </a:solidFill>
                <a:latin typeface="Calibri" pitchFamily="34" charset="0"/>
                <a:ea typeface="Calibri" pitchFamily="34" charset="-122"/>
                <a:cs typeface="Calibri" pitchFamily="34" charset="-120"/>
              </a:rPr>
              <a:t>Human detected</a:t>
            </a:r>
            <a:endParaRPr lang="en-US" sz="1000" dirty="0"/>
          </a:p>
        </p:txBody>
      </p:sp>
      <p:sp>
        <p:nvSpPr>
          <p:cNvPr id="55" name="Text 49"/>
          <p:cNvSpPr/>
          <p:nvPr/>
        </p:nvSpPr>
        <p:spPr>
          <a:xfrm>
            <a:off x="10264140" y="3017520"/>
            <a:ext cx="1143000" cy="219456"/>
          </a:xfrm>
          <a:prstGeom prst="roundRect">
            <a:avLst>
              <a:gd name="adj" fmla="val 20833"/>
            </a:avLst>
          </a:prstGeom>
          <a:solidFill>
            <a:srgbClr val="E4E8E4"/>
          </a:solidFill>
          <a:ln/>
        </p:spPr>
        <p:txBody>
          <a:bodyPr wrap="square" lIns="0" tIns="0" rIns="0" bIns="0" rtlCol="0" anchor="ctr"/>
          <a:lstStyle/>
          <a:p>
            <a:pPr marL="0" indent="0" algn="ctr">
              <a:buNone/>
            </a:pPr>
            <a:r>
              <a:rPr lang="en-US" sz="900" dirty="0">
                <a:solidFill>
                  <a:srgbClr val="1B2A22"/>
                </a:solidFill>
                <a:latin typeface="Calibri" pitchFamily="34" charset="0"/>
                <a:ea typeface="Calibri" pitchFamily="34" charset="-122"/>
                <a:cs typeface="Calibri" pitchFamily="34" charset="-120"/>
              </a:rPr>
              <a:t>No deterrence</a:t>
            </a:r>
            <a:endParaRPr lang="en-US" sz="900" dirty="0"/>
          </a:p>
        </p:txBody>
      </p:sp>
      <p:sp>
        <p:nvSpPr>
          <p:cNvPr id="56" name="Text 50"/>
          <p:cNvSpPr txBox="1"/>
          <p:nvPr/>
        </p:nvSpPr>
        <p:spPr>
          <a:xfrm>
            <a:off x="9230868" y="3300984"/>
            <a:ext cx="1097280" cy="219456"/>
          </a:xfrm>
          <a:prstGeom prst="rect">
            <a:avLst/>
          </a:prstGeom>
          <a:noFill/>
          <a:ln/>
        </p:spPr>
        <p:txBody>
          <a:bodyPr wrap="square" lIns="0" tIns="0" rIns="0" bIns="0" rtlCol="0" anchor="ctr"/>
          <a:lstStyle/>
          <a:p>
            <a:pPr marL="0" indent="0">
              <a:buNone/>
            </a:pPr>
            <a:r>
              <a:rPr lang="en-US" sz="1000" dirty="0">
                <a:solidFill>
                  <a:srgbClr val="1B2A22"/>
                </a:solidFill>
                <a:latin typeface="Calibri" pitchFamily="34" charset="0"/>
                <a:ea typeface="Calibri" pitchFamily="34" charset="-122"/>
                <a:cs typeface="Calibri" pitchFamily="34" charset="-120"/>
              </a:rPr>
              <a:t>No detection</a:t>
            </a:r>
            <a:endParaRPr lang="en-US" sz="1000" dirty="0"/>
          </a:p>
        </p:txBody>
      </p:sp>
      <p:sp>
        <p:nvSpPr>
          <p:cNvPr id="57" name="Text 51"/>
          <p:cNvSpPr/>
          <p:nvPr/>
        </p:nvSpPr>
        <p:spPr>
          <a:xfrm>
            <a:off x="10264140" y="3300984"/>
            <a:ext cx="1143000" cy="219456"/>
          </a:xfrm>
          <a:prstGeom prst="roundRect">
            <a:avLst>
              <a:gd name="adj" fmla="val 20833"/>
            </a:avLst>
          </a:prstGeom>
          <a:solidFill>
            <a:srgbClr val="E4E8E4"/>
          </a:solidFill>
          <a:ln/>
        </p:spPr>
        <p:txBody>
          <a:bodyPr wrap="square" lIns="0" tIns="0" rIns="0" bIns="0" rtlCol="0" anchor="ctr"/>
          <a:lstStyle/>
          <a:p>
            <a:pPr marL="0" indent="0" algn="ctr">
              <a:buNone/>
            </a:pPr>
            <a:r>
              <a:rPr lang="en-US" sz="900" dirty="0">
                <a:solidFill>
                  <a:srgbClr val="1B2A22"/>
                </a:solidFill>
                <a:latin typeface="Calibri" pitchFamily="34" charset="0"/>
                <a:ea typeface="Calibri" pitchFamily="34" charset="-122"/>
                <a:cs typeface="Calibri" pitchFamily="34" charset="-120"/>
              </a:rPr>
              <a:t>Monitor</a:t>
            </a:r>
            <a:endParaRPr lang="en-US" sz="900" dirty="0"/>
          </a:p>
        </p:txBody>
      </p:sp>
      <p:sp>
        <p:nvSpPr>
          <p:cNvPr id="58" name="Text 52"/>
          <p:cNvSpPr txBox="1"/>
          <p:nvPr/>
        </p:nvSpPr>
        <p:spPr>
          <a:xfrm>
            <a:off x="9121140" y="3703320"/>
            <a:ext cx="2377440" cy="182880"/>
          </a:xfrm>
          <a:prstGeom prst="rect">
            <a:avLst/>
          </a:prstGeom>
          <a:noFill/>
          <a:ln/>
        </p:spPr>
        <p:txBody>
          <a:bodyPr wrap="square" lIns="0" tIns="0" rIns="0" bIns="0" rtlCol="0" anchor="t"/>
          <a:lstStyle/>
          <a:p>
            <a:pPr marL="0" indent="0">
              <a:buNone/>
            </a:pPr>
            <a:r>
              <a:rPr lang="en-US" sz="1000" b="1" dirty="0">
                <a:solidFill>
                  <a:srgbClr val="A65F1B"/>
                </a:solidFill>
                <a:latin typeface="Calibri" pitchFamily="34" charset="0"/>
                <a:ea typeface="Calibri" pitchFamily="34" charset="-122"/>
                <a:cs typeface="Calibri" pitchFamily="34" charset="-120"/>
              </a:rPr>
              <a:t>ILLUSTRATIVE</a:t>
            </a:r>
            <a:endParaRPr lang="en-US" sz="1000" dirty="0"/>
          </a:p>
        </p:txBody>
      </p:sp>
      <p:sp>
        <p:nvSpPr>
          <p:cNvPr id="59" name="Text 53"/>
          <p:cNvSpPr txBox="1"/>
          <p:nvPr/>
        </p:nvSpPr>
        <p:spPr>
          <a:xfrm>
            <a:off x="9121140" y="3931920"/>
            <a:ext cx="2427732" cy="822960"/>
          </a:xfrm>
          <a:prstGeom prst="rect">
            <a:avLst/>
          </a:prstGeom>
          <a:noFill/>
          <a:ln/>
        </p:spPr>
        <p:txBody>
          <a:bodyPr wrap="square" lIns="0" tIns="0" rIns="0" bIns="0" rtlCol="0" anchor="t"/>
          <a:lstStyle/>
          <a:p>
            <a:pPr marL="127000" indent="-127000">
              <a:spcAft>
                <a:spcPts val="100"/>
              </a:spcAft>
              <a:buSzPct val="100000"/>
              <a:buChar char="•"/>
            </a:pPr>
            <a:r>
              <a:rPr lang="en-US" sz="1000" dirty="0">
                <a:solidFill>
                  <a:srgbClr val="1B2A22"/>
                </a:solidFill>
                <a:latin typeface="Calibri" pitchFamily="34" charset="0"/>
                <a:ea typeface="Calibri" pitchFamily="34" charset="-122"/>
                <a:cs typeface="Calibri" pitchFamily="34" charset="-120"/>
              </a:rPr>
              <a:t>Store detected events with timestamp</a:t>
            </a:r>
            <a:endParaRPr lang="en-US" sz="1000" dirty="0"/>
          </a:p>
          <a:p>
            <a:pPr marL="127000" indent="-127000">
              <a:spcAft>
                <a:spcPts val="100"/>
              </a:spcAft>
              <a:buSzPct val="100000"/>
              <a:buChar char="•"/>
            </a:pPr>
            <a:r>
              <a:rPr lang="en-US" sz="1000" dirty="0">
                <a:solidFill>
                  <a:srgbClr val="1B2A22"/>
                </a:solidFill>
                <a:latin typeface="Calibri" pitchFamily="34" charset="0"/>
                <a:ea typeface="Calibri" pitchFamily="34" charset="-122"/>
                <a:cs typeface="Calibri" pitchFamily="34" charset="-120"/>
              </a:rPr>
              <a:t>Optional mobile/email alerts (planned)</a:t>
            </a:r>
            <a:endParaRPr lang="en-US" sz="1000" dirty="0"/>
          </a:p>
          <a:p>
            <a:pPr marL="127000" indent="-127000">
              <a:spcAft>
                <a:spcPts val="100"/>
              </a:spcAft>
              <a:buSzPct val="100000"/>
              <a:buChar char="•"/>
            </a:pPr>
            <a:r>
              <a:rPr lang="en-US" sz="1000" dirty="0">
                <a:solidFill>
                  <a:srgbClr val="1B2A22"/>
                </a:solidFill>
                <a:latin typeface="Calibri" pitchFamily="34" charset="0"/>
                <a:ea typeface="Calibri" pitchFamily="34" charset="-122"/>
                <a:cs typeface="Calibri" pitchFamily="34" charset="-120"/>
              </a:rPr>
              <a:t>Dashboard for remote monitoring (planned)</a:t>
            </a:r>
            <a:endParaRPr lang="en-US" sz="1000" dirty="0"/>
          </a:p>
        </p:txBody>
      </p:sp>
      <p:sp>
        <p:nvSpPr>
          <p:cNvPr id="63" name="Status WORKING">
            <a:extLst>
              <a:ext uri="{FF2B5EF4-FFF2-40B4-BE49-F238E27FC236}">
                <a16:creationId xmlns:a16="http://schemas.microsoft.com/office/drawing/2014/main" id="{CCBF0DB3-AE2B-58F9-0FA0-940B890298F5}"/>
              </a:ext>
            </a:extLst>
          </p:cNvPr>
          <p:cNvSpPr/>
          <p:nvPr/>
        </p:nvSpPr>
        <p:spPr>
          <a:xfrm>
            <a:off x="2114550" y="1709928"/>
            <a:ext cx="914400" cy="219456"/>
          </a:xfrm>
          <a:prstGeom prst="roundRect">
            <a:avLst>
              <a:gd name="adj" fmla="val 29167"/>
            </a:avLst>
          </a:prstGeom>
          <a:solidFill>
            <a:srgbClr val="2E7D4F"/>
          </a:solidFill>
          <a:ln/>
        </p:spPr>
        <p:txBody>
          <a:bodyPr wrap="square" lIns="0" tIns="0" rIns="0" bIns="0" rtlCol="0" anchor="ctr"/>
          <a:lstStyle/>
          <a:p>
            <a:pPr marL="0" indent="0" algn="ctr">
              <a:buNone/>
            </a:pPr>
            <a:r>
              <a:rPr lang="en-US" sz="1000" b="1" kern="0" spc="50" dirty="0">
                <a:solidFill>
                  <a:srgbClr val="FFFFFF"/>
                </a:solidFill>
                <a:latin typeface="Calibri" pitchFamily="34" charset="0"/>
                <a:ea typeface="Calibri" pitchFamily="34" charset="-122"/>
                <a:cs typeface="Calibri" pitchFamily="34" charset="-120"/>
              </a:rPr>
              <a:t>WORKING</a:t>
            </a:r>
            <a:endParaRPr lang="en-US" sz="1000" dirty="0"/>
          </a:p>
        </p:txBody>
      </p:sp>
      <p:sp>
        <p:nvSpPr>
          <p:cNvPr id="65" name="Status WORKING">
            <a:extLst>
              <a:ext uri="{FF2B5EF4-FFF2-40B4-BE49-F238E27FC236}">
                <a16:creationId xmlns:a16="http://schemas.microsoft.com/office/drawing/2014/main" id="{1FC3B858-54D4-0F0B-B459-FBC2AF26E27D}"/>
              </a:ext>
            </a:extLst>
          </p:cNvPr>
          <p:cNvSpPr/>
          <p:nvPr/>
        </p:nvSpPr>
        <p:spPr>
          <a:xfrm>
            <a:off x="4926330" y="1755647"/>
            <a:ext cx="914400" cy="219456"/>
          </a:xfrm>
          <a:prstGeom prst="roundRect">
            <a:avLst>
              <a:gd name="adj" fmla="val 29167"/>
            </a:avLst>
          </a:prstGeom>
          <a:solidFill>
            <a:srgbClr val="2E7D4F"/>
          </a:solidFill>
          <a:ln/>
        </p:spPr>
        <p:txBody>
          <a:bodyPr wrap="square" lIns="0" tIns="0" rIns="0" bIns="0" rtlCol="0" anchor="ctr"/>
          <a:lstStyle/>
          <a:p>
            <a:pPr marL="0" indent="0" algn="ctr">
              <a:buNone/>
            </a:pPr>
            <a:r>
              <a:rPr lang="en-US" sz="1000" b="1" kern="0" spc="50" dirty="0">
                <a:solidFill>
                  <a:srgbClr val="FFFFFF"/>
                </a:solidFill>
                <a:latin typeface="Calibri" pitchFamily="34" charset="0"/>
                <a:ea typeface="Calibri" pitchFamily="34" charset="-122"/>
                <a:cs typeface="Calibri" pitchFamily="34" charset="-120"/>
              </a:rPr>
              <a:t>WORKING</a:t>
            </a:r>
            <a:endParaRPr lang="en-US" sz="1000" dirty="0"/>
          </a:p>
        </p:txBody>
      </p:sp>
      <p:sp>
        <p:nvSpPr>
          <p:cNvPr id="76" name="TextBox 75">
            <a:extLst>
              <a:ext uri="{FF2B5EF4-FFF2-40B4-BE49-F238E27FC236}">
                <a16:creationId xmlns:a16="http://schemas.microsoft.com/office/drawing/2014/main" id="{0F4D0983-5BB4-A567-39D9-81A5871B3164}"/>
              </a:ext>
            </a:extLst>
          </p:cNvPr>
          <p:cNvSpPr txBox="1"/>
          <p:nvPr/>
        </p:nvSpPr>
        <p:spPr>
          <a:xfrm>
            <a:off x="594359" y="4811948"/>
            <a:ext cx="5960445" cy="1590372"/>
          </a:xfrm>
          <a:prstGeom prst="rect">
            <a:avLst/>
          </a:prstGeom>
          <a:noFill/>
        </p:spPr>
        <p:txBody>
          <a:bodyPr wrap="square">
            <a:spAutoFit/>
          </a:bodyPr>
          <a:lstStyle/>
          <a:p>
            <a:pPr marL="272160" indent="-257332">
              <a:spcBef>
                <a:spcPts val="152"/>
              </a:spcBef>
              <a:buSzPct val="94285"/>
              <a:buAutoNum type="arabicPeriod"/>
              <a:tabLst>
                <a:tab pos="272160" algn="l"/>
              </a:tabLst>
            </a:pPr>
            <a:r>
              <a:rPr lang="en-US" sz="1400" b="1" dirty="0">
                <a:solidFill>
                  <a:srgbClr val="006600"/>
                </a:solidFill>
                <a:latin typeface="Times New Roman" panose="02020603050405020304" pitchFamily="18" charset="0"/>
                <a:cs typeface="Times New Roman" panose="02020603050405020304" pitchFamily="18" charset="0"/>
              </a:rPr>
              <a:t>What</a:t>
            </a:r>
            <a:r>
              <a:rPr lang="en-US" sz="1400" b="1" spc="-43" dirty="0">
                <a:solidFill>
                  <a:srgbClr val="006600"/>
                </a:solidFill>
                <a:latin typeface="Times New Roman" panose="02020603050405020304" pitchFamily="18" charset="0"/>
                <a:cs typeface="Times New Roman" panose="02020603050405020304" pitchFamily="18" charset="0"/>
              </a:rPr>
              <a:t> </a:t>
            </a:r>
            <a:r>
              <a:rPr lang="en-US" sz="1400" b="1" dirty="0">
                <a:solidFill>
                  <a:srgbClr val="006600"/>
                </a:solidFill>
                <a:latin typeface="Times New Roman" panose="02020603050405020304" pitchFamily="18" charset="0"/>
                <a:cs typeface="Times New Roman" panose="02020603050405020304" pitchFamily="18" charset="0"/>
              </a:rPr>
              <a:t>is Smart</a:t>
            </a:r>
            <a:r>
              <a:rPr lang="en-US" sz="1400" b="1" spc="15" dirty="0">
                <a:solidFill>
                  <a:srgbClr val="006600"/>
                </a:solidFill>
                <a:latin typeface="Times New Roman" panose="02020603050405020304" pitchFamily="18" charset="0"/>
                <a:cs typeface="Times New Roman" panose="02020603050405020304" pitchFamily="18" charset="0"/>
              </a:rPr>
              <a:t> </a:t>
            </a:r>
            <a:r>
              <a:rPr lang="en-US" sz="1400" b="1" spc="-15" dirty="0" err="1">
                <a:solidFill>
                  <a:srgbClr val="006600"/>
                </a:solidFill>
                <a:latin typeface="Times New Roman" panose="02020603050405020304" pitchFamily="18" charset="0"/>
                <a:cs typeface="Times New Roman" panose="02020603050405020304" pitchFamily="18" charset="0"/>
              </a:rPr>
              <a:t>Bijuka</a:t>
            </a:r>
            <a:r>
              <a:rPr lang="en-US" sz="1400" b="1" spc="-15" dirty="0">
                <a:solidFill>
                  <a:srgbClr val="006600"/>
                </a:solidFill>
                <a:latin typeface="Times New Roman" panose="02020603050405020304" pitchFamily="18" charset="0"/>
                <a:cs typeface="Times New Roman" panose="02020603050405020304" pitchFamily="18" charset="0"/>
              </a:rPr>
              <a:t>?</a:t>
            </a:r>
            <a:endParaRPr lang="en-US" sz="1400" dirty="0">
              <a:solidFill>
                <a:srgbClr val="006600"/>
              </a:solidFill>
              <a:latin typeface="Times New Roman" panose="02020603050405020304" pitchFamily="18" charset="0"/>
              <a:cs typeface="Times New Roman" panose="02020603050405020304" pitchFamily="18" charset="0"/>
            </a:endParaRPr>
          </a:p>
          <a:p>
            <a:pPr marL="556527" lvl="1" indent="-193652">
              <a:spcBef>
                <a:spcPts val="21"/>
              </a:spcBef>
              <a:buClr>
                <a:srgbClr val="009900"/>
              </a:buClr>
              <a:buChar char="•"/>
              <a:tabLst>
                <a:tab pos="556527" algn="l"/>
              </a:tabLst>
            </a:pPr>
            <a:r>
              <a:rPr lang="en-US" sz="1400" dirty="0">
                <a:solidFill>
                  <a:schemeClr val="tx1"/>
                </a:solidFill>
                <a:latin typeface="Times New Roman" panose="02020603050405020304" pitchFamily="18" charset="0"/>
                <a:cs typeface="Times New Roman" panose="02020603050405020304" pitchFamily="18" charset="0"/>
              </a:rPr>
              <a:t>A</a:t>
            </a:r>
            <a:r>
              <a:rPr lang="en-US" sz="1400" spc="-15"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rPr>
              <a:t>smart,</a:t>
            </a:r>
            <a:r>
              <a:rPr lang="en-US" sz="1400" spc="-15"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rPr>
              <a:t>AI-powered</a:t>
            </a:r>
            <a:r>
              <a:rPr lang="en-US" sz="1400" spc="-59"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rPr>
              <a:t>digital</a:t>
            </a:r>
            <a:r>
              <a:rPr lang="en-US" sz="1400" spc="-27" dirty="0">
                <a:solidFill>
                  <a:schemeClr val="tx1"/>
                </a:solidFill>
                <a:latin typeface="Times New Roman" panose="02020603050405020304" pitchFamily="18" charset="0"/>
                <a:cs typeface="Times New Roman" panose="02020603050405020304" pitchFamily="18" charset="0"/>
              </a:rPr>
              <a:t> </a:t>
            </a:r>
            <a:r>
              <a:rPr lang="en-US" sz="1400" spc="-15" dirty="0">
                <a:solidFill>
                  <a:schemeClr val="tx1"/>
                </a:solidFill>
                <a:latin typeface="Times New Roman" panose="02020603050405020304" pitchFamily="18" charset="0"/>
                <a:cs typeface="Times New Roman" panose="02020603050405020304" pitchFamily="18" charset="0"/>
              </a:rPr>
              <a:t>scarecrow.</a:t>
            </a:r>
            <a:endParaRPr lang="en-US" sz="1400" dirty="0">
              <a:solidFill>
                <a:schemeClr val="tx1"/>
              </a:solidFill>
              <a:latin typeface="Times New Roman" panose="02020603050405020304" pitchFamily="18" charset="0"/>
              <a:cs typeface="Times New Roman" panose="02020603050405020304" pitchFamily="18" charset="0"/>
            </a:endParaRPr>
          </a:p>
          <a:p>
            <a:pPr marL="555657" lvl="1" indent="-192779">
              <a:spcBef>
                <a:spcPts val="15"/>
              </a:spcBef>
              <a:buChar char="•"/>
              <a:tabLst>
                <a:tab pos="555657" algn="l"/>
              </a:tabLst>
            </a:pPr>
            <a:r>
              <a:rPr lang="en-US" sz="1400" dirty="0">
                <a:solidFill>
                  <a:schemeClr val="tx1"/>
                </a:solidFill>
                <a:latin typeface="Times New Roman" panose="02020603050405020304" pitchFamily="18" charset="0"/>
                <a:cs typeface="Times New Roman" panose="02020603050405020304" pitchFamily="18" charset="0"/>
              </a:rPr>
              <a:t>Works</a:t>
            </a:r>
            <a:r>
              <a:rPr lang="en-US" sz="1400" spc="-21"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rPr>
              <a:t>using</a:t>
            </a:r>
            <a:r>
              <a:rPr lang="en-US" sz="1400" spc="-27"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rPr>
              <a:t>sensors,</a:t>
            </a:r>
            <a:r>
              <a:rPr lang="en-US" sz="1400" spc="-15"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rPr>
              <a:t>sounds,</a:t>
            </a:r>
            <a:r>
              <a:rPr lang="en-US" sz="1400" spc="-27"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rPr>
              <a:t>and</a:t>
            </a:r>
            <a:r>
              <a:rPr lang="en-US" sz="1400" spc="21" dirty="0">
                <a:solidFill>
                  <a:schemeClr val="tx1"/>
                </a:solidFill>
                <a:latin typeface="Times New Roman" panose="02020603050405020304" pitchFamily="18" charset="0"/>
                <a:cs typeface="Times New Roman" panose="02020603050405020304" pitchFamily="18" charset="0"/>
              </a:rPr>
              <a:t> </a:t>
            </a:r>
            <a:r>
              <a:rPr lang="en-US" sz="1400" spc="-15" dirty="0">
                <a:solidFill>
                  <a:schemeClr val="tx1"/>
                </a:solidFill>
                <a:latin typeface="Times New Roman" panose="02020603050405020304" pitchFamily="18" charset="0"/>
                <a:cs typeface="Times New Roman" panose="02020603050405020304" pitchFamily="18" charset="0"/>
              </a:rPr>
              <a:t>movement.</a:t>
            </a:r>
          </a:p>
          <a:p>
            <a:pPr marL="555657" lvl="1" indent="-192779">
              <a:spcBef>
                <a:spcPts val="15"/>
              </a:spcBef>
              <a:buChar char="•"/>
              <a:tabLst>
                <a:tab pos="555657" algn="l"/>
              </a:tabLst>
            </a:pPr>
            <a:endParaRPr lang="en-US" sz="1400" dirty="0">
              <a:solidFill>
                <a:schemeClr val="tx1"/>
              </a:solidFill>
              <a:latin typeface="Times New Roman" panose="02020603050405020304" pitchFamily="18" charset="0"/>
              <a:cs typeface="Times New Roman" panose="02020603050405020304" pitchFamily="18" charset="0"/>
            </a:endParaRPr>
          </a:p>
          <a:p>
            <a:pPr marL="272160" indent="-257332">
              <a:spcBef>
                <a:spcPts val="21"/>
              </a:spcBef>
              <a:buSzPct val="94285"/>
              <a:buAutoNum type="arabicPeriod"/>
              <a:tabLst>
                <a:tab pos="272160" algn="l"/>
              </a:tabLst>
            </a:pPr>
            <a:r>
              <a:rPr lang="en-US" sz="1400" b="1" dirty="0">
                <a:solidFill>
                  <a:srgbClr val="006600"/>
                </a:solidFill>
                <a:latin typeface="Times New Roman" panose="02020603050405020304" pitchFamily="18" charset="0"/>
                <a:cs typeface="Times New Roman" panose="02020603050405020304" pitchFamily="18" charset="0"/>
              </a:rPr>
              <a:t>Why</a:t>
            </a:r>
            <a:r>
              <a:rPr lang="en-US" sz="1400" b="1" spc="-43" dirty="0">
                <a:solidFill>
                  <a:srgbClr val="006600"/>
                </a:solidFill>
                <a:latin typeface="Times New Roman" panose="02020603050405020304" pitchFamily="18" charset="0"/>
                <a:cs typeface="Times New Roman" panose="02020603050405020304" pitchFamily="18" charset="0"/>
              </a:rPr>
              <a:t> </a:t>
            </a:r>
            <a:r>
              <a:rPr lang="en-US" sz="1400" b="1" dirty="0">
                <a:solidFill>
                  <a:srgbClr val="006600"/>
                </a:solidFill>
                <a:latin typeface="Times New Roman" panose="02020603050405020304" pitchFamily="18" charset="0"/>
                <a:cs typeface="Times New Roman" panose="02020603050405020304" pitchFamily="18" charset="0"/>
              </a:rPr>
              <a:t>was</a:t>
            </a:r>
            <a:r>
              <a:rPr lang="en-US" sz="1400" b="1" spc="-37" dirty="0">
                <a:solidFill>
                  <a:srgbClr val="006600"/>
                </a:solidFill>
                <a:latin typeface="Times New Roman" panose="02020603050405020304" pitchFamily="18" charset="0"/>
                <a:cs typeface="Times New Roman" panose="02020603050405020304" pitchFamily="18" charset="0"/>
              </a:rPr>
              <a:t> </a:t>
            </a:r>
            <a:r>
              <a:rPr lang="en-US" sz="1400" b="1" dirty="0">
                <a:solidFill>
                  <a:srgbClr val="006600"/>
                </a:solidFill>
                <a:latin typeface="Times New Roman" panose="02020603050405020304" pitchFamily="18" charset="0"/>
                <a:cs typeface="Times New Roman" panose="02020603050405020304" pitchFamily="18" charset="0"/>
              </a:rPr>
              <a:t>it</a:t>
            </a:r>
            <a:r>
              <a:rPr lang="en-US" sz="1400" b="1" spc="15" dirty="0">
                <a:solidFill>
                  <a:srgbClr val="006600"/>
                </a:solidFill>
                <a:latin typeface="Times New Roman" panose="02020603050405020304" pitchFamily="18" charset="0"/>
                <a:cs typeface="Times New Roman" panose="02020603050405020304" pitchFamily="18" charset="0"/>
              </a:rPr>
              <a:t> </a:t>
            </a:r>
            <a:r>
              <a:rPr lang="en-US" sz="1400" b="1" spc="-15" dirty="0">
                <a:solidFill>
                  <a:srgbClr val="006600"/>
                </a:solidFill>
                <a:latin typeface="Times New Roman" panose="02020603050405020304" pitchFamily="18" charset="0"/>
                <a:cs typeface="Times New Roman" panose="02020603050405020304" pitchFamily="18" charset="0"/>
              </a:rPr>
              <a:t>created?</a:t>
            </a:r>
            <a:endParaRPr lang="en-US" sz="1400" dirty="0">
              <a:solidFill>
                <a:srgbClr val="006600"/>
              </a:solidFill>
              <a:latin typeface="Times New Roman" panose="02020603050405020304" pitchFamily="18" charset="0"/>
              <a:cs typeface="Times New Roman" panose="02020603050405020304" pitchFamily="18" charset="0"/>
            </a:endParaRPr>
          </a:p>
          <a:p>
            <a:pPr marL="469299" lvl="1" indent="-123868">
              <a:spcBef>
                <a:spcPts val="15"/>
              </a:spcBef>
              <a:buSzPct val="94285"/>
              <a:buChar char="•"/>
              <a:tabLst>
                <a:tab pos="469299" algn="l"/>
              </a:tabLst>
            </a:pPr>
            <a:r>
              <a:rPr lang="en-US" sz="1400" dirty="0">
                <a:solidFill>
                  <a:schemeClr val="tx1"/>
                </a:solidFill>
                <a:latin typeface="Times New Roman" panose="02020603050405020304" pitchFamily="18" charset="0"/>
                <a:cs typeface="Times New Roman" panose="02020603050405020304" pitchFamily="18" charset="0"/>
              </a:rPr>
              <a:t>To</a:t>
            </a:r>
            <a:r>
              <a:rPr lang="en-US" sz="1400" spc="-27"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rPr>
              <a:t>help</a:t>
            </a:r>
            <a:r>
              <a:rPr lang="en-US" sz="1400" spc="-21"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rPr>
              <a:t>farmers</a:t>
            </a:r>
            <a:r>
              <a:rPr lang="en-US" sz="1400" spc="-15"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rPr>
              <a:t>protect</a:t>
            </a:r>
            <a:r>
              <a:rPr lang="en-US" sz="1400" spc="-27"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rPr>
              <a:t>their</a:t>
            </a:r>
            <a:r>
              <a:rPr lang="en-US" sz="1400" spc="-21"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rPr>
              <a:t>crops</a:t>
            </a:r>
            <a:r>
              <a:rPr lang="en-US" sz="1400" spc="-37"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rPr>
              <a:t>without</a:t>
            </a:r>
            <a:r>
              <a:rPr lang="en-US" sz="1400" spc="-11"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rPr>
              <a:t>manual</a:t>
            </a:r>
            <a:r>
              <a:rPr lang="en-US" sz="1400" spc="-65" dirty="0">
                <a:solidFill>
                  <a:schemeClr val="tx1"/>
                </a:solidFill>
                <a:latin typeface="Times New Roman" panose="02020603050405020304" pitchFamily="18" charset="0"/>
                <a:cs typeface="Times New Roman" panose="02020603050405020304" pitchFamily="18" charset="0"/>
              </a:rPr>
              <a:t> </a:t>
            </a:r>
            <a:r>
              <a:rPr lang="en-US" sz="1400" spc="-15" dirty="0">
                <a:solidFill>
                  <a:schemeClr val="tx1"/>
                </a:solidFill>
                <a:latin typeface="Times New Roman" panose="02020603050405020304" pitchFamily="18" charset="0"/>
                <a:cs typeface="Times New Roman" panose="02020603050405020304" pitchFamily="18" charset="0"/>
              </a:rPr>
              <a:t>effort.</a:t>
            </a:r>
            <a:endParaRPr lang="en-US" sz="1400" dirty="0">
              <a:solidFill>
                <a:schemeClr val="tx1"/>
              </a:solidFill>
              <a:latin typeface="Times New Roman" panose="02020603050405020304" pitchFamily="18" charset="0"/>
              <a:cs typeface="Times New Roman" panose="02020603050405020304" pitchFamily="18" charset="0"/>
            </a:endParaRPr>
          </a:p>
          <a:p>
            <a:pPr marL="554785" marR="1113051" lvl="1" indent="-192779">
              <a:lnSpc>
                <a:spcPct val="100600"/>
              </a:lnSpc>
              <a:buChar char="•"/>
              <a:tabLst>
                <a:tab pos="617591" algn="l"/>
              </a:tabLst>
            </a:pPr>
            <a:r>
              <a:rPr lang="en-US" sz="1400" dirty="0">
                <a:solidFill>
                  <a:schemeClr val="tx1"/>
                </a:solidFill>
                <a:latin typeface="Times New Roman" panose="02020603050405020304" pitchFamily="18" charset="0"/>
                <a:cs typeface="Times New Roman" panose="02020603050405020304" pitchFamily="18" charset="0"/>
              </a:rPr>
              <a:t>To</a:t>
            </a:r>
            <a:r>
              <a:rPr lang="en-US" sz="1400" spc="-27"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rPr>
              <a:t>replace</a:t>
            </a:r>
            <a:r>
              <a:rPr lang="en-US" sz="1400" spc="-59"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rPr>
              <a:t>traditional</a:t>
            </a:r>
            <a:r>
              <a:rPr lang="en-US" sz="1400" spc="-67"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rPr>
              <a:t>scarecrows</a:t>
            </a:r>
            <a:r>
              <a:rPr lang="en-US" sz="1400" spc="-37"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rPr>
              <a:t>with</a:t>
            </a:r>
            <a:r>
              <a:rPr lang="en-US" sz="1400" spc="-11"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rPr>
              <a:t>a</a:t>
            </a:r>
            <a:r>
              <a:rPr lang="en-US" sz="1400" spc="-11" dirty="0">
                <a:solidFill>
                  <a:schemeClr val="tx1"/>
                </a:solidFill>
                <a:latin typeface="Times New Roman" panose="02020603050405020304" pitchFamily="18" charset="0"/>
                <a:cs typeface="Times New Roman" panose="02020603050405020304" pitchFamily="18" charset="0"/>
              </a:rPr>
              <a:t> </a:t>
            </a:r>
            <a:r>
              <a:rPr lang="en-US" sz="1400" spc="-15" dirty="0">
                <a:solidFill>
                  <a:schemeClr val="tx1"/>
                </a:solidFill>
                <a:latin typeface="Times New Roman" panose="02020603050405020304" pitchFamily="18" charset="0"/>
                <a:cs typeface="Times New Roman" panose="02020603050405020304" pitchFamily="18" charset="0"/>
              </a:rPr>
              <a:t>smarter solution.</a:t>
            </a:r>
            <a:endParaRPr lang="en-US" sz="1400" dirty="0">
              <a:solidFill>
                <a:schemeClr val="tx1"/>
              </a:solidFill>
              <a:latin typeface="Times New Roman" panose="02020603050405020304" pitchFamily="18" charset="0"/>
              <a:cs typeface="Times New Roman" panose="02020603050405020304" pitchFamily="18" charset="0"/>
            </a:endParaRPr>
          </a:p>
        </p:txBody>
      </p:sp>
      <p:sp>
        <p:nvSpPr>
          <p:cNvPr id="79" name="TextBox 78">
            <a:extLst>
              <a:ext uri="{FF2B5EF4-FFF2-40B4-BE49-F238E27FC236}">
                <a16:creationId xmlns:a16="http://schemas.microsoft.com/office/drawing/2014/main" id="{F00E9E73-BB5E-72BB-8CCF-3B25C7CAAE23}"/>
              </a:ext>
            </a:extLst>
          </p:cNvPr>
          <p:cNvSpPr txBox="1"/>
          <p:nvPr/>
        </p:nvSpPr>
        <p:spPr>
          <a:xfrm>
            <a:off x="5840729" y="4846937"/>
            <a:ext cx="6797241" cy="1812099"/>
          </a:xfrm>
          <a:prstGeom prst="rect">
            <a:avLst/>
          </a:prstGeom>
          <a:noFill/>
        </p:spPr>
        <p:txBody>
          <a:bodyPr wrap="square">
            <a:spAutoFit/>
          </a:bodyPr>
          <a:lstStyle/>
          <a:p>
            <a:pPr marL="14828">
              <a:spcBef>
                <a:spcPts val="15"/>
              </a:spcBef>
              <a:buSzPct val="94285"/>
              <a:tabLst>
                <a:tab pos="272160" algn="l"/>
              </a:tabLst>
            </a:pPr>
            <a:r>
              <a:rPr lang="en-US" sz="1400" b="1" dirty="0">
                <a:solidFill>
                  <a:srgbClr val="006600"/>
                </a:solidFill>
                <a:latin typeface="Times New Roman" panose="02020603050405020304" pitchFamily="18" charset="0"/>
                <a:cs typeface="Times New Roman" panose="02020603050405020304" pitchFamily="18" charset="0"/>
              </a:rPr>
              <a:t>3. How</a:t>
            </a:r>
            <a:r>
              <a:rPr lang="en-US" sz="1400" b="1" spc="-27" dirty="0">
                <a:solidFill>
                  <a:srgbClr val="006600"/>
                </a:solidFill>
                <a:latin typeface="Times New Roman" panose="02020603050405020304" pitchFamily="18" charset="0"/>
                <a:cs typeface="Times New Roman" panose="02020603050405020304" pitchFamily="18" charset="0"/>
              </a:rPr>
              <a:t> </a:t>
            </a:r>
            <a:r>
              <a:rPr lang="en-US" sz="1400" b="1" dirty="0">
                <a:solidFill>
                  <a:srgbClr val="006600"/>
                </a:solidFill>
                <a:latin typeface="Times New Roman" panose="02020603050405020304" pitchFamily="18" charset="0"/>
                <a:cs typeface="Times New Roman" panose="02020603050405020304" pitchFamily="18" charset="0"/>
              </a:rPr>
              <a:t>does</a:t>
            </a:r>
            <a:r>
              <a:rPr lang="en-US" sz="1400" b="1" spc="-43" dirty="0">
                <a:solidFill>
                  <a:srgbClr val="006600"/>
                </a:solidFill>
                <a:latin typeface="Times New Roman" panose="02020603050405020304" pitchFamily="18" charset="0"/>
                <a:cs typeface="Times New Roman" panose="02020603050405020304" pitchFamily="18" charset="0"/>
              </a:rPr>
              <a:t> </a:t>
            </a:r>
            <a:r>
              <a:rPr lang="en-US" sz="1400" b="1" dirty="0">
                <a:solidFill>
                  <a:srgbClr val="006600"/>
                </a:solidFill>
                <a:latin typeface="Times New Roman" panose="02020603050405020304" pitchFamily="18" charset="0"/>
                <a:cs typeface="Times New Roman" panose="02020603050405020304" pitchFamily="18" charset="0"/>
              </a:rPr>
              <a:t>it</a:t>
            </a:r>
            <a:r>
              <a:rPr lang="en-US" sz="1400" b="1" spc="-43" dirty="0">
                <a:solidFill>
                  <a:srgbClr val="006600"/>
                </a:solidFill>
                <a:latin typeface="Times New Roman" panose="02020603050405020304" pitchFamily="18" charset="0"/>
                <a:cs typeface="Times New Roman" panose="02020603050405020304" pitchFamily="18" charset="0"/>
              </a:rPr>
              <a:t> </a:t>
            </a:r>
            <a:r>
              <a:rPr lang="en-US" sz="1400" b="1" spc="-27" dirty="0">
                <a:solidFill>
                  <a:srgbClr val="006600"/>
                </a:solidFill>
                <a:latin typeface="Times New Roman" panose="02020603050405020304" pitchFamily="18" charset="0"/>
                <a:cs typeface="Times New Roman" panose="02020603050405020304" pitchFamily="18" charset="0"/>
              </a:rPr>
              <a:t>help?</a:t>
            </a:r>
            <a:endParaRPr lang="en-US" sz="1400" dirty="0">
              <a:solidFill>
                <a:srgbClr val="006600"/>
              </a:solidFill>
              <a:latin typeface="Times New Roman" panose="02020603050405020304" pitchFamily="18" charset="0"/>
              <a:cs typeface="Times New Roman" panose="02020603050405020304" pitchFamily="18" charset="0"/>
            </a:endParaRPr>
          </a:p>
          <a:p>
            <a:pPr marL="556527" lvl="1" indent="-193652">
              <a:spcBef>
                <a:spcPts val="21"/>
              </a:spcBef>
              <a:buClr>
                <a:srgbClr val="009900"/>
              </a:buClr>
              <a:buChar char="•"/>
              <a:tabLst>
                <a:tab pos="556527" algn="l"/>
              </a:tabLst>
            </a:pPr>
            <a:r>
              <a:rPr lang="en-US" sz="1400" dirty="0">
                <a:solidFill>
                  <a:schemeClr val="tx1"/>
                </a:solidFill>
                <a:latin typeface="Times New Roman" panose="02020603050405020304" pitchFamily="18" charset="0"/>
                <a:cs typeface="Times New Roman" panose="02020603050405020304" pitchFamily="18" charset="0"/>
              </a:rPr>
              <a:t>Detects</a:t>
            </a:r>
            <a:r>
              <a:rPr lang="en-US" sz="1400" spc="-49"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rPr>
              <a:t>birds/animals</a:t>
            </a:r>
            <a:r>
              <a:rPr lang="en-US" sz="1400" spc="-49"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rPr>
              <a:t>and</a:t>
            </a:r>
            <a:r>
              <a:rPr lang="en-US" sz="1400" spc="-43"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rPr>
              <a:t>reacts</a:t>
            </a:r>
            <a:r>
              <a:rPr lang="en-US" sz="1400" spc="-27" dirty="0">
                <a:solidFill>
                  <a:schemeClr val="tx1"/>
                </a:solidFill>
                <a:latin typeface="Times New Roman" panose="02020603050405020304" pitchFamily="18" charset="0"/>
                <a:cs typeface="Times New Roman" panose="02020603050405020304" pitchFamily="18" charset="0"/>
              </a:rPr>
              <a:t> </a:t>
            </a:r>
            <a:r>
              <a:rPr lang="en-US" sz="1400" spc="-15" dirty="0">
                <a:solidFill>
                  <a:schemeClr val="tx1"/>
                </a:solidFill>
                <a:latin typeface="Times New Roman" panose="02020603050405020304" pitchFamily="18" charset="0"/>
                <a:cs typeface="Times New Roman" panose="02020603050405020304" pitchFamily="18" charset="0"/>
              </a:rPr>
              <a:t>immediately.</a:t>
            </a:r>
            <a:endParaRPr lang="en-US" sz="1400" dirty="0">
              <a:solidFill>
                <a:schemeClr val="tx1"/>
              </a:solidFill>
              <a:latin typeface="Times New Roman" panose="02020603050405020304" pitchFamily="18" charset="0"/>
              <a:cs typeface="Times New Roman" panose="02020603050405020304" pitchFamily="18" charset="0"/>
            </a:endParaRPr>
          </a:p>
          <a:p>
            <a:pPr marL="555657" lvl="1" indent="-192779">
              <a:spcBef>
                <a:spcPts val="15"/>
              </a:spcBef>
              <a:buChar char="•"/>
              <a:tabLst>
                <a:tab pos="555657" algn="l"/>
              </a:tabLst>
            </a:pPr>
            <a:r>
              <a:rPr lang="en-US" sz="1400" dirty="0">
                <a:solidFill>
                  <a:schemeClr val="tx1"/>
                </a:solidFill>
                <a:latin typeface="Times New Roman" panose="02020603050405020304" pitchFamily="18" charset="0"/>
                <a:cs typeface="Times New Roman" panose="02020603050405020304" pitchFamily="18" charset="0"/>
              </a:rPr>
              <a:t>Uses</a:t>
            </a:r>
            <a:r>
              <a:rPr lang="en-US" sz="1400" spc="-21"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rPr>
              <a:t>sound and arm movement</a:t>
            </a:r>
            <a:r>
              <a:rPr lang="en-US" sz="1400" spc="-27"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rPr>
              <a:t>to</a:t>
            </a:r>
            <a:r>
              <a:rPr lang="en-US" sz="1400" spc="15"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rPr>
              <a:t>scare</a:t>
            </a:r>
            <a:r>
              <a:rPr lang="en-US" sz="1400" spc="-27" dirty="0">
                <a:solidFill>
                  <a:schemeClr val="tx1"/>
                </a:solidFill>
                <a:latin typeface="Times New Roman" panose="02020603050405020304" pitchFamily="18" charset="0"/>
                <a:cs typeface="Times New Roman" panose="02020603050405020304" pitchFamily="18" charset="0"/>
              </a:rPr>
              <a:t> </a:t>
            </a:r>
            <a:r>
              <a:rPr lang="en-US" sz="1400" spc="-15" dirty="0">
                <a:solidFill>
                  <a:schemeClr val="tx1"/>
                </a:solidFill>
                <a:latin typeface="Times New Roman" panose="02020603050405020304" pitchFamily="18" charset="0"/>
                <a:cs typeface="Times New Roman" panose="02020603050405020304" pitchFamily="18" charset="0"/>
              </a:rPr>
              <a:t>intruders.</a:t>
            </a:r>
            <a:endParaRPr lang="en-US" sz="1400" dirty="0">
              <a:solidFill>
                <a:schemeClr val="tx1"/>
              </a:solidFill>
              <a:latin typeface="Times New Roman" panose="02020603050405020304" pitchFamily="18" charset="0"/>
              <a:cs typeface="Times New Roman" panose="02020603050405020304" pitchFamily="18" charset="0"/>
            </a:endParaRPr>
          </a:p>
          <a:p>
            <a:pPr marL="555657" lvl="1" indent="-192779">
              <a:spcBef>
                <a:spcPts val="21"/>
              </a:spcBef>
              <a:buChar char="•"/>
              <a:tabLst>
                <a:tab pos="555657" algn="l"/>
              </a:tabLst>
            </a:pPr>
            <a:r>
              <a:rPr lang="en-US" sz="1400" dirty="0">
                <a:solidFill>
                  <a:schemeClr val="tx1"/>
                </a:solidFill>
                <a:latin typeface="Times New Roman" panose="02020603050405020304" pitchFamily="18" charset="0"/>
                <a:cs typeface="Times New Roman" panose="02020603050405020304" pitchFamily="18" charset="0"/>
              </a:rPr>
              <a:t>Send</a:t>
            </a:r>
            <a:r>
              <a:rPr lang="en-US" sz="1400" spc="-11" dirty="0">
                <a:solidFill>
                  <a:schemeClr val="tx1"/>
                </a:solidFill>
                <a:latin typeface="Times New Roman" panose="02020603050405020304" pitchFamily="18" charset="0"/>
                <a:cs typeface="Times New Roman" panose="02020603050405020304" pitchFamily="18" charset="0"/>
              </a:rPr>
              <a:t> </a:t>
            </a:r>
            <a:r>
              <a:rPr lang="en-US" sz="1400" spc="-15" dirty="0">
                <a:solidFill>
                  <a:schemeClr val="tx1"/>
                </a:solidFill>
                <a:latin typeface="Times New Roman" panose="02020603050405020304" pitchFamily="18" charset="0"/>
                <a:cs typeface="Times New Roman" panose="02020603050405020304" pitchFamily="18" charset="0"/>
              </a:rPr>
              <a:t>real-</a:t>
            </a:r>
            <a:r>
              <a:rPr lang="en-US" sz="1400" dirty="0">
                <a:solidFill>
                  <a:schemeClr val="tx1"/>
                </a:solidFill>
                <a:latin typeface="Times New Roman" panose="02020603050405020304" pitchFamily="18" charset="0"/>
                <a:cs typeface="Times New Roman" panose="02020603050405020304" pitchFamily="18" charset="0"/>
              </a:rPr>
              <a:t>time</a:t>
            </a:r>
            <a:r>
              <a:rPr lang="en-US" sz="1400" spc="21" dirty="0">
                <a:solidFill>
                  <a:schemeClr val="tx1"/>
                </a:solidFill>
                <a:latin typeface="Times New Roman" panose="02020603050405020304" pitchFamily="18" charset="0"/>
                <a:cs typeface="Times New Roman" panose="02020603050405020304" pitchFamily="18" charset="0"/>
              </a:rPr>
              <a:t> </a:t>
            </a:r>
            <a:r>
              <a:rPr lang="en-US" sz="1400" spc="-15" dirty="0">
                <a:solidFill>
                  <a:schemeClr val="tx1"/>
                </a:solidFill>
                <a:latin typeface="Times New Roman" panose="02020603050405020304" pitchFamily="18" charset="0"/>
                <a:cs typeface="Times New Roman" panose="02020603050405020304" pitchFamily="18" charset="0"/>
              </a:rPr>
              <a:t>alerts.</a:t>
            </a:r>
            <a:endParaRPr lang="en-US" sz="1400" dirty="0">
              <a:solidFill>
                <a:schemeClr val="tx1"/>
              </a:solidFill>
              <a:latin typeface="Times New Roman" panose="02020603050405020304" pitchFamily="18" charset="0"/>
              <a:cs typeface="Times New Roman" panose="02020603050405020304" pitchFamily="18" charset="0"/>
            </a:endParaRPr>
          </a:p>
          <a:p>
            <a:pPr marL="555657" lvl="1" indent="-192779">
              <a:spcBef>
                <a:spcPts val="15"/>
              </a:spcBef>
              <a:buChar char="•"/>
              <a:tabLst>
                <a:tab pos="555657" algn="l"/>
              </a:tabLst>
            </a:pPr>
            <a:r>
              <a:rPr lang="en-US" sz="1400" dirty="0">
                <a:solidFill>
                  <a:schemeClr val="tx1"/>
                </a:solidFill>
                <a:latin typeface="Times New Roman" panose="02020603050405020304" pitchFamily="18" charset="0"/>
                <a:cs typeface="Times New Roman" panose="02020603050405020304" pitchFamily="18" charset="0"/>
              </a:rPr>
              <a:t>Watch</a:t>
            </a:r>
            <a:r>
              <a:rPr lang="en-US" sz="1400" spc="-43"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rPr>
              <a:t>live</a:t>
            </a:r>
            <a:r>
              <a:rPr lang="en-US" sz="1400" spc="-37"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rPr>
              <a:t>streaming</a:t>
            </a:r>
            <a:r>
              <a:rPr lang="en-US" sz="1400" spc="-37"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rPr>
              <a:t>at</a:t>
            </a:r>
            <a:r>
              <a:rPr lang="en-US" sz="1400" spc="37" dirty="0">
                <a:solidFill>
                  <a:schemeClr val="tx1"/>
                </a:solidFill>
                <a:latin typeface="Times New Roman" panose="02020603050405020304" pitchFamily="18" charset="0"/>
                <a:cs typeface="Times New Roman" panose="02020603050405020304" pitchFamily="18" charset="0"/>
              </a:rPr>
              <a:t> </a:t>
            </a:r>
            <a:r>
              <a:rPr lang="en-US" sz="1400" spc="-27" dirty="0">
                <a:solidFill>
                  <a:schemeClr val="tx1"/>
                </a:solidFill>
                <a:latin typeface="Times New Roman" panose="02020603050405020304" pitchFamily="18" charset="0"/>
                <a:cs typeface="Times New Roman" panose="02020603050405020304" pitchFamily="18" charset="0"/>
              </a:rPr>
              <a:t>home.</a:t>
            </a:r>
            <a:endParaRPr lang="en-US" sz="1400" dirty="0">
              <a:solidFill>
                <a:schemeClr val="tx1"/>
              </a:solidFill>
              <a:latin typeface="Times New Roman" panose="02020603050405020304" pitchFamily="18" charset="0"/>
              <a:cs typeface="Times New Roman" panose="02020603050405020304" pitchFamily="18" charset="0"/>
            </a:endParaRPr>
          </a:p>
          <a:p>
            <a:pPr marL="17443">
              <a:spcBef>
                <a:spcPts val="15"/>
              </a:spcBef>
              <a:buSzPct val="94285"/>
              <a:tabLst>
                <a:tab pos="274775" algn="l"/>
              </a:tabLst>
            </a:pPr>
            <a:r>
              <a:rPr lang="en-US" sz="1400" b="1" spc="-15" dirty="0">
                <a:solidFill>
                  <a:srgbClr val="006600"/>
                </a:solidFill>
                <a:latin typeface="Times New Roman" panose="02020603050405020304" pitchFamily="18" charset="0"/>
                <a:cs typeface="Times New Roman" panose="02020603050405020304" pitchFamily="18" charset="0"/>
              </a:rPr>
              <a:t>4. Goal:</a:t>
            </a:r>
            <a:endParaRPr lang="en-US" sz="1400" dirty="0">
              <a:solidFill>
                <a:srgbClr val="006600"/>
              </a:solidFill>
              <a:latin typeface="Times New Roman" panose="02020603050405020304" pitchFamily="18" charset="0"/>
              <a:cs typeface="Times New Roman" panose="02020603050405020304" pitchFamily="18" charset="0"/>
            </a:endParaRPr>
          </a:p>
          <a:p>
            <a:pPr marL="703947" marR="438772" lvl="1" indent="-341943">
              <a:lnSpc>
                <a:spcPct val="100600"/>
              </a:lnSpc>
              <a:buChar char="•"/>
              <a:tabLst>
                <a:tab pos="703947" algn="l"/>
                <a:tab pos="707435" algn="l"/>
              </a:tabLst>
            </a:pPr>
            <a:r>
              <a:rPr lang="en-US" sz="1400" dirty="0">
                <a:solidFill>
                  <a:schemeClr val="tx1"/>
                </a:solidFill>
                <a:latin typeface="Times New Roman" panose="02020603050405020304" pitchFamily="18" charset="0"/>
                <a:cs typeface="Times New Roman" panose="02020603050405020304" pitchFamily="18" charset="0"/>
              </a:rPr>
              <a:t>	Make</a:t>
            </a:r>
            <a:r>
              <a:rPr lang="en-US" sz="1400" spc="-11"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rPr>
              <a:t>farming</a:t>
            </a:r>
            <a:r>
              <a:rPr lang="en-US" sz="1400" spc="-27"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rPr>
              <a:t>easier,</a:t>
            </a:r>
            <a:r>
              <a:rPr lang="en-US" sz="1400" spc="-37"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rPr>
              <a:t>safer,</a:t>
            </a:r>
            <a:r>
              <a:rPr lang="en-US" sz="1400" spc="-49"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rPr>
              <a:t>and</a:t>
            </a:r>
            <a:r>
              <a:rPr lang="en-US" sz="1400" spc="-27"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rPr>
              <a:t>more</a:t>
            </a:r>
            <a:r>
              <a:rPr lang="en-US" sz="1400" spc="-11"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rPr>
              <a:t>productive</a:t>
            </a:r>
            <a:r>
              <a:rPr lang="en-US" sz="1400" spc="-59" dirty="0">
                <a:solidFill>
                  <a:schemeClr val="tx1"/>
                </a:solidFill>
                <a:latin typeface="Times New Roman" panose="02020603050405020304" pitchFamily="18" charset="0"/>
                <a:cs typeface="Times New Roman" panose="02020603050405020304" pitchFamily="18" charset="0"/>
              </a:rPr>
              <a:t> </a:t>
            </a:r>
            <a:r>
              <a:rPr lang="en-US" sz="1400" spc="-37" dirty="0">
                <a:solidFill>
                  <a:schemeClr val="tx1"/>
                </a:solidFill>
                <a:latin typeface="Times New Roman" panose="02020603050405020304" pitchFamily="18" charset="0"/>
                <a:cs typeface="Times New Roman" panose="02020603050405020304" pitchFamily="18" charset="0"/>
              </a:rPr>
              <a:t>for </a:t>
            </a:r>
            <a:r>
              <a:rPr lang="en-US" sz="1400" dirty="0">
                <a:solidFill>
                  <a:schemeClr val="tx1"/>
                </a:solidFill>
                <a:latin typeface="Times New Roman" panose="02020603050405020304" pitchFamily="18" charset="0"/>
                <a:cs typeface="Times New Roman" panose="02020603050405020304" pitchFamily="18" charset="0"/>
              </a:rPr>
              <a:t>small</a:t>
            </a:r>
            <a:r>
              <a:rPr lang="en-US" sz="1400" spc="-37" dirty="0">
                <a:solidFill>
                  <a:schemeClr val="tx1"/>
                </a:solidFill>
                <a:latin typeface="Times New Roman" panose="02020603050405020304" pitchFamily="18" charset="0"/>
                <a:cs typeface="Times New Roman" panose="02020603050405020304" pitchFamily="18" charset="0"/>
              </a:rPr>
              <a:t> </a:t>
            </a:r>
            <a:r>
              <a:rPr lang="en-US" sz="1400" dirty="0">
                <a:solidFill>
                  <a:schemeClr val="tx1"/>
                </a:solidFill>
                <a:latin typeface="Times New Roman" panose="02020603050405020304" pitchFamily="18" charset="0"/>
                <a:cs typeface="Times New Roman" panose="02020603050405020304" pitchFamily="18" charset="0"/>
              </a:rPr>
              <a:t>and</a:t>
            </a:r>
            <a:r>
              <a:rPr lang="en-US" sz="1400" spc="11" dirty="0">
                <a:solidFill>
                  <a:schemeClr val="tx1"/>
                </a:solidFill>
                <a:latin typeface="Times New Roman" panose="02020603050405020304" pitchFamily="18" charset="0"/>
                <a:cs typeface="Times New Roman" panose="02020603050405020304" pitchFamily="18" charset="0"/>
              </a:rPr>
              <a:t> </a:t>
            </a:r>
            <a:r>
              <a:rPr lang="en-US" sz="1400" spc="-15" dirty="0">
                <a:solidFill>
                  <a:schemeClr val="tx1"/>
                </a:solidFill>
                <a:latin typeface="Times New Roman" panose="02020603050405020304" pitchFamily="18" charset="0"/>
                <a:cs typeface="Times New Roman" panose="02020603050405020304" pitchFamily="18" charset="0"/>
              </a:rPr>
              <a:t>medium-</a:t>
            </a:r>
            <a:r>
              <a:rPr lang="en-US" sz="1400" dirty="0">
                <a:solidFill>
                  <a:schemeClr val="tx1"/>
                </a:solidFill>
                <a:latin typeface="Times New Roman" panose="02020603050405020304" pitchFamily="18" charset="0"/>
                <a:cs typeface="Times New Roman" panose="02020603050405020304" pitchFamily="18" charset="0"/>
              </a:rPr>
              <a:t>scale</a:t>
            </a:r>
            <a:r>
              <a:rPr lang="en-US" sz="1400" spc="-43" dirty="0">
                <a:solidFill>
                  <a:schemeClr val="tx1"/>
                </a:solidFill>
                <a:latin typeface="Times New Roman" panose="02020603050405020304" pitchFamily="18" charset="0"/>
                <a:cs typeface="Times New Roman" panose="02020603050405020304" pitchFamily="18" charset="0"/>
              </a:rPr>
              <a:t> </a:t>
            </a:r>
            <a:r>
              <a:rPr lang="en-US" sz="1400" spc="-15" dirty="0">
                <a:solidFill>
                  <a:schemeClr val="tx1"/>
                </a:solidFill>
                <a:latin typeface="Times New Roman" panose="02020603050405020304" pitchFamily="18" charset="0"/>
                <a:cs typeface="Times New Roman" panose="02020603050405020304" pitchFamily="18" charset="0"/>
              </a:rPr>
              <a:t>farmers</a:t>
            </a:r>
            <a:endParaRPr lang="en-IN"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Prototype Overview">
    <p:spTree>
      <p:nvGrpSpPr>
        <p:cNvPr id="1" name=""/>
        <p:cNvGrpSpPr/>
        <p:nvPr/>
      </p:nvGrpSpPr>
      <p:grpSpPr>
        <a:xfrm>
          <a:off x="0" y="0"/>
          <a:ext cx="0" cy="0"/>
          <a:chOff x="0" y="0"/>
          <a:chExt cx="0" cy="0"/>
        </a:xfrm>
      </p:grpSpPr>
      <p:sp>
        <p:nvSpPr>
          <p:cNvPr id="2" name="Eyebrow"/>
          <p:cNvSpPr txBox="1"/>
          <p:nvPr/>
        </p:nvSpPr>
        <p:spPr>
          <a:xfrm>
            <a:off x="548640" y="310896"/>
            <a:ext cx="7315200" cy="237744"/>
          </a:xfrm>
          <a:prstGeom prst="rect">
            <a:avLst/>
          </a:prstGeom>
          <a:noFill/>
          <a:ln/>
        </p:spPr>
        <p:txBody>
          <a:bodyPr wrap="square" lIns="0" tIns="0" rIns="0" bIns="0" rtlCol="0" anchor="t"/>
          <a:lstStyle/>
          <a:p>
            <a:pPr marL="0" indent="0">
              <a:buNone/>
            </a:pPr>
            <a:r>
              <a:rPr lang="en-US" sz="1600" b="1" kern="0" spc="150" dirty="0">
                <a:solidFill>
                  <a:schemeClr val="accent2"/>
                </a:solidFill>
              </a:rPr>
              <a:t>04  |  PROTOTYPE OVERVIEW</a:t>
            </a:r>
            <a:endParaRPr lang="en-US" sz="1600" dirty="0"/>
          </a:p>
        </p:txBody>
      </p:sp>
      <p:sp>
        <p:nvSpPr>
          <p:cNvPr id="3" name="Text 1"/>
          <p:cNvSpPr>
            <a:spLocks noGrp="1"/>
          </p:cNvSpPr>
          <p:nvPr>
            <p:ph type="title" idx="101" hasCustomPrompt="1"/>
          </p:nvPr>
        </p:nvSpPr>
        <p:spPr>
          <a:xfrm>
            <a:off x="548640" y="566928"/>
            <a:ext cx="11091672" cy="73152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A modular, AI-assisted crop protection system</a:t>
            </a:r>
            <a:endParaRPr lang="en-US" sz="3000" dirty="0"/>
          </a:p>
        </p:txBody>
      </p:sp>
      <p:sp>
        <p:nvSpPr>
          <p:cNvPr id="4" name="Card 1"/>
          <p:cNvSpPr/>
          <p:nvPr/>
        </p:nvSpPr>
        <p:spPr>
          <a:xfrm>
            <a:off x="548640" y="1280160"/>
            <a:ext cx="3575304" cy="2697480"/>
          </a:xfrm>
          <a:prstGeom prst="roundRect">
            <a:avLst>
              <a:gd name="adj" fmla="val 3050"/>
            </a:avLst>
          </a:prstGeom>
          <a:solidFill>
            <a:schemeClr val="bg1"/>
          </a:solidFill>
          <a:ln w="12700">
            <a:solidFill>
              <a:srgbClr val="D9D2BC"/>
            </a:solidFill>
          </a:ln>
        </p:spPr>
        <p:txBody>
          <a:bodyPr/>
          <a:lstStyle/>
          <a:p>
            <a:endParaRPr lang="en-US"/>
          </a:p>
        </p:txBody>
      </p:sp>
      <p:sp>
        <p:nvSpPr>
          <p:cNvPr id="5" name="Badge 1"/>
          <p:cNvSpPr/>
          <p:nvPr/>
        </p:nvSpPr>
        <p:spPr>
          <a:xfrm>
            <a:off x="731520" y="1426464"/>
            <a:ext cx="347472" cy="347472"/>
          </a:xfrm>
          <a:prstGeom prst="ellipse">
            <a:avLst/>
          </a:prstGeom>
          <a:solidFill>
            <a:schemeClr val="tx2"/>
          </a:solidFill>
          <a:ln>
            <a:noFill/>
          </a:ln>
        </p:spPr>
        <p:txBody>
          <a:bodyPr wrap="square" lIns="0" tIns="0" rIns="0" bIns="0" rtlCol="0" anchor="ctr"/>
          <a:lstStyle/>
          <a:p>
            <a:pPr marL="0" indent="0" algn="ctr">
              <a:spcAft>
                <a:spcPts val="0"/>
              </a:spcAft>
              <a:buNone/>
            </a:pPr>
            <a:r>
              <a:rPr lang="en-US" sz="1500" b="1" dirty="0">
                <a:solidFill>
                  <a:schemeClr val="accent3"/>
                </a:solidFill>
                <a:latin typeface="Cambria"/>
                <a:ea typeface="Cambria"/>
                <a:cs typeface="Cambria"/>
              </a:rPr>
              <a:t>1</a:t>
            </a:r>
            <a:endParaRPr lang="en-US" sz="1500" dirty="0"/>
          </a:p>
        </p:txBody>
      </p:sp>
      <p:sp>
        <p:nvSpPr>
          <p:cNvPr id="6" name="Status WORKING"/>
          <p:cNvSpPr/>
          <p:nvPr/>
        </p:nvSpPr>
        <p:spPr>
          <a:xfrm>
            <a:off x="3026664" y="1481328"/>
            <a:ext cx="914400" cy="237744"/>
          </a:xfrm>
          <a:prstGeom prst="roundRect">
            <a:avLst>
              <a:gd name="adj" fmla="val 30769"/>
            </a:avLst>
          </a:prstGeom>
          <a:solidFill>
            <a:schemeClr val="accent2"/>
          </a:solidFill>
          <a:ln>
            <a:noFill/>
          </a:ln>
        </p:spPr>
        <p:txBody>
          <a:bodyPr wrap="square" lIns="0" tIns="0" rIns="0" bIns="0" rtlCol="0" anchor="ctr"/>
          <a:lstStyle/>
          <a:p>
            <a:pPr marL="0" indent="0" algn="ctr">
              <a:spcAft>
                <a:spcPts val="0"/>
              </a:spcAft>
              <a:buNone/>
            </a:pPr>
            <a:r>
              <a:rPr lang="en-US" sz="1000" b="1" kern="0" spc="50" dirty="0">
                <a:solidFill>
                  <a:schemeClr val="bg1"/>
                </a:solidFill>
              </a:rPr>
              <a:t>WORKING</a:t>
            </a:r>
            <a:endParaRPr lang="en-US" sz="1000" dirty="0"/>
          </a:p>
        </p:txBody>
      </p:sp>
      <p:sp>
        <p:nvSpPr>
          <p:cNvPr id="7" name="Title 1"/>
          <p:cNvSpPr txBox="1"/>
          <p:nvPr/>
        </p:nvSpPr>
        <p:spPr>
          <a:xfrm>
            <a:off x="731520" y="1828800"/>
            <a:ext cx="3209544" cy="292608"/>
          </a:xfrm>
          <a:prstGeom prst="rect">
            <a:avLst/>
          </a:prstGeom>
          <a:noFill/>
          <a:ln>
            <a:noFill/>
          </a:ln>
        </p:spPr>
        <p:txBody>
          <a:bodyPr wrap="square" lIns="0" tIns="0" rIns="0" bIns="0" rtlCol="0" anchor="t"/>
          <a:lstStyle/>
          <a:p>
            <a:pPr marL="0" indent="0" algn="l">
              <a:spcAft>
                <a:spcPts val="0"/>
              </a:spcAft>
              <a:buNone/>
            </a:pPr>
            <a:r>
              <a:rPr lang="en-US" sz="1600" b="1" dirty="0">
                <a:solidFill>
                  <a:schemeClr val="tx2"/>
                </a:solidFill>
                <a:latin typeface="Cambria"/>
                <a:ea typeface="Cambria"/>
                <a:cs typeface="Cambria"/>
              </a:rPr>
              <a:t>Intrusion Sensing</a:t>
            </a:r>
            <a:endParaRPr lang="en-US" sz="1600" dirty="0"/>
          </a:p>
        </p:txBody>
      </p:sp>
      <p:sp>
        <p:nvSpPr>
          <p:cNvPr id="8" name="Body 1"/>
          <p:cNvSpPr txBox="1"/>
          <p:nvPr/>
        </p:nvSpPr>
        <p:spPr>
          <a:xfrm>
            <a:off x="731520" y="2176272"/>
            <a:ext cx="3209544" cy="1737360"/>
          </a:xfrm>
          <a:prstGeom prst="rect">
            <a:avLst/>
          </a:prstGeom>
          <a:noFill/>
          <a:ln>
            <a:noFill/>
          </a:ln>
        </p:spPr>
        <p:txBody>
          <a:bodyPr wrap="square" lIns="0" tIns="0" rIns="0" bIns="0" rtlCol="0" anchor="t"/>
          <a:lstStyle/>
          <a:p>
            <a:pPr marL="164592" indent="-164592" algn="l">
              <a:spcAft>
                <a:spcPts val="400"/>
              </a:spcAft>
              <a:buClr>
                <a:schemeClr val="accent2"/>
              </a:buClr>
              <a:buFont typeface="Arial"/>
              <a:buChar char="•"/>
            </a:pPr>
            <a:r>
              <a:rPr lang="en-US" sz="1400" dirty="0">
                <a:solidFill>
                  <a:schemeClr val="tx1"/>
                </a:solidFill>
              </a:rPr>
              <a:t>PIR sensor detects motion and triggers the monitoring workflow.</a:t>
            </a:r>
            <a:endParaRPr lang="en-US" sz="1400" dirty="0"/>
          </a:p>
          <a:p>
            <a:pPr marL="164592" indent="-164592" algn="l">
              <a:spcAft>
                <a:spcPts val="400"/>
              </a:spcAft>
              <a:buClr>
                <a:schemeClr val="accent2"/>
              </a:buClr>
              <a:buFont typeface="Arial"/>
              <a:buChar char="•"/>
            </a:pPr>
            <a:r>
              <a:rPr lang="en-US" sz="1400" dirty="0">
                <a:solidFill>
                  <a:schemeClr val="tx1"/>
                </a:solidFill>
              </a:rPr>
              <a:t>Camera captures field imagery for visual analysis.</a:t>
            </a:r>
            <a:endParaRPr lang="en-US" sz="1400" dirty="0"/>
          </a:p>
        </p:txBody>
      </p:sp>
      <p:sp>
        <p:nvSpPr>
          <p:cNvPr id="9" name="Card 2"/>
          <p:cNvSpPr/>
          <p:nvPr/>
        </p:nvSpPr>
        <p:spPr>
          <a:xfrm>
            <a:off x="4306824" y="1280160"/>
            <a:ext cx="3575304" cy="2697480"/>
          </a:xfrm>
          <a:prstGeom prst="roundRect">
            <a:avLst>
              <a:gd name="adj" fmla="val 3050"/>
            </a:avLst>
          </a:prstGeom>
          <a:solidFill>
            <a:schemeClr val="bg1"/>
          </a:solidFill>
          <a:ln w="12700">
            <a:solidFill>
              <a:srgbClr val="D9D2BC"/>
            </a:solidFill>
          </a:ln>
        </p:spPr>
        <p:txBody>
          <a:bodyPr/>
          <a:lstStyle/>
          <a:p>
            <a:endParaRPr lang="en-US"/>
          </a:p>
        </p:txBody>
      </p:sp>
      <p:sp>
        <p:nvSpPr>
          <p:cNvPr id="10" name="Badge 2"/>
          <p:cNvSpPr/>
          <p:nvPr/>
        </p:nvSpPr>
        <p:spPr>
          <a:xfrm>
            <a:off x="4489704" y="1426464"/>
            <a:ext cx="347472" cy="347472"/>
          </a:xfrm>
          <a:prstGeom prst="ellipse">
            <a:avLst/>
          </a:prstGeom>
          <a:solidFill>
            <a:schemeClr val="tx2"/>
          </a:solidFill>
          <a:ln>
            <a:noFill/>
          </a:ln>
        </p:spPr>
        <p:txBody>
          <a:bodyPr wrap="square" lIns="0" tIns="0" rIns="0" bIns="0" rtlCol="0" anchor="ctr"/>
          <a:lstStyle/>
          <a:p>
            <a:pPr marL="0" indent="0" algn="ctr">
              <a:spcAft>
                <a:spcPts val="0"/>
              </a:spcAft>
              <a:buNone/>
            </a:pPr>
            <a:r>
              <a:rPr lang="en-US" sz="1500" b="1" dirty="0">
                <a:solidFill>
                  <a:schemeClr val="accent3"/>
                </a:solidFill>
                <a:latin typeface="Cambria"/>
                <a:ea typeface="Cambria"/>
                <a:cs typeface="Cambria"/>
              </a:rPr>
              <a:t>2</a:t>
            </a:r>
            <a:endParaRPr lang="en-US" sz="1500" dirty="0"/>
          </a:p>
        </p:txBody>
      </p:sp>
      <p:sp>
        <p:nvSpPr>
          <p:cNvPr id="12" name="Title 2"/>
          <p:cNvSpPr txBox="1"/>
          <p:nvPr/>
        </p:nvSpPr>
        <p:spPr>
          <a:xfrm>
            <a:off x="4489704" y="1828800"/>
            <a:ext cx="3209544" cy="292608"/>
          </a:xfrm>
          <a:prstGeom prst="rect">
            <a:avLst/>
          </a:prstGeom>
          <a:noFill/>
          <a:ln>
            <a:noFill/>
          </a:ln>
        </p:spPr>
        <p:txBody>
          <a:bodyPr wrap="square" lIns="0" tIns="0" rIns="0" bIns="0" rtlCol="0" anchor="t"/>
          <a:lstStyle/>
          <a:p>
            <a:pPr marL="0" indent="0" algn="l">
              <a:spcAft>
                <a:spcPts val="0"/>
              </a:spcAft>
              <a:buNone/>
            </a:pPr>
            <a:r>
              <a:rPr lang="en-US" sz="1600" b="1" dirty="0">
                <a:solidFill>
                  <a:schemeClr val="tx2"/>
                </a:solidFill>
                <a:latin typeface="Cambria"/>
                <a:ea typeface="Cambria"/>
                <a:cs typeface="Cambria"/>
              </a:rPr>
              <a:t>AI-Based Decision Support</a:t>
            </a:r>
            <a:endParaRPr lang="en-US" sz="1600" dirty="0"/>
          </a:p>
        </p:txBody>
      </p:sp>
      <p:sp>
        <p:nvSpPr>
          <p:cNvPr id="13" name="Body 2"/>
          <p:cNvSpPr txBox="1"/>
          <p:nvPr/>
        </p:nvSpPr>
        <p:spPr>
          <a:xfrm>
            <a:off x="4489704" y="2176272"/>
            <a:ext cx="3209544" cy="1737360"/>
          </a:xfrm>
          <a:prstGeom prst="rect">
            <a:avLst/>
          </a:prstGeom>
          <a:noFill/>
          <a:ln>
            <a:noFill/>
          </a:ln>
        </p:spPr>
        <p:txBody>
          <a:bodyPr wrap="square" lIns="0" tIns="0" rIns="0" bIns="0" rtlCol="0" anchor="t"/>
          <a:lstStyle/>
          <a:p>
            <a:pPr marL="164592" indent="-164592" algn="l">
              <a:spcAft>
                <a:spcPts val="400"/>
              </a:spcAft>
              <a:buClr>
                <a:schemeClr val="accent2"/>
              </a:buClr>
              <a:buFont typeface="Arial"/>
              <a:buChar char="•"/>
            </a:pPr>
            <a:r>
              <a:rPr lang="en-US" sz="1400" dirty="0">
                <a:solidFill>
                  <a:schemeClr val="tx1"/>
                </a:solidFill>
              </a:rPr>
              <a:t>YOLOv8 processes images on a connected AI host.</a:t>
            </a:r>
            <a:endParaRPr lang="en-US" sz="1400" dirty="0"/>
          </a:p>
          <a:p>
            <a:pPr marL="164592" indent="-164592" algn="l">
              <a:spcAft>
                <a:spcPts val="400"/>
              </a:spcAft>
              <a:buClr>
                <a:schemeClr val="accent2"/>
              </a:buClr>
              <a:buFont typeface="Arial"/>
              <a:buChar char="•"/>
            </a:pPr>
            <a:r>
              <a:rPr lang="en-US" sz="1400" dirty="0">
                <a:solidFill>
                  <a:schemeClr val="tx1"/>
                </a:solidFill>
              </a:rPr>
              <a:t>Detected classes and confidence scores inform the response decision.</a:t>
            </a:r>
            <a:endParaRPr lang="en-US" sz="1400" dirty="0"/>
          </a:p>
        </p:txBody>
      </p:sp>
      <p:sp>
        <p:nvSpPr>
          <p:cNvPr id="14" name="Card 3"/>
          <p:cNvSpPr/>
          <p:nvPr/>
        </p:nvSpPr>
        <p:spPr>
          <a:xfrm>
            <a:off x="8065008" y="1280160"/>
            <a:ext cx="3575304" cy="2697480"/>
          </a:xfrm>
          <a:prstGeom prst="roundRect">
            <a:avLst>
              <a:gd name="adj" fmla="val 3050"/>
            </a:avLst>
          </a:prstGeom>
          <a:solidFill>
            <a:schemeClr val="bg1"/>
          </a:solidFill>
          <a:ln w="12700">
            <a:solidFill>
              <a:srgbClr val="D9D2BC"/>
            </a:solidFill>
          </a:ln>
        </p:spPr>
        <p:txBody>
          <a:bodyPr/>
          <a:lstStyle/>
          <a:p>
            <a:endParaRPr lang="en-US"/>
          </a:p>
        </p:txBody>
      </p:sp>
      <p:sp>
        <p:nvSpPr>
          <p:cNvPr id="15" name="Badge 3"/>
          <p:cNvSpPr/>
          <p:nvPr/>
        </p:nvSpPr>
        <p:spPr>
          <a:xfrm>
            <a:off x="8247888" y="1426464"/>
            <a:ext cx="347472" cy="347472"/>
          </a:xfrm>
          <a:prstGeom prst="ellipse">
            <a:avLst/>
          </a:prstGeom>
          <a:solidFill>
            <a:schemeClr val="tx2"/>
          </a:solidFill>
          <a:ln>
            <a:noFill/>
          </a:ln>
        </p:spPr>
        <p:txBody>
          <a:bodyPr wrap="square" lIns="0" tIns="0" rIns="0" bIns="0" rtlCol="0" anchor="ctr"/>
          <a:lstStyle/>
          <a:p>
            <a:pPr marL="0" indent="0" algn="ctr">
              <a:spcAft>
                <a:spcPts val="0"/>
              </a:spcAft>
              <a:buNone/>
            </a:pPr>
            <a:r>
              <a:rPr lang="en-US" sz="1500" b="1" dirty="0">
                <a:solidFill>
                  <a:schemeClr val="accent3"/>
                </a:solidFill>
                <a:latin typeface="Cambria"/>
                <a:ea typeface="Cambria"/>
                <a:cs typeface="Cambria"/>
              </a:rPr>
              <a:t>3</a:t>
            </a:r>
            <a:endParaRPr lang="en-US" sz="1500" dirty="0"/>
          </a:p>
        </p:txBody>
      </p:sp>
      <p:sp>
        <p:nvSpPr>
          <p:cNvPr id="16" name="Status WORKING"/>
          <p:cNvSpPr/>
          <p:nvPr/>
        </p:nvSpPr>
        <p:spPr>
          <a:xfrm>
            <a:off x="10543032" y="1481328"/>
            <a:ext cx="914400" cy="237744"/>
          </a:xfrm>
          <a:prstGeom prst="roundRect">
            <a:avLst>
              <a:gd name="adj" fmla="val 30769"/>
            </a:avLst>
          </a:prstGeom>
          <a:solidFill>
            <a:schemeClr val="accent2"/>
          </a:solidFill>
          <a:ln>
            <a:noFill/>
          </a:ln>
        </p:spPr>
        <p:txBody>
          <a:bodyPr wrap="square" lIns="0" tIns="0" rIns="0" bIns="0" rtlCol="0" anchor="ctr"/>
          <a:lstStyle/>
          <a:p>
            <a:pPr marL="0" indent="0" algn="ctr">
              <a:spcAft>
                <a:spcPts val="0"/>
              </a:spcAft>
              <a:buNone/>
            </a:pPr>
            <a:r>
              <a:rPr lang="en-US" sz="1000" b="1" kern="0" spc="50" dirty="0">
                <a:solidFill>
                  <a:schemeClr val="bg1"/>
                </a:solidFill>
              </a:rPr>
              <a:t>WORKING</a:t>
            </a:r>
            <a:endParaRPr lang="en-US" sz="1000" dirty="0"/>
          </a:p>
        </p:txBody>
      </p:sp>
      <p:sp>
        <p:nvSpPr>
          <p:cNvPr id="17" name="Title 3"/>
          <p:cNvSpPr txBox="1"/>
          <p:nvPr/>
        </p:nvSpPr>
        <p:spPr>
          <a:xfrm>
            <a:off x="8247888" y="1828800"/>
            <a:ext cx="3209544" cy="292608"/>
          </a:xfrm>
          <a:prstGeom prst="rect">
            <a:avLst/>
          </a:prstGeom>
          <a:noFill/>
          <a:ln>
            <a:noFill/>
          </a:ln>
        </p:spPr>
        <p:txBody>
          <a:bodyPr wrap="square" lIns="0" tIns="0" rIns="0" bIns="0" rtlCol="0" anchor="t"/>
          <a:lstStyle/>
          <a:p>
            <a:pPr marL="0" indent="0" algn="l">
              <a:spcAft>
                <a:spcPts val="0"/>
              </a:spcAft>
              <a:buNone/>
            </a:pPr>
            <a:r>
              <a:rPr lang="en-US" sz="1600" b="1" dirty="0">
                <a:solidFill>
                  <a:schemeClr val="tx2"/>
                </a:solidFill>
                <a:latin typeface="Cambria"/>
                <a:ea typeface="Cambria"/>
                <a:cs typeface="Cambria"/>
              </a:rPr>
              <a:t>Selective Deterrence</a:t>
            </a:r>
            <a:endParaRPr lang="en-US" sz="1600" dirty="0"/>
          </a:p>
        </p:txBody>
      </p:sp>
      <p:sp>
        <p:nvSpPr>
          <p:cNvPr id="18" name="Body 3"/>
          <p:cNvSpPr txBox="1"/>
          <p:nvPr/>
        </p:nvSpPr>
        <p:spPr>
          <a:xfrm>
            <a:off x="8247888" y="2176272"/>
            <a:ext cx="3209544" cy="1737360"/>
          </a:xfrm>
          <a:prstGeom prst="rect">
            <a:avLst/>
          </a:prstGeom>
          <a:noFill/>
          <a:ln>
            <a:noFill/>
          </a:ln>
        </p:spPr>
        <p:txBody>
          <a:bodyPr wrap="square" lIns="0" tIns="0" rIns="0" bIns="0" rtlCol="0" anchor="t"/>
          <a:lstStyle/>
          <a:p>
            <a:pPr marL="164592" indent="-164592" algn="l">
              <a:spcAft>
                <a:spcPts val="400"/>
              </a:spcAft>
              <a:buClr>
                <a:schemeClr val="accent2"/>
              </a:buClr>
              <a:buFont typeface="Arial"/>
              <a:buChar char="•"/>
            </a:pPr>
            <a:r>
              <a:rPr lang="en-US" sz="1400" dirty="0">
                <a:solidFill>
                  <a:schemeClr val="tx1"/>
                </a:solidFill>
              </a:rPr>
              <a:t>ESP32-based control is designed to trigger servo-driven arm movement.</a:t>
            </a:r>
            <a:endParaRPr lang="en-US" sz="1400" dirty="0"/>
          </a:p>
          <a:p>
            <a:pPr marL="164592" indent="-164592" algn="l">
              <a:spcAft>
                <a:spcPts val="400"/>
              </a:spcAft>
              <a:buClr>
                <a:schemeClr val="accent2"/>
              </a:buClr>
              <a:buFont typeface="Arial"/>
              <a:buChar char="•"/>
            </a:pPr>
            <a:r>
              <a:rPr lang="en-US" sz="1400" dirty="0">
                <a:solidFill>
                  <a:schemeClr val="tx1"/>
                </a:solidFill>
              </a:rPr>
              <a:t>DFPlayer Mini and speaker provide a pre-recorded deterrent voice for supported animal detections.</a:t>
            </a:r>
            <a:endParaRPr lang="en-US" sz="1400" dirty="0"/>
          </a:p>
          <a:p>
            <a:pPr marL="164592" indent="-164592" algn="l">
              <a:spcAft>
                <a:spcPts val="400"/>
              </a:spcAft>
              <a:buClr>
                <a:schemeClr val="accent2"/>
              </a:buClr>
              <a:buFont typeface="Arial"/>
              <a:buChar char="•"/>
            </a:pPr>
            <a:r>
              <a:rPr lang="en-US" sz="1400" dirty="0">
                <a:solidFill>
                  <a:schemeClr val="tx1"/>
                </a:solidFill>
              </a:rPr>
              <a:t>Human detections should not trigger deterrence.</a:t>
            </a:r>
            <a:endParaRPr lang="en-US" sz="1400" dirty="0"/>
          </a:p>
        </p:txBody>
      </p:sp>
      <p:sp>
        <p:nvSpPr>
          <p:cNvPr id="19" name="Card 4"/>
          <p:cNvSpPr/>
          <p:nvPr/>
        </p:nvSpPr>
        <p:spPr>
          <a:xfrm>
            <a:off x="548640" y="4114800"/>
            <a:ext cx="3575304" cy="2148840"/>
          </a:xfrm>
          <a:prstGeom prst="roundRect">
            <a:avLst>
              <a:gd name="adj" fmla="val 3829"/>
            </a:avLst>
          </a:prstGeom>
          <a:solidFill>
            <a:schemeClr val="bg1"/>
          </a:solidFill>
          <a:ln w="12700">
            <a:solidFill>
              <a:srgbClr val="D9D2BC"/>
            </a:solidFill>
          </a:ln>
        </p:spPr>
        <p:txBody>
          <a:bodyPr/>
          <a:lstStyle/>
          <a:p>
            <a:endParaRPr lang="en-US"/>
          </a:p>
        </p:txBody>
      </p:sp>
      <p:sp>
        <p:nvSpPr>
          <p:cNvPr id="20" name="Badge 4"/>
          <p:cNvSpPr/>
          <p:nvPr/>
        </p:nvSpPr>
        <p:spPr>
          <a:xfrm>
            <a:off x="731520" y="4261104"/>
            <a:ext cx="347472" cy="347472"/>
          </a:xfrm>
          <a:prstGeom prst="ellipse">
            <a:avLst/>
          </a:prstGeom>
          <a:solidFill>
            <a:schemeClr val="tx2"/>
          </a:solidFill>
          <a:ln>
            <a:noFill/>
          </a:ln>
        </p:spPr>
        <p:txBody>
          <a:bodyPr wrap="square" lIns="0" tIns="0" rIns="0" bIns="0" rtlCol="0" anchor="ctr"/>
          <a:lstStyle/>
          <a:p>
            <a:pPr marL="0" indent="0" algn="ctr">
              <a:spcAft>
                <a:spcPts val="0"/>
              </a:spcAft>
              <a:buNone/>
            </a:pPr>
            <a:r>
              <a:rPr lang="en-US" sz="1500" b="1" dirty="0">
                <a:solidFill>
                  <a:schemeClr val="accent3"/>
                </a:solidFill>
                <a:latin typeface="Cambria"/>
                <a:ea typeface="Cambria"/>
                <a:cs typeface="Cambria"/>
              </a:rPr>
              <a:t>4</a:t>
            </a:r>
            <a:endParaRPr lang="en-US" sz="1500" dirty="0"/>
          </a:p>
        </p:txBody>
      </p:sp>
      <p:sp>
        <p:nvSpPr>
          <p:cNvPr id="22" name="Title 4"/>
          <p:cNvSpPr txBox="1"/>
          <p:nvPr/>
        </p:nvSpPr>
        <p:spPr>
          <a:xfrm>
            <a:off x="731520" y="4663440"/>
            <a:ext cx="3209544" cy="292608"/>
          </a:xfrm>
          <a:prstGeom prst="rect">
            <a:avLst/>
          </a:prstGeom>
          <a:noFill/>
          <a:ln>
            <a:noFill/>
          </a:ln>
        </p:spPr>
        <p:txBody>
          <a:bodyPr wrap="square" lIns="0" tIns="0" rIns="0" bIns="0" rtlCol="0" anchor="t"/>
          <a:lstStyle/>
          <a:p>
            <a:pPr marL="0" indent="0" algn="l">
              <a:spcAft>
                <a:spcPts val="0"/>
              </a:spcAft>
              <a:buNone/>
            </a:pPr>
            <a:r>
              <a:rPr lang="en-US" sz="1600" b="1" dirty="0">
                <a:solidFill>
                  <a:schemeClr val="tx2"/>
                </a:solidFill>
                <a:latin typeface="Cambria"/>
                <a:ea typeface="Cambria"/>
                <a:cs typeface="Cambria"/>
              </a:rPr>
              <a:t>Monitoring &amp; Alerts</a:t>
            </a:r>
            <a:endParaRPr lang="en-US" sz="1600" dirty="0"/>
          </a:p>
        </p:txBody>
      </p:sp>
      <p:sp>
        <p:nvSpPr>
          <p:cNvPr id="23" name="Body 4"/>
          <p:cNvSpPr txBox="1"/>
          <p:nvPr/>
        </p:nvSpPr>
        <p:spPr>
          <a:xfrm>
            <a:off x="731520" y="5010912"/>
            <a:ext cx="3209544" cy="1188720"/>
          </a:xfrm>
          <a:prstGeom prst="rect">
            <a:avLst/>
          </a:prstGeom>
          <a:noFill/>
          <a:ln>
            <a:noFill/>
          </a:ln>
        </p:spPr>
        <p:txBody>
          <a:bodyPr wrap="square" lIns="0" tIns="0" rIns="0" bIns="0" rtlCol="0" anchor="t"/>
          <a:lstStyle/>
          <a:p>
            <a:pPr marL="164592" indent="-164592" algn="l">
              <a:spcAft>
                <a:spcPts val="400"/>
              </a:spcAft>
              <a:buClr>
                <a:schemeClr val="accent2"/>
              </a:buClr>
              <a:buFont typeface="Arial"/>
              <a:buChar char="•"/>
            </a:pPr>
            <a:r>
              <a:rPr lang="en-US" sz="1400" dirty="0">
                <a:solidFill>
                  <a:schemeClr val="tx1"/>
                </a:solidFill>
              </a:rPr>
              <a:t>Planned event history and remote notifications through an IoT interface.</a:t>
            </a:r>
            <a:endParaRPr lang="en-US" sz="1400" dirty="0"/>
          </a:p>
          <a:p>
            <a:pPr marL="164592" indent="-164592" algn="l">
              <a:spcAft>
                <a:spcPts val="400"/>
              </a:spcAft>
              <a:buClr>
                <a:schemeClr val="accent2"/>
              </a:buClr>
              <a:buFont typeface="Arial"/>
              <a:buChar char="•"/>
            </a:pPr>
            <a:r>
              <a:rPr lang="en-US" sz="1400" dirty="0">
                <a:solidFill>
                  <a:schemeClr val="tx1"/>
                </a:solidFill>
              </a:rPr>
              <a:t>Live monitoring and device status depend on completed integration.</a:t>
            </a:r>
            <a:endParaRPr lang="en-US" sz="1400" dirty="0"/>
          </a:p>
        </p:txBody>
      </p:sp>
      <p:sp>
        <p:nvSpPr>
          <p:cNvPr id="24" name="Card 5"/>
          <p:cNvSpPr/>
          <p:nvPr/>
        </p:nvSpPr>
        <p:spPr>
          <a:xfrm>
            <a:off x="4306824" y="4114800"/>
            <a:ext cx="3575304" cy="2148840"/>
          </a:xfrm>
          <a:prstGeom prst="roundRect">
            <a:avLst>
              <a:gd name="adj" fmla="val 3829"/>
            </a:avLst>
          </a:prstGeom>
          <a:solidFill>
            <a:schemeClr val="bg1"/>
          </a:solidFill>
          <a:ln w="12700">
            <a:solidFill>
              <a:srgbClr val="D9D2BC"/>
            </a:solidFill>
          </a:ln>
        </p:spPr>
        <p:txBody>
          <a:bodyPr/>
          <a:lstStyle/>
          <a:p>
            <a:endParaRPr lang="en-US"/>
          </a:p>
        </p:txBody>
      </p:sp>
      <p:sp>
        <p:nvSpPr>
          <p:cNvPr id="25" name="Badge 5"/>
          <p:cNvSpPr/>
          <p:nvPr/>
        </p:nvSpPr>
        <p:spPr>
          <a:xfrm>
            <a:off x="4489704" y="4261104"/>
            <a:ext cx="347472" cy="347472"/>
          </a:xfrm>
          <a:prstGeom prst="ellipse">
            <a:avLst/>
          </a:prstGeom>
          <a:solidFill>
            <a:schemeClr val="tx2"/>
          </a:solidFill>
          <a:ln>
            <a:noFill/>
          </a:ln>
        </p:spPr>
        <p:txBody>
          <a:bodyPr wrap="square" lIns="0" tIns="0" rIns="0" bIns="0" rtlCol="0" anchor="ctr"/>
          <a:lstStyle/>
          <a:p>
            <a:pPr marL="0" indent="0" algn="ctr">
              <a:spcAft>
                <a:spcPts val="0"/>
              </a:spcAft>
              <a:buNone/>
            </a:pPr>
            <a:r>
              <a:rPr lang="en-US" sz="1500" b="1" dirty="0">
                <a:solidFill>
                  <a:schemeClr val="accent3"/>
                </a:solidFill>
                <a:latin typeface="Cambria"/>
                <a:ea typeface="Cambria"/>
                <a:cs typeface="Cambria"/>
              </a:rPr>
              <a:t>5</a:t>
            </a:r>
            <a:endParaRPr lang="en-US" sz="1500" dirty="0"/>
          </a:p>
        </p:txBody>
      </p:sp>
      <p:sp>
        <p:nvSpPr>
          <p:cNvPr id="27" name="Title 5"/>
          <p:cNvSpPr txBox="1"/>
          <p:nvPr/>
        </p:nvSpPr>
        <p:spPr>
          <a:xfrm>
            <a:off x="4489704" y="4663440"/>
            <a:ext cx="3209544" cy="292608"/>
          </a:xfrm>
          <a:prstGeom prst="rect">
            <a:avLst/>
          </a:prstGeom>
          <a:noFill/>
          <a:ln>
            <a:noFill/>
          </a:ln>
        </p:spPr>
        <p:txBody>
          <a:bodyPr wrap="square" lIns="0" tIns="0" rIns="0" bIns="0" rtlCol="0" anchor="t"/>
          <a:lstStyle/>
          <a:p>
            <a:pPr marL="0" indent="0" algn="l">
              <a:spcAft>
                <a:spcPts val="0"/>
              </a:spcAft>
              <a:buNone/>
            </a:pPr>
            <a:r>
              <a:rPr lang="en-US" sz="1600" b="1" dirty="0">
                <a:solidFill>
                  <a:schemeClr val="tx2"/>
                </a:solidFill>
                <a:latin typeface="Cambria"/>
                <a:ea typeface="Cambria"/>
                <a:cs typeface="Cambria"/>
              </a:rPr>
              <a:t>Power System</a:t>
            </a:r>
            <a:endParaRPr lang="en-US" sz="1600" dirty="0"/>
          </a:p>
        </p:txBody>
      </p:sp>
      <p:sp>
        <p:nvSpPr>
          <p:cNvPr id="28" name="Body 5"/>
          <p:cNvSpPr txBox="1"/>
          <p:nvPr/>
        </p:nvSpPr>
        <p:spPr>
          <a:xfrm>
            <a:off x="4489704" y="5010912"/>
            <a:ext cx="3209544" cy="1188720"/>
          </a:xfrm>
          <a:prstGeom prst="rect">
            <a:avLst/>
          </a:prstGeom>
          <a:noFill/>
          <a:ln>
            <a:noFill/>
          </a:ln>
        </p:spPr>
        <p:txBody>
          <a:bodyPr wrap="square" lIns="0" tIns="0" rIns="0" bIns="0" rtlCol="0" anchor="t"/>
          <a:lstStyle/>
          <a:p>
            <a:pPr marL="164592" indent="-164592" algn="l">
              <a:spcAft>
                <a:spcPts val="400"/>
              </a:spcAft>
              <a:buClr>
                <a:schemeClr val="accent2"/>
              </a:buClr>
              <a:buFont typeface="Arial"/>
              <a:buChar char="•"/>
            </a:pPr>
            <a:r>
              <a:rPr lang="en-US" sz="1400" dirty="0">
                <a:solidFill>
                  <a:schemeClr val="tx1"/>
                </a:solidFill>
              </a:rPr>
              <a:t>Solar panel, battery and voltage regulation are part of the intended power architecture.</a:t>
            </a:r>
            <a:endParaRPr lang="en-US" sz="1400" dirty="0"/>
          </a:p>
          <a:p>
            <a:pPr marL="164592" indent="-164592" algn="l">
              <a:spcAft>
                <a:spcPts val="400"/>
              </a:spcAft>
              <a:buClr>
                <a:schemeClr val="accent2"/>
              </a:buClr>
              <a:buFont typeface="Arial"/>
              <a:buChar char="•"/>
            </a:pPr>
            <a:r>
              <a:rPr lang="en-US" sz="1400" dirty="0">
                <a:solidFill>
                  <a:schemeClr val="tx1"/>
                </a:solidFill>
              </a:rPr>
              <a:t>Continuous overnight runtime remains to be validated.</a:t>
            </a:r>
            <a:endParaRPr lang="en-US" sz="1400" dirty="0"/>
          </a:p>
        </p:txBody>
      </p:sp>
      <p:sp>
        <p:nvSpPr>
          <p:cNvPr id="29" name="Status card"/>
          <p:cNvSpPr/>
          <p:nvPr/>
        </p:nvSpPr>
        <p:spPr>
          <a:xfrm>
            <a:off x="8065008" y="4114800"/>
            <a:ext cx="3575304" cy="2148840"/>
          </a:xfrm>
          <a:prstGeom prst="roundRect">
            <a:avLst>
              <a:gd name="adj" fmla="val 3829"/>
            </a:avLst>
          </a:prstGeom>
          <a:solidFill>
            <a:schemeClr val="tx2"/>
          </a:solidFill>
          <a:ln>
            <a:noFill/>
          </a:ln>
        </p:spPr>
        <p:txBody>
          <a:bodyPr/>
          <a:lstStyle/>
          <a:p>
            <a:endParaRPr lang="en-US"/>
          </a:p>
        </p:txBody>
      </p:sp>
      <p:sp>
        <p:nvSpPr>
          <p:cNvPr id="30" name="Status label"/>
          <p:cNvSpPr txBox="1"/>
          <p:nvPr/>
        </p:nvSpPr>
        <p:spPr>
          <a:xfrm>
            <a:off x="8293608" y="4315968"/>
            <a:ext cx="3118104" cy="228600"/>
          </a:xfrm>
          <a:prstGeom prst="rect">
            <a:avLst/>
          </a:prstGeom>
          <a:noFill/>
          <a:ln>
            <a:noFill/>
          </a:ln>
        </p:spPr>
        <p:txBody>
          <a:bodyPr wrap="square" lIns="0" tIns="0" rIns="0" bIns="0" rtlCol="0" anchor="t"/>
          <a:lstStyle/>
          <a:p>
            <a:pPr marL="0" indent="0" algn="l">
              <a:spcAft>
                <a:spcPts val="0"/>
              </a:spcAft>
              <a:buNone/>
            </a:pPr>
            <a:r>
              <a:rPr lang="en-US" sz="1100" b="1" kern="0" spc="150" dirty="0">
                <a:solidFill>
                  <a:schemeClr val="accent3"/>
                </a:solidFill>
              </a:rPr>
              <a:t>PROTOTYPE STATUS</a:t>
            </a:r>
            <a:endParaRPr lang="en-US" sz="1100" dirty="0"/>
          </a:p>
        </p:txBody>
      </p:sp>
      <p:sp>
        <p:nvSpPr>
          <p:cNvPr id="31" name="Status text"/>
          <p:cNvSpPr txBox="1"/>
          <p:nvPr/>
        </p:nvSpPr>
        <p:spPr>
          <a:xfrm>
            <a:off x="8293608" y="4663440"/>
            <a:ext cx="3118104" cy="1463040"/>
          </a:xfrm>
          <a:prstGeom prst="rect">
            <a:avLst/>
          </a:prstGeom>
          <a:noFill/>
          <a:ln>
            <a:noFill/>
          </a:ln>
        </p:spPr>
        <p:txBody>
          <a:bodyPr wrap="square" lIns="0" tIns="0" rIns="0" bIns="0" rtlCol="0" anchor="t"/>
          <a:lstStyle/>
          <a:p>
            <a:pPr marL="0" indent="0" algn="l">
              <a:spcAft>
                <a:spcPts val="0"/>
              </a:spcAft>
              <a:buNone/>
            </a:pPr>
            <a:r>
              <a:rPr lang="en-US" sz="1600" dirty="0">
                <a:solidFill>
                  <a:schemeClr val="bg1"/>
                </a:solidFill>
              </a:rPr>
              <a:t>Individual components have been tested; complete end-to-end integration and field validation remain in progress.</a:t>
            </a:r>
            <a:endParaRPr lang="en-US" sz="1600" dirty="0"/>
          </a:p>
        </p:txBody>
      </p:sp>
      <p:sp>
        <p:nvSpPr>
          <p:cNvPr id="32" name="Slide Number Placeholder 0"/>
          <p:cNvSpPr>
            <a:spLocks noGrp="1"/>
          </p:cNvSpPr>
          <p:nvPr>
            <p:ph type="sldNum" sz="quarter" idx="4294967295"/>
          </p:nvPr>
        </p:nvSpPr>
        <p:spPr>
          <a:xfrm>
            <a:off x="10725912" y="6419088"/>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4</a:t>
            </a:fld>
            <a:endParaRPr lang="en-US"/>
          </a:p>
        </p:txBody>
      </p:sp>
      <p:sp>
        <p:nvSpPr>
          <p:cNvPr id="34" name="Status WORKING">
            <a:extLst>
              <a:ext uri="{FF2B5EF4-FFF2-40B4-BE49-F238E27FC236}">
                <a16:creationId xmlns:a16="http://schemas.microsoft.com/office/drawing/2014/main" id="{689C5B8C-B16A-DE0D-DD8C-A46CBE6DE0C7}"/>
              </a:ext>
            </a:extLst>
          </p:cNvPr>
          <p:cNvSpPr/>
          <p:nvPr/>
        </p:nvSpPr>
        <p:spPr>
          <a:xfrm>
            <a:off x="6693408" y="1481328"/>
            <a:ext cx="914400" cy="237744"/>
          </a:xfrm>
          <a:prstGeom prst="roundRect">
            <a:avLst>
              <a:gd name="adj" fmla="val 30769"/>
            </a:avLst>
          </a:prstGeom>
          <a:solidFill>
            <a:schemeClr val="accent2"/>
          </a:solidFill>
          <a:ln>
            <a:noFill/>
          </a:ln>
        </p:spPr>
        <p:txBody>
          <a:bodyPr wrap="square" lIns="0" tIns="0" rIns="0" bIns="0" rtlCol="0" anchor="ctr"/>
          <a:lstStyle/>
          <a:p>
            <a:pPr marL="0" indent="0" algn="ctr">
              <a:spcAft>
                <a:spcPts val="0"/>
              </a:spcAft>
              <a:buNone/>
            </a:pPr>
            <a:r>
              <a:rPr lang="en-US" sz="1000" b="1" kern="0" spc="50" dirty="0">
                <a:solidFill>
                  <a:schemeClr val="bg1"/>
                </a:solidFill>
              </a:rPr>
              <a:t>WORKING</a:t>
            </a:r>
            <a:endParaRPr lang="en-US" sz="1000" dirty="0"/>
          </a:p>
        </p:txBody>
      </p:sp>
      <p:sp>
        <p:nvSpPr>
          <p:cNvPr id="36" name="Status WORKING">
            <a:extLst>
              <a:ext uri="{FF2B5EF4-FFF2-40B4-BE49-F238E27FC236}">
                <a16:creationId xmlns:a16="http://schemas.microsoft.com/office/drawing/2014/main" id="{97688209-478B-3DC1-BD7D-9AF46865914D}"/>
              </a:ext>
            </a:extLst>
          </p:cNvPr>
          <p:cNvSpPr/>
          <p:nvPr/>
        </p:nvSpPr>
        <p:spPr>
          <a:xfrm>
            <a:off x="3045723" y="4270248"/>
            <a:ext cx="914400" cy="237744"/>
          </a:xfrm>
          <a:prstGeom prst="roundRect">
            <a:avLst>
              <a:gd name="adj" fmla="val 30769"/>
            </a:avLst>
          </a:prstGeom>
          <a:solidFill>
            <a:schemeClr val="accent2"/>
          </a:solidFill>
          <a:ln>
            <a:noFill/>
          </a:ln>
        </p:spPr>
        <p:txBody>
          <a:bodyPr wrap="square" lIns="0" tIns="0" rIns="0" bIns="0" rtlCol="0" anchor="ctr"/>
          <a:lstStyle/>
          <a:p>
            <a:pPr marL="0" indent="0" algn="ctr">
              <a:spcAft>
                <a:spcPts val="0"/>
              </a:spcAft>
              <a:buNone/>
            </a:pPr>
            <a:r>
              <a:rPr lang="en-US" sz="1000" b="1" kern="0" spc="50" dirty="0">
                <a:solidFill>
                  <a:schemeClr val="bg1"/>
                </a:solidFill>
              </a:rPr>
              <a:t>WORKING</a:t>
            </a:r>
            <a:endParaRPr lang="en-US" sz="1000" dirty="0"/>
          </a:p>
        </p:txBody>
      </p:sp>
      <p:sp>
        <p:nvSpPr>
          <p:cNvPr id="38" name="Status WORKING">
            <a:extLst>
              <a:ext uri="{FF2B5EF4-FFF2-40B4-BE49-F238E27FC236}">
                <a16:creationId xmlns:a16="http://schemas.microsoft.com/office/drawing/2014/main" id="{307ED0E4-F203-78B2-2B76-14AAB0DBB058}"/>
              </a:ext>
            </a:extLst>
          </p:cNvPr>
          <p:cNvSpPr/>
          <p:nvPr/>
        </p:nvSpPr>
        <p:spPr>
          <a:xfrm>
            <a:off x="6784848" y="4288536"/>
            <a:ext cx="914400" cy="237744"/>
          </a:xfrm>
          <a:prstGeom prst="roundRect">
            <a:avLst>
              <a:gd name="adj" fmla="val 30769"/>
            </a:avLst>
          </a:prstGeom>
          <a:solidFill>
            <a:schemeClr val="accent2"/>
          </a:solidFill>
          <a:ln>
            <a:noFill/>
          </a:ln>
        </p:spPr>
        <p:txBody>
          <a:bodyPr wrap="square" lIns="0" tIns="0" rIns="0" bIns="0" rtlCol="0" anchor="ctr"/>
          <a:lstStyle/>
          <a:p>
            <a:pPr marL="0" indent="0" algn="ctr">
              <a:spcAft>
                <a:spcPts val="0"/>
              </a:spcAft>
              <a:buNone/>
            </a:pPr>
            <a:r>
              <a:rPr lang="en-US" sz="1000" b="1" kern="0" spc="50" dirty="0">
                <a:solidFill>
                  <a:schemeClr val="bg1"/>
                </a:solidFill>
              </a:rPr>
              <a:t>WORKING</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p:cNvSpPr txBox="1"/>
          <p:nvPr/>
        </p:nvSpPr>
        <p:spPr>
          <a:xfrm>
            <a:off x="548640" y="310896"/>
            <a:ext cx="7315200" cy="237744"/>
          </a:xfrm>
          <a:prstGeom prst="rect">
            <a:avLst/>
          </a:prstGeom>
          <a:noFill/>
          <a:ln/>
        </p:spPr>
        <p:txBody>
          <a:bodyPr wrap="square" lIns="0" tIns="0" rIns="0" bIns="0" rtlCol="0" anchor="t"/>
          <a:lstStyle/>
          <a:p>
            <a:pPr marL="0" indent="0">
              <a:buNone/>
            </a:pPr>
            <a:r>
              <a:rPr lang="en-US" sz="1600" b="1" kern="0" spc="150" dirty="0">
                <a:solidFill>
                  <a:schemeClr val="accent2"/>
                </a:solidFill>
              </a:rPr>
              <a:t>05  |  THE PROTOTYPE</a:t>
            </a:r>
            <a:endParaRPr lang="en-US" sz="1600" b="1" dirty="0"/>
          </a:p>
        </p:txBody>
      </p:sp>
      <p:sp>
        <p:nvSpPr>
          <p:cNvPr id="3" name="Text 1"/>
          <p:cNvSpPr>
            <a:spLocks noGrp="1"/>
          </p:cNvSpPr>
          <p:nvPr>
            <p:ph type="title" idx="101" hasCustomPrompt="1"/>
          </p:nvPr>
        </p:nvSpPr>
        <p:spPr>
          <a:xfrm>
            <a:off x="548640" y="566928"/>
            <a:ext cx="11091672" cy="73152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The prototype: what is built and visible today</a:t>
            </a:r>
            <a:endParaRPr lang="en-US" sz="3000" dirty="0"/>
          </a:p>
        </p:txBody>
      </p:sp>
      <p:pic>
        <p:nvPicPr>
          <p:cNvPr id="4" name="Image 0" descr="Smart Bijuka prototype with dome camera and solar panel above a human-like figure"/>
          <p:cNvPicPr>
            <a:picLocks noChangeAspect="1"/>
          </p:cNvPicPr>
          <p:nvPr/>
        </p:nvPicPr>
        <p:blipFill>
          <a:blip r:embed="rId3"/>
          <a:stretch>
            <a:fillRect/>
          </a:stretch>
        </p:blipFill>
        <p:spPr>
          <a:xfrm>
            <a:off x="548640" y="1371600"/>
            <a:ext cx="3311526" cy="4846320"/>
          </a:xfrm>
          <a:prstGeom prst="rect">
            <a:avLst/>
          </a:prstGeom>
        </p:spPr>
      </p:pic>
      <p:sp>
        <p:nvSpPr>
          <p:cNvPr id="5" name="Callout line 1"/>
          <p:cNvSpPr/>
          <p:nvPr/>
        </p:nvSpPr>
        <p:spPr>
          <a:xfrm>
            <a:off x="2932939" y="1737360"/>
            <a:ext cx="1364741" cy="0"/>
          </a:xfrm>
          <a:prstGeom prst="line">
            <a:avLst/>
          </a:prstGeom>
          <a:noFill/>
          <a:ln w="25400">
            <a:solidFill>
              <a:schemeClr val="accent3"/>
            </a:solidFill>
            <a:prstDash val="solid"/>
          </a:ln>
        </p:spPr>
        <p:txBody>
          <a:bodyPr/>
          <a:lstStyle/>
          <a:p>
            <a:endParaRPr lang="en-IN"/>
          </a:p>
        </p:txBody>
      </p:sp>
      <p:sp>
        <p:nvSpPr>
          <p:cNvPr id="6" name="Callout dot 1"/>
          <p:cNvSpPr/>
          <p:nvPr/>
        </p:nvSpPr>
        <p:spPr>
          <a:xfrm>
            <a:off x="2868931" y="1673352"/>
            <a:ext cx="128016" cy="128016"/>
          </a:xfrm>
          <a:prstGeom prst="ellipse">
            <a:avLst/>
          </a:prstGeom>
          <a:solidFill>
            <a:schemeClr val="accent3"/>
          </a:solidFill>
          <a:ln w="19050">
            <a:solidFill>
              <a:schemeClr val="bg1"/>
            </a:solidFill>
            <a:prstDash val="solid"/>
          </a:ln>
        </p:spPr>
        <p:txBody>
          <a:bodyPr/>
          <a:lstStyle/>
          <a:p>
            <a:endParaRPr lang="en-IN"/>
          </a:p>
        </p:txBody>
      </p:sp>
      <p:sp>
        <p:nvSpPr>
          <p:cNvPr id="7" name="Callout card 1"/>
          <p:cNvSpPr/>
          <p:nvPr/>
        </p:nvSpPr>
        <p:spPr>
          <a:xfrm>
            <a:off x="4297680" y="1371600"/>
            <a:ext cx="3154680" cy="731520"/>
          </a:xfrm>
          <a:prstGeom prst="roundRect">
            <a:avLst>
              <a:gd name="adj" fmla="val 10000"/>
            </a:avLst>
          </a:prstGeom>
          <a:solidFill>
            <a:schemeClr val="bg1"/>
          </a:solidFill>
          <a:ln w="12700">
            <a:solidFill>
              <a:srgbClr val="D9D2BC"/>
            </a:solidFill>
            <a:prstDash val="solid"/>
          </a:ln>
        </p:spPr>
        <p:txBody>
          <a:bodyPr/>
          <a:lstStyle/>
          <a:p>
            <a:endParaRPr lang="en-IN"/>
          </a:p>
        </p:txBody>
      </p:sp>
      <p:sp>
        <p:nvSpPr>
          <p:cNvPr id="8" name="Text 5"/>
          <p:cNvSpPr txBox="1"/>
          <p:nvPr/>
        </p:nvSpPr>
        <p:spPr>
          <a:xfrm>
            <a:off x="4434840" y="1444752"/>
            <a:ext cx="1828800" cy="256032"/>
          </a:xfrm>
          <a:prstGeom prst="rect">
            <a:avLst/>
          </a:prstGeom>
          <a:noFill/>
          <a:ln/>
        </p:spPr>
        <p:txBody>
          <a:bodyPr wrap="square" lIns="0" tIns="0" rIns="0" bIns="0" rtlCol="0" anchor="t"/>
          <a:lstStyle/>
          <a:p>
            <a:pPr marL="0" indent="0">
              <a:buNone/>
            </a:pPr>
            <a:r>
              <a:rPr lang="en-US" sz="1400" b="1" dirty="0">
                <a:solidFill>
                  <a:schemeClr val="tx2"/>
                </a:solidFill>
              </a:rPr>
              <a:t>Solar panel</a:t>
            </a:r>
            <a:endParaRPr lang="en-US" sz="1400" dirty="0"/>
          </a:p>
        </p:txBody>
      </p:sp>
      <p:sp>
        <p:nvSpPr>
          <p:cNvPr id="9" name="Status WORKING"/>
          <p:cNvSpPr/>
          <p:nvPr/>
        </p:nvSpPr>
        <p:spPr>
          <a:xfrm>
            <a:off x="6428232" y="1463040"/>
            <a:ext cx="914400" cy="237744"/>
          </a:xfrm>
          <a:prstGeom prst="roundRect">
            <a:avLst>
              <a:gd name="adj" fmla="val 30769"/>
            </a:avLst>
          </a:prstGeom>
          <a:solidFill>
            <a:schemeClr val="accent2"/>
          </a:solidFill>
          <a:ln/>
        </p:spPr>
        <p:txBody>
          <a:bodyPr wrap="square" lIns="0" tIns="0" rIns="0" bIns="0" rtlCol="0" anchor="ctr"/>
          <a:lstStyle/>
          <a:p>
            <a:pPr marL="0" indent="0" algn="ctr">
              <a:buNone/>
            </a:pPr>
            <a:r>
              <a:rPr lang="en-US" sz="1000" b="1" kern="0" spc="50" dirty="0">
                <a:solidFill>
                  <a:schemeClr val="bg1"/>
                </a:solidFill>
              </a:rPr>
              <a:t>WORKING</a:t>
            </a:r>
            <a:endParaRPr lang="en-US" sz="1000" dirty="0"/>
          </a:p>
        </p:txBody>
      </p:sp>
      <p:sp>
        <p:nvSpPr>
          <p:cNvPr id="10" name="Text 7"/>
          <p:cNvSpPr txBox="1"/>
          <p:nvPr/>
        </p:nvSpPr>
        <p:spPr>
          <a:xfrm>
            <a:off x="4434840" y="1755648"/>
            <a:ext cx="2926080" cy="274320"/>
          </a:xfrm>
          <a:prstGeom prst="rect">
            <a:avLst/>
          </a:prstGeom>
          <a:noFill/>
          <a:ln/>
        </p:spPr>
        <p:txBody>
          <a:bodyPr wrap="square" lIns="0" tIns="0" rIns="0" bIns="0" rtlCol="0" anchor="t"/>
          <a:lstStyle/>
          <a:p>
            <a:pPr marL="0" indent="0">
              <a:buNone/>
            </a:pPr>
            <a:r>
              <a:rPr lang="en-US" sz="1200" dirty="0">
                <a:solidFill>
                  <a:schemeClr val="tx1"/>
                </a:solidFill>
              </a:rPr>
              <a:t>Mounted above the camera. Rating to confirm.</a:t>
            </a:r>
            <a:endParaRPr lang="en-US" sz="1200" dirty="0"/>
          </a:p>
        </p:txBody>
      </p:sp>
      <p:sp>
        <p:nvSpPr>
          <p:cNvPr id="11" name="Callout line 2"/>
          <p:cNvSpPr/>
          <p:nvPr/>
        </p:nvSpPr>
        <p:spPr>
          <a:xfrm>
            <a:off x="2171288" y="2542032"/>
            <a:ext cx="2126392" cy="0"/>
          </a:xfrm>
          <a:prstGeom prst="line">
            <a:avLst/>
          </a:prstGeom>
          <a:noFill/>
          <a:ln w="25400">
            <a:solidFill>
              <a:schemeClr val="accent3"/>
            </a:solidFill>
            <a:prstDash val="solid"/>
          </a:ln>
        </p:spPr>
        <p:txBody>
          <a:bodyPr/>
          <a:lstStyle/>
          <a:p>
            <a:endParaRPr lang="en-IN"/>
          </a:p>
        </p:txBody>
      </p:sp>
      <p:sp>
        <p:nvSpPr>
          <p:cNvPr id="12" name="Callout dot 2"/>
          <p:cNvSpPr/>
          <p:nvPr/>
        </p:nvSpPr>
        <p:spPr>
          <a:xfrm>
            <a:off x="2107280" y="2478024"/>
            <a:ext cx="128016" cy="128016"/>
          </a:xfrm>
          <a:prstGeom prst="ellipse">
            <a:avLst/>
          </a:prstGeom>
          <a:solidFill>
            <a:schemeClr val="accent3"/>
          </a:solidFill>
          <a:ln w="19050">
            <a:solidFill>
              <a:schemeClr val="bg1"/>
            </a:solidFill>
            <a:prstDash val="solid"/>
          </a:ln>
        </p:spPr>
        <p:txBody>
          <a:bodyPr/>
          <a:lstStyle/>
          <a:p>
            <a:endParaRPr lang="en-IN"/>
          </a:p>
        </p:txBody>
      </p:sp>
      <p:sp>
        <p:nvSpPr>
          <p:cNvPr id="13" name="Callout card 2"/>
          <p:cNvSpPr/>
          <p:nvPr/>
        </p:nvSpPr>
        <p:spPr>
          <a:xfrm>
            <a:off x="4297680" y="2176272"/>
            <a:ext cx="3154680" cy="731520"/>
          </a:xfrm>
          <a:prstGeom prst="roundRect">
            <a:avLst>
              <a:gd name="adj" fmla="val 10000"/>
            </a:avLst>
          </a:prstGeom>
          <a:solidFill>
            <a:schemeClr val="bg1"/>
          </a:solidFill>
          <a:ln w="12700">
            <a:solidFill>
              <a:srgbClr val="D9D2BC"/>
            </a:solidFill>
            <a:prstDash val="solid"/>
          </a:ln>
        </p:spPr>
        <p:txBody>
          <a:bodyPr/>
          <a:lstStyle/>
          <a:p>
            <a:endParaRPr lang="en-IN"/>
          </a:p>
        </p:txBody>
      </p:sp>
      <p:sp>
        <p:nvSpPr>
          <p:cNvPr id="14" name="Text 11"/>
          <p:cNvSpPr txBox="1"/>
          <p:nvPr/>
        </p:nvSpPr>
        <p:spPr>
          <a:xfrm>
            <a:off x="4434840" y="2249424"/>
            <a:ext cx="1828800" cy="256032"/>
          </a:xfrm>
          <a:prstGeom prst="rect">
            <a:avLst/>
          </a:prstGeom>
          <a:noFill/>
          <a:ln/>
        </p:spPr>
        <p:txBody>
          <a:bodyPr wrap="square" lIns="0" tIns="0" rIns="0" bIns="0" rtlCol="0" anchor="t"/>
          <a:lstStyle/>
          <a:p>
            <a:pPr marL="0" indent="0">
              <a:buNone/>
            </a:pPr>
            <a:r>
              <a:rPr lang="en-US" sz="1400" b="1" dirty="0">
                <a:solidFill>
                  <a:schemeClr val="tx2"/>
                </a:solidFill>
              </a:rPr>
              <a:t>Camera</a:t>
            </a:r>
            <a:endParaRPr lang="en-US" sz="1400" dirty="0"/>
          </a:p>
        </p:txBody>
      </p:sp>
      <p:sp>
        <p:nvSpPr>
          <p:cNvPr id="16" name="Text 13"/>
          <p:cNvSpPr txBox="1"/>
          <p:nvPr/>
        </p:nvSpPr>
        <p:spPr>
          <a:xfrm>
            <a:off x="4434840" y="2560320"/>
            <a:ext cx="2926080" cy="274320"/>
          </a:xfrm>
          <a:prstGeom prst="rect">
            <a:avLst/>
          </a:prstGeom>
          <a:noFill/>
          <a:ln/>
        </p:spPr>
        <p:txBody>
          <a:bodyPr wrap="square" lIns="0" tIns="0" rIns="0" bIns="0" rtlCol="0" anchor="t"/>
          <a:lstStyle/>
          <a:p>
            <a:pPr marL="0" indent="0">
              <a:buNone/>
            </a:pPr>
            <a:r>
              <a:rPr lang="en-US" sz="1200" dirty="0">
                <a:solidFill>
                  <a:schemeClr val="tx1"/>
                </a:solidFill>
              </a:rPr>
              <a:t>Mounted. Frame feed to the AI is in progress.</a:t>
            </a:r>
            <a:endParaRPr lang="en-US" sz="1200" dirty="0"/>
          </a:p>
        </p:txBody>
      </p:sp>
      <p:sp>
        <p:nvSpPr>
          <p:cNvPr id="17" name="Callout line 3"/>
          <p:cNvSpPr/>
          <p:nvPr/>
        </p:nvSpPr>
        <p:spPr>
          <a:xfrm>
            <a:off x="2601786" y="4023360"/>
            <a:ext cx="1695894" cy="0"/>
          </a:xfrm>
          <a:prstGeom prst="line">
            <a:avLst/>
          </a:prstGeom>
          <a:noFill/>
          <a:ln w="25400">
            <a:solidFill>
              <a:schemeClr val="accent3"/>
            </a:solidFill>
            <a:prstDash val="solid"/>
          </a:ln>
        </p:spPr>
        <p:txBody>
          <a:bodyPr/>
          <a:lstStyle/>
          <a:p>
            <a:endParaRPr lang="en-IN"/>
          </a:p>
        </p:txBody>
      </p:sp>
      <p:sp>
        <p:nvSpPr>
          <p:cNvPr id="18" name="Callout dot 3"/>
          <p:cNvSpPr/>
          <p:nvPr/>
        </p:nvSpPr>
        <p:spPr>
          <a:xfrm>
            <a:off x="2537778" y="3959352"/>
            <a:ext cx="128016" cy="128016"/>
          </a:xfrm>
          <a:prstGeom prst="ellipse">
            <a:avLst/>
          </a:prstGeom>
          <a:solidFill>
            <a:schemeClr val="accent3"/>
          </a:solidFill>
          <a:ln w="19050">
            <a:solidFill>
              <a:schemeClr val="bg1"/>
            </a:solidFill>
            <a:prstDash val="solid"/>
          </a:ln>
        </p:spPr>
        <p:txBody>
          <a:bodyPr/>
          <a:lstStyle/>
          <a:p>
            <a:endParaRPr lang="en-IN"/>
          </a:p>
        </p:txBody>
      </p:sp>
      <p:sp>
        <p:nvSpPr>
          <p:cNvPr id="19" name="Callout card 3"/>
          <p:cNvSpPr/>
          <p:nvPr/>
        </p:nvSpPr>
        <p:spPr>
          <a:xfrm>
            <a:off x="4297680" y="3657600"/>
            <a:ext cx="3154680" cy="731520"/>
          </a:xfrm>
          <a:prstGeom prst="roundRect">
            <a:avLst>
              <a:gd name="adj" fmla="val 10000"/>
            </a:avLst>
          </a:prstGeom>
          <a:solidFill>
            <a:schemeClr val="bg1"/>
          </a:solidFill>
          <a:ln w="12700">
            <a:solidFill>
              <a:srgbClr val="D9D2BC"/>
            </a:solidFill>
            <a:prstDash val="solid"/>
          </a:ln>
        </p:spPr>
        <p:txBody>
          <a:bodyPr/>
          <a:lstStyle/>
          <a:p>
            <a:endParaRPr lang="en-IN"/>
          </a:p>
        </p:txBody>
      </p:sp>
      <p:sp>
        <p:nvSpPr>
          <p:cNvPr id="20" name="Text 17"/>
          <p:cNvSpPr txBox="1"/>
          <p:nvPr/>
        </p:nvSpPr>
        <p:spPr>
          <a:xfrm>
            <a:off x="4434840" y="3730752"/>
            <a:ext cx="1828800" cy="256032"/>
          </a:xfrm>
          <a:prstGeom prst="rect">
            <a:avLst/>
          </a:prstGeom>
          <a:noFill/>
          <a:ln/>
        </p:spPr>
        <p:txBody>
          <a:bodyPr wrap="square" lIns="0" tIns="0" rIns="0" bIns="0" rtlCol="0" anchor="t"/>
          <a:lstStyle/>
          <a:p>
            <a:pPr marL="0" indent="0">
              <a:buNone/>
            </a:pPr>
            <a:r>
              <a:rPr lang="en-US" sz="1400" b="1" dirty="0">
                <a:solidFill>
                  <a:schemeClr val="tx2"/>
                </a:solidFill>
              </a:rPr>
              <a:t>Body and arms</a:t>
            </a:r>
            <a:endParaRPr lang="en-US" sz="1400" dirty="0"/>
          </a:p>
        </p:txBody>
      </p:sp>
      <p:sp>
        <p:nvSpPr>
          <p:cNvPr id="21" name="Status WORKING"/>
          <p:cNvSpPr/>
          <p:nvPr/>
        </p:nvSpPr>
        <p:spPr>
          <a:xfrm>
            <a:off x="6428232" y="3749040"/>
            <a:ext cx="914400" cy="237744"/>
          </a:xfrm>
          <a:prstGeom prst="roundRect">
            <a:avLst>
              <a:gd name="adj" fmla="val 30769"/>
            </a:avLst>
          </a:prstGeom>
          <a:solidFill>
            <a:schemeClr val="accent2"/>
          </a:solidFill>
          <a:ln/>
        </p:spPr>
        <p:txBody>
          <a:bodyPr wrap="square" lIns="0" tIns="0" rIns="0" bIns="0" rtlCol="0" anchor="ctr"/>
          <a:lstStyle/>
          <a:p>
            <a:pPr marL="0" indent="0" algn="ctr">
              <a:buNone/>
            </a:pPr>
            <a:r>
              <a:rPr lang="en-US" sz="1000" b="1" kern="0" spc="50" dirty="0">
                <a:solidFill>
                  <a:schemeClr val="bg1"/>
                </a:solidFill>
              </a:rPr>
              <a:t>WORKING</a:t>
            </a:r>
            <a:endParaRPr lang="en-US" sz="1000" dirty="0"/>
          </a:p>
        </p:txBody>
      </p:sp>
      <p:sp>
        <p:nvSpPr>
          <p:cNvPr id="22" name="Text 19"/>
          <p:cNvSpPr txBox="1"/>
          <p:nvPr/>
        </p:nvSpPr>
        <p:spPr>
          <a:xfrm>
            <a:off x="4434840" y="4041648"/>
            <a:ext cx="2926080" cy="274320"/>
          </a:xfrm>
          <a:prstGeom prst="rect">
            <a:avLst/>
          </a:prstGeom>
          <a:noFill/>
          <a:ln/>
        </p:spPr>
        <p:txBody>
          <a:bodyPr wrap="square" lIns="0" tIns="0" rIns="0" bIns="0" rtlCol="0" anchor="t"/>
          <a:lstStyle/>
          <a:p>
            <a:pPr marL="0" indent="0">
              <a:buNone/>
            </a:pPr>
            <a:r>
              <a:rPr lang="en-US" sz="1200" dirty="0">
                <a:solidFill>
                  <a:schemeClr val="tx1"/>
                </a:solidFill>
              </a:rPr>
              <a:t>Structure stands. Servo moves the arm.</a:t>
            </a:r>
            <a:endParaRPr lang="en-US" sz="1200" dirty="0"/>
          </a:p>
        </p:txBody>
      </p:sp>
      <p:sp>
        <p:nvSpPr>
          <p:cNvPr id="23" name="Enclosure card"/>
          <p:cNvSpPr/>
          <p:nvPr/>
        </p:nvSpPr>
        <p:spPr>
          <a:xfrm>
            <a:off x="7680960" y="1371600"/>
            <a:ext cx="3959352" cy="4023360"/>
          </a:xfrm>
          <a:prstGeom prst="roundRect">
            <a:avLst>
              <a:gd name="adj" fmla="val 1848"/>
            </a:avLst>
          </a:prstGeom>
          <a:solidFill>
            <a:schemeClr val="bg1"/>
          </a:solidFill>
          <a:ln w="12700">
            <a:solidFill>
              <a:srgbClr val="D9D2BC"/>
            </a:solidFill>
            <a:prstDash val="solid"/>
          </a:ln>
        </p:spPr>
        <p:txBody>
          <a:bodyPr/>
          <a:lstStyle/>
          <a:p>
            <a:endParaRPr lang="en-IN"/>
          </a:p>
        </p:txBody>
      </p:sp>
      <p:sp>
        <p:nvSpPr>
          <p:cNvPr id="24" name="Text 21"/>
          <p:cNvSpPr txBox="1"/>
          <p:nvPr/>
        </p:nvSpPr>
        <p:spPr>
          <a:xfrm>
            <a:off x="7909560" y="1481328"/>
            <a:ext cx="3502152" cy="292608"/>
          </a:xfrm>
          <a:prstGeom prst="rect">
            <a:avLst/>
          </a:prstGeom>
          <a:noFill/>
          <a:ln/>
        </p:spPr>
        <p:txBody>
          <a:bodyPr wrap="square" lIns="0" tIns="0" rIns="0" bIns="0" rtlCol="0" anchor="t"/>
          <a:lstStyle/>
          <a:p>
            <a:pPr marL="0" indent="0">
              <a:buNone/>
            </a:pPr>
            <a:r>
              <a:rPr lang="en-US" sz="1600" b="1" dirty="0">
                <a:solidFill>
                  <a:schemeClr val="tx2"/>
                </a:solidFill>
              </a:rPr>
              <a:t>Inside the enclosure (Back Side)</a:t>
            </a:r>
            <a:endParaRPr lang="en-US" sz="1600" dirty="0"/>
          </a:p>
        </p:txBody>
      </p:sp>
      <p:sp>
        <p:nvSpPr>
          <p:cNvPr id="26" name="Text 23"/>
          <p:cNvSpPr txBox="1"/>
          <p:nvPr/>
        </p:nvSpPr>
        <p:spPr>
          <a:xfrm>
            <a:off x="7909560" y="2194560"/>
            <a:ext cx="2286000" cy="274320"/>
          </a:xfrm>
          <a:prstGeom prst="rect">
            <a:avLst/>
          </a:prstGeom>
          <a:noFill/>
          <a:ln/>
        </p:spPr>
        <p:txBody>
          <a:bodyPr wrap="square" lIns="0" tIns="0" rIns="0" bIns="0" rtlCol="0" anchor="ctr"/>
          <a:lstStyle/>
          <a:p>
            <a:pPr marL="0" indent="0">
              <a:buNone/>
            </a:pPr>
            <a:r>
              <a:rPr lang="en-US" sz="1400" dirty="0">
                <a:solidFill>
                  <a:schemeClr val="tx1"/>
                </a:solidFill>
              </a:rPr>
              <a:t>PIR sensor</a:t>
            </a:r>
            <a:endParaRPr lang="en-US" sz="1400" dirty="0"/>
          </a:p>
        </p:txBody>
      </p:sp>
      <p:sp>
        <p:nvSpPr>
          <p:cNvPr id="27" name="Status WORKING"/>
          <p:cNvSpPr/>
          <p:nvPr/>
        </p:nvSpPr>
        <p:spPr>
          <a:xfrm>
            <a:off x="10497312" y="2212848"/>
            <a:ext cx="914400" cy="237744"/>
          </a:xfrm>
          <a:prstGeom prst="roundRect">
            <a:avLst>
              <a:gd name="adj" fmla="val 30769"/>
            </a:avLst>
          </a:prstGeom>
          <a:solidFill>
            <a:schemeClr val="accent2"/>
          </a:solidFill>
          <a:ln/>
        </p:spPr>
        <p:txBody>
          <a:bodyPr wrap="square" lIns="0" tIns="0" rIns="0" bIns="0" rtlCol="0" anchor="ctr"/>
          <a:lstStyle/>
          <a:p>
            <a:pPr marL="0" indent="0" algn="ctr">
              <a:buNone/>
            </a:pPr>
            <a:r>
              <a:rPr lang="en-US" sz="1000" b="1" kern="0" spc="50" dirty="0">
                <a:solidFill>
                  <a:schemeClr val="bg1"/>
                </a:solidFill>
              </a:rPr>
              <a:t>WORKING</a:t>
            </a:r>
            <a:endParaRPr lang="en-US" sz="1000" dirty="0"/>
          </a:p>
        </p:txBody>
      </p:sp>
      <p:sp>
        <p:nvSpPr>
          <p:cNvPr id="28" name="Text 25"/>
          <p:cNvSpPr txBox="1"/>
          <p:nvPr/>
        </p:nvSpPr>
        <p:spPr>
          <a:xfrm>
            <a:off x="7909560" y="2642616"/>
            <a:ext cx="2286000" cy="274320"/>
          </a:xfrm>
          <a:prstGeom prst="rect">
            <a:avLst/>
          </a:prstGeom>
          <a:noFill/>
          <a:ln/>
        </p:spPr>
        <p:txBody>
          <a:bodyPr wrap="square" lIns="0" tIns="0" rIns="0" bIns="0" rtlCol="0" anchor="ctr"/>
          <a:lstStyle/>
          <a:p>
            <a:pPr marL="0" indent="0">
              <a:buNone/>
            </a:pPr>
            <a:r>
              <a:rPr lang="en-US" sz="1400" dirty="0">
                <a:solidFill>
                  <a:schemeClr val="tx1"/>
                </a:solidFill>
              </a:rPr>
              <a:t>DFPlayer Mini + speaker</a:t>
            </a:r>
            <a:endParaRPr lang="en-US" sz="1400" dirty="0"/>
          </a:p>
        </p:txBody>
      </p:sp>
      <p:sp>
        <p:nvSpPr>
          <p:cNvPr id="29" name="Status WORKING"/>
          <p:cNvSpPr/>
          <p:nvPr/>
        </p:nvSpPr>
        <p:spPr>
          <a:xfrm>
            <a:off x="10497312" y="2660904"/>
            <a:ext cx="914400" cy="237744"/>
          </a:xfrm>
          <a:prstGeom prst="roundRect">
            <a:avLst>
              <a:gd name="adj" fmla="val 30769"/>
            </a:avLst>
          </a:prstGeom>
          <a:solidFill>
            <a:schemeClr val="accent2"/>
          </a:solidFill>
          <a:ln/>
        </p:spPr>
        <p:txBody>
          <a:bodyPr wrap="square" lIns="0" tIns="0" rIns="0" bIns="0" rtlCol="0" anchor="ctr"/>
          <a:lstStyle/>
          <a:p>
            <a:pPr marL="0" indent="0" algn="ctr">
              <a:buNone/>
            </a:pPr>
            <a:r>
              <a:rPr lang="en-US" sz="1000" b="1" kern="0" spc="50" dirty="0">
                <a:solidFill>
                  <a:schemeClr val="bg1"/>
                </a:solidFill>
              </a:rPr>
              <a:t>WORKING</a:t>
            </a:r>
            <a:endParaRPr lang="en-US" sz="1000" dirty="0"/>
          </a:p>
        </p:txBody>
      </p:sp>
      <p:sp>
        <p:nvSpPr>
          <p:cNvPr id="30" name="Text 27"/>
          <p:cNvSpPr txBox="1"/>
          <p:nvPr/>
        </p:nvSpPr>
        <p:spPr>
          <a:xfrm>
            <a:off x="7909560" y="3090672"/>
            <a:ext cx="2286000" cy="274320"/>
          </a:xfrm>
          <a:prstGeom prst="rect">
            <a:avLst/>
          </a:prstGeom>
          <a:noFill/>
          <a:ln/>
        </p:spPr>
        <p:txBody>
          <a:bodyPr wrap="square" lIns="0" tIns="0" rIns="0" bIns="0" rtlCol="0" anchor="ctr"/>
          <a:lstStyle/>
          <a:p>
            <a:pPr marL="0" indent="0">
              <a:buNone/>
            </a:pPr>
            <a:r>
              <a:rPr lang="en-US" sz="1400" dirty="0">
                <a:solidFill>
                  <a:schemeClr val="tx1"/>
                </a:solidFill>
              </a:rPr>
              <a:t>Servo motors</a:t>
            </a:r>
            <a:endParaRPr lang="en-US" sz="1400" dirty="0"/>
          </a:p>
        </p:txBody>
      </p:sp>
      <p:sp>
        <p:nvSpPr>
          <p:cNvPr id="31" name="Status WORKING"/>
          <p:cNvSpPr/>
          <p:nvPr/>
        </p:nvSpPr>
        <p:spPr>
          <a:xfrm>
            <a:off x="10497312" y="3108960"/>
            <a:ext cx="914400" cy="237744"/>
          </a:xfrm>
          <a:prstGeom prst="roundRect">
            <a:avLst>
              <a:gd name="adj" fmla="val 30769"/>
            </a:avLst>
          </a:prstGeom>
          <a:solidFill>
            <a:schemeClr val="accent2"/>
          </a:solidFill>
          <a:ln/>
        </p:spPr>
        <p:txBody>
          <a:bodyPr wrap="square" lIns="0" tIns="0" rIns="0" bIns="0" rtlCol="0" anchor="ctr"/>
          <a:lstStyle/>
          <a:p>
            <a:pPr marL="0" indent="0" algn="ctr">
              <a:buNone/>
            </a:pPr>
            <a:r>
              <a:rPr lang="en-US" sz="1000" b="1" kern="0" spc="50" dirty="0">
                <a:solidFill>
                  <a:schemeClr val="bg1"/>
                </a:solidFill>
              </a:rPr>
              <a:t>WORKING</a:t>
            </a:r>
            <a:endParaRPr lang="en-US" sz="1000" dirty="0"/>
          </a:p>
        </p:txBody>
      </p:sp>
      <p:sp>
        <p:nvSpPr>
          <p:cNvPr id="32" name="Text 29"/>
          <p:cNvSpPr txBox="1"/>
          <p:nvPr/>
        </p:nvSpPr>
        <p:spPr>
          <a:xfrm>
            <a:off x="7909560" y="3538728"/>
            <a:ext cx="2286000" cy="274320"/>
          </a:xfrm>
          <a:prstGeom prst="rect">
            <a:avLst/>
          </a:prstGeom>
          <a:noFill/>
          <a:ln/>
        </p:spPr>
        <p:txBody>
          <a:bodyPr wrap="square" lIns="0" tIns="0" rIns="0" bIns="0" rtlCol="0" anchor="ctr"/>
          <a:lstStyle/>
          <a:p>
            <a:pPr marL="0" indent="0">
              <a:buNone/>
            </a:pPr>
            <a:r>
              <a:rPr lang="en-US" sz="1400" dirty="0">
                <a:solidFill>
                  <a:schemeClr val="tx1"/>
                </a:solidFill>
              </a:rPr>
              <a:t>ESP32 controller</a:t>
            </a:r>
            <a:endParaRPr lang="en-US" sz="1400" dirty="0"/>
          </a:p>
        </p:txBody>
      </p:sp>
      <p:sp>
        <p:nvSpPr>
          <p:cNvPr id="34" name="Text 31"/>
          <p:cNvSpPr txBox="1"/>
          <p:nvPr/>
        </p:nvSpPr>
        <p:spPr>
          <a:xfrm>
            <a:off x="7909560" y="3986784"/>
            <a:ext cx="2286000" cy="274320"/>
          </a:xfrm>
          <a:prstGeom prst="rect">
            <a:avLst/>
          </a:prstGeom>
          <a:noFill/>
          <a:ln/>
        </p:spPr>
        <p:txBody>
          <a:bodyPr wrap="square" lIns="0" tIns="0" rIns="0" bIns="0" rtlCol="0" anchor="ctr"/>
          <a:lstStyle/>
          <a:p>
            <a:pPr marL="0" indent="0">
              <a:buNone/>
            </a:pPr>
            <a:r>
              <a:rPr lang="en-US" sz="1400" dirty="0">
                <a:solidFill>
                  <a:schemeClr val="tx1"/>
                </a:solidFill>
              </a:rPr>
              <a:t>12 V battery</a:t>
            </a:r>
            <a:endParaRPr lang="en-US" sz="1400" dirty="0"/>
          </a:p>
        </p:txBody>
      </p:sp>
      <p:sp>
        <p:nvSpPr>
          <p:cNvPr id="36" name="Text 33"/>
          <p:cNvSpPr txBox="1"/>
          <p:nvPr/>
        </p:nvSpPr>
        <p:spPr>
          <a:xfrm>
            <a:off x="7909560" y="4434840"/>
            <a:ext cx="2286000" cy="274320"/>
          </a:xfrm>
          <a:prstGeom prst="rect">
            <a:avLst/>
          </a:prstGeom>
          <a:noFill/>
          <a:ln/>
        </p:spPr>
        <p:txBody>
          <a:bodyPr wrap="square" lIns="0" tIns="0" rIns="0" bIns="0" rtlCol="0" anchor="ctr"/>
          <a:lstStyle/>
          <a:p>
            <a:pPr marL="0" indent="0">
              <a:buNone/>
            </a:pPr>
            <a:r>
              <a:rPr lang="en-US" sz="1400" dirty="0">
                <a:solidFill>
                  <a:schemeClr val="tx1"/>
                </a:solidFill>
              </a:rPr>
              <a:t>LM2596 regulator</a:t>
            </a:r>
            <a:endParaRPr lang="en-US" sz="1400" dirty="0"/>
          </a:p>
        </p:txBody>
      </p:sp>
      <p:sp>
        <p:nvSpPr>
          <p:cNvPr id="38" name="Text 35"/>
          <p:cNvSpPr txBox="1"/>
          <p:nvPr/>
        </p:nvSpPr>
        <p:spPr>
          <a:xfrm>
            <a:off x="7909560" y="4882896"/>
            <a:ext cx="2286000" cy="274320"/>
          </a:xfrm>
          <a:prstGeom prst="rect">
            <a:avLst/>
          </a:prstGeom>
          <a:noFill/>
          <a:ln/>
        </p:spPr>
        <p:txBody>
          <a:bodyPr wrap="square" lIns="0" tIns="0" rIns="0" bIns="0" rtlCol="0" anchor="ctr"/>
          <a:lstStyle/>
          <a:p>
            <a:pPr marL="0" indent="0">
              <a:buNone/>
            </a:pPr>
            <a:r>
              <a:rPr lang="en-US" sz="1400" dirty="0">
                <a:solidFill>
                  <a:schemeClr val="tx1"/>
                </a:solidFill>
              </a:rPr>
              <a:t>Waterproof enclosure</a:t>
            </a:r>
            <a:endParaRPr lang="en-US" sz="1400" dirty="0"/>
          </a:p>
        </p:txBody>
      </p:sp>
      <p:sp>
        <p:nvSpPr>
          <p:cNvPr id="40" name="Takeaway"/>
          <p:cNvSpPr/>
          <p:nvPr/>
        </p:nvSpPr>
        <p:spPr>
          <a:xfrm>
            <a:off x="4297680" y="5577840"/>
            <a:ext cx="7342632" cy="640080"/>
          </a:xfrm>
          <a:prstGeom prst="roundRect">
            <a:avLst>
              <a:gd name="adj" fmla="val 11429"/>
            </a:avLst>
          </a:prstGeom>
          <a:solidFill>
            <a:srgbClr val="1F4D36"/>
          </a:solidFill>
          <a:ln w="12700">
            <a:solidFill>
              <a:srgbClr val="1F4D36"/>
            </a:solidFill>
            <a:prstDash val="solid"/>
          </a:ln>
        </p:spPr>
        <p:txBody>
          <a:bodyPr/>
          <a:lstStyle/>
          <a:p>
            <a:endParaRPr lang="en-IN"/>
          </a:p>
        </p:txBody>
      </p:sp>
      <p:sp>
        <p:nvSpPr>
          <p:cNvPr id="41" name="Text 38"/>
          <p:cNvSpPr txBox="1"/>
          <p:nvPr/>
        </p:nvSpPr>
        <p:spPr>
          <a:xfrm>
            <a:off x="4526280" y="5577840"/>
            <a:ext cx="6949440" cy="640080"/>
          </a:xfrm>
          <a:prstGeom prst="rect">
            <a:avLst/>
          </a:prstGeom>
          <a:noFill/>
          <a:ln/>
        </p:spPr>
        <p:txBody>
          <a:bodyPr wrap="square" lIns="0" tIns="0" rIns="0" bIns="0" rtlCol="0" anchor="ctr"/>
          <a:lstStyle/>
          <a:p>
            <a:pPr marL="0" indent="0">
              <a:buNone/>
            </a:pPr>
            <a:r>
              <a:rPr lang="en-US" sz="1500" b="1" dirty="0">
                <a:solidFill>
                  <a:schemeClr val="bg1"/>
                </a:solidFill>
              </a:rPr>
              <a:t>Parts are tested one by one. Running them together end to end is the next step.</a:t>
            </a:r>
            <a:endParaRPr lang="en-US" sz="1500" dirty="0"/>
          </a:p>
        </p:txBody>
      </p:sp>
      <p:sp>
        <p:nvSpPr>
          <p:cNvPr id="42" name="Slide Number Placeholder 0"/>
          <p:cNvSpPr>
            <a:spLocks noGrp="1"/>
          </p:cNvSpPr>
          <p:nvPr>
            <p:ph type="sldNum" sz="quarter" idx="4294967295"/>
          </p:nvPr>
        </p:nvSpPr>
        <p:spPr>
          <a:xfrm>
            <a:off x="10725912" y="6419088"/>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5</a:t>
            </a:fld>
            <a:endParaRPr lang="en-US"/>
          </a:p>
        </p:txBody>
      </p:sp>
      <p:sp>
        <p:nvSpPr>
          <p:cNvPr id="44" name="Status WORKING">
            <a:extLst>
              <a:ext uri="{FF2B5EF4-FFF2-40B4-BE49-F238E27FC236}">
                <a16:creationId xmlns:a16="http://schemas.microsoft.com/office/drawing/2014/main" id="{5F8DADC2-FBDB-24F3-5D31-FFB74A73718F}"/>
              </a:ext>
            </a:extLst>
          </p:cNvPr>
          <p:cNvSpPr/>
          <p:nvPr/>
        </p:nvSpPr>
        <p:spPr>
          <a:xfrm>
            <a:off x="6446520" y="2231136"/>
            <a:ext cx="914400" cy="237744"/>
          </a:xfrm>
          <a:prstGeom prst="roundRect">
            <a:avLst>
              <a:gd name="adj" fmla="val 30769"/>
            </a:avLst>
          </a:prstGeom>
          <a:solidFill>
            <a:schemeClr val="accent2"/>
          </a:solidFill>
          <a:ln/>
        </p:spPr>
        <p:txBody>
          <a:bodyPr wrap="square" lIns="0" tIns="0" rIns="0" bIns="0" rtlCol="0" anchor="ctr"/>
          <a:lstStyle/>
          <a:p>
            <a:pPr marL="0" indent="0" algn="ctr">
              <a:buNone/>
            </a:pPr>
            <a:r>
              <a:rPr lang="en-US" sz="1000" b="1" kern="0" spc="50" dirty="0">
                <a:solidFill>
                  <a:schemeClr val="bg1"/>
                </a:solidFill>
              </a:rPr>
              <a:t>WORKING</a:t>
            </a:r>
            <a:endParaRPr lang="en-US" sz="1000" dirty="0"/>
          </a:p>
        </p:txBody>
      </p:sp>
      <p:sp>
        <p:nvSpPr>
          <p:cNvPr id="46" name="Status WORKING">
            <a:extLst>
              <a:ext uri="{FF2B5EF4-FFF2-40B4-BE49-F238E27FC236}">
                <a16:creationId xmlns:a16="http://schemas.microsoft.com/office/drawing/2014/main" id="{975EE554-AD7B-5F5B-ECC0-3076713ED586}"/>
              </a:ext>
            </a:extLst>
          </p:cNvPr>
          <p:cNvSpPr/>
          <p:nvPr/>
        </p:nvSpPr>
        <p:spPr>
          <a:xfrm>
            <a:off x="10573512" y="4038600"/>
            <a:ext cx="914400" cy="237744"/>
          </a:xfrm>
          <a:prstGeom prst="roundRect">
            <a:avLst>
              <a:gd name="adj" fmla="val 30769"/>
            </a:avLst>
          </a:prstGeom>
          <a:solidFill>
            <a:schemeClr val="accent2"/>
          </a:solidFill>
          <a:ln/>
        </p:spPr>
        <p:txBody>
          <a:bodyPr wrap="square" lIns="0" tIns="0" rIns="0" bIns="0" rtlCol="0" anchor="ctr"/>
          <a:lstStyle/>
          <a:p>
            <a:pPr marL="0" indent="0" algn="ctr">
              <a:buNone/>
            </a:pPr>
            <a:r>
              <a:rPr lang="en-US" sz="1000" b="1" kern="0" spc="50" dirty="0">
                <a:solidFill>
                  <a:schemeClr val="bg1"/>
                </a:solidFill>
              </a:rPr>
              <a:t>WORKING</a:t>
            </a:r>
            <a:endParaRPr lang="en-US" sz="1000" dirty="0"/>
          </a:p>
        </p:txBody>
      </p:sp>
      <p:sp>
        <p:nvSpPr>
          <p:cNvPr id="48" name="Status WORKING">
            <a:extLst>
              <a:ext uri="{FF2B5EF4-FFF2-40B4-BE49-F238E27FC236}">
                <a16:creationId xmlns:a16="http://schemas.microsoft.com/office/drawing/2014/main" id="{7A1D3E8F-191F-149E-ECBE-F5B51673609D}"/>
              </a:ext>
            </a:extLst>
          </p:cNvPr>
          <p:cNvSpPr/>
          <p:nvPr/>
        </p:nvSpPr>
        <p:spPr>
          <a:xfrm>
            <a:off x="10543032" y="4465320"/>
            <a:ext cx="914400" cy="237744"/>
          </a:xfrm>
          <a:prstGeom prst="roundRect">
            <a:avLst>
              <a:gd name="adj" fmla="val 30769"/>
            </a:avLst>
          </a:prstGeom>
          <a:solidFill>
            <a:schemeClr val="accent2"/>
          </a:solidFill>
          <a:ln/>
        </p:spPr>
        <p:txBody>
          <a:bodyPr wrap="square" lIns="0" tIns="0" rIns="0" bIns="0" rtlCol="0" anchor="ctr"/>
          <a:lstStyle/>
          <a:p>
            <a:pPr marL="0" indent="0" algn="ctr">
              <a:buNone/>
            </a:pPr>
            <a:r>
              <a:rPr lang="en-US" sz="1000" b="1" kern="0" spc="50" dirty="0">
                <a:solidFill>
                  <a:schemeClr val="bg1"/>
                </a:solidFill>
              </a:rPr>
              <a:t>WORKING</a:t>
            </a:r>
            <a:endParaRPr lang="en-US" sz="1000" dirty="0"/>
          </a:p>
        </p:txBody>
      </p:sp>
      <p:sp>
        <p:nvSpPr>
          <p:cNvPr id="50" name="Status WORKING">
            <a:extLst>
              <a:ext uri="{FF2B5EF4-FFF2-40B4-BE49-F238E27FC236}">
                <a16:creationId xmlns:a16="http://schemas.microsoft.com/office/drawing/2014/main" id="{5DF386E2-CF44-4060-E8C3-0625A994CC1D}"/>
              </a:ext>
            </a:extLst>
          </p:cNvPr>
          <p:cNvSpPr/>
          <p:nvPr/>
        </p:nvSpPr>
        <p:spPr>
          <a:xfrm>
            <a:off x="10543032" y="4919472"/>
            <a:ext cx="914400" cy="237744"/>
          </a:xfrm>
          <a:prstGeom prst="roundRect">
            <a:avLst>
              <a:gd name="adj" fmla="val 30769"/>
            </a:avLst>
          </a:prstGeom>
          <a:solidFill>
            <a:schemeClr val="accent2"/>
          </a:solidFill>
          <a:ln/>
        </p:spPr>
        <p:txBody>
          <a:bodyPr wrap="square" lIns="0" tIns="0" rIns="0" bIns="0" rtlCol="0" anchor="ctr"/>
          <a:lstStyle/>
          <a:p>
            <a:pPr marL="0" indent="0" algn="ctr">
              <a:buNone/>
            </a:pPr>
            <a:r>
              <a:rPr lang="en-US" sz="1000" b="1" kern="0" spc="50" dirty="0">
                <a:solidFill>
                  <a:schemeClr val="bg1"/>
                </a:solidFill>
              </a:rPr>
              <a:t>WORKING</a:t>
            </a:r>
            <a:endParaRPr lang="en-US" sz="1000" dirty="0"/>
          </a:p>
        </p:txBody>
      </p:sp>
      <p:sp>
        <p:nvSpPr>
          <p:cNvPr id="52" name="Status WORKING">
            <a:extLst>
              <a:ext uri="{FF2B5EF4-FFF2-40B4-BE49-F238E27FC236}">
                <a16:creationId xmlns:a16="http://schemas.microsoft.com/office/drawing/2014/main" id="{A934BA3E-F455-E321-F265-1C40B9BAF2CE}"/>
              </a:ext>
            </a:extLst>
          </p:cNvPr>
          <p:cNvSpPr/>
          <p:nvPr/>
        </p:nvSpPr>
        <p:spPr>
          <a:xfrm>
            <a:off x="10486243" y="3541215"/>
            <a:ext cx="914400" cy="237744"/>
          </a:xfrm>
          <a:prstGeom prst="roundRect">
            <a:avLst>
              <a:gd name="adj" fmla="val 30769"/>
            </a:avLst>
          </a:prstGeom>
          <a:solidFill>
            <a:schemeClr val="accent2"/>
          </a:solidFill>
          <a:ln/>
        </p:spPr>
        <p:txBody>
          <a:bodyPr wrap="square" lIns="0" tIns="0" rIns="0" bIns="0" rtlCol="0" anchor="ctr"/>
          <a:lstStyle/>
          <a:p>
            <a:pPr marL="0" indent="0" algn="ctr">
              <a:buNone/>
            </a:pPr>
            <a:r>
              <a:rPr lang="en-US" sz="1000" b="1" kern="0" spc="50" dirty="0">
                <a:solidFill>
                  <a:schemeClr val="bg1"/>
                </a:solidFill>
              </a:rPr>
              <a:t>WORKING</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AI and Intelligence Layer">
    <p:spTree>
      <p:nvGrpSpPr>
        <p:cNvPr id="1" name=""/>
        <p:cNvGrpSpPr/>
        <p:nvPr/>
      </p:nvGrpSpPr>
      <p:grpSpPr>
        <a:xfrm>
          <a:off x="0" y="0"/>
          <a:ext cx="0" cy="0"/>
          <a:chOff x="0" y="0"/>
          <a:chExt cx="0" cy="0"/>
        </a:xfrm>
      </p:grpSpPr>
      <p:sp>
        <p:nvSpPr>
          <p:cNvPr id="2" name="Eyebrow"/>
          <p:cNvSpPr txBox="1"/>
          <p:nvPr/>
        </p:nvSpPr>
        <p:spPr>
          <a:xfrm>
            <a:off x="548640" y="310896"/>
            <a:ext cx="7315200" cy="237744"/>
          </a:xfrm>
          <a:prstGeom prst="rect">
            <a:avLst/>
          </a:prstGeom>
          <a:noFill/>
          <a:ln/>
        </p:spPr>
        <p:txBody>
          <a:bodyPr wrap="square" lIns="0" tIns="0" rIns="0" bIns="0" rtlCol="0" anchor="t"/>
          <a:lstStyle/>
          <a:p>
            <a:pPr marL="0" indent="0">
              <a:buNone/>
            </a:pPr>
            <a:r>
              <a:rPr lang="en-US" sz="1600" b="1" kern="0" spc="150" dirty="0">
                <a:solidFill>
                  <a:schemeClr val="accent2"/>
                </a:solidFill>
              </a:rPr>
              <a:t>06  |  AI &amp; INTELLIGENCE LAYER</a:t>
            </a:r>
            <a:endParaRPr lang="en-US" sz="1600" dirty="0"/>
          </a:p>
        </p:txBody>
      </p:sp>
      <p:sp>
        <p:nvSpPr>
          <p:cNvPr id="3" name="Text 1"/>
          <p:cNvSpPr>
            <a:spLocks noGrp="1"/>
          </p:cNvSpPr>
          <p:nvPr>
            <p:ph type="title" idx="101" hasCustomPrompt="1"/>
          </p:nvPr>
        </p:nvSpPr>
        <p:spPr>
          <a:xfrm>
            <a:off x="548640" y="566928"/>
            <a:ext cx="11091672" cy="731520"/>
          </a:xfrm>
          <a:prstGeom prst="rect">
            <a:avLst/>
          </a:prstGeom>
          <a:noFill/>
          <a:ln/>
        </p:spPr>
        <p:txBody>
          <a:bodyPr wrap="square" lIns="0" tIns="0" rIns="0" bIns="0" rtlCol="0" anchor="ctr"/>
          <a:lstStyle/>
          <a:p>
            <a:pPr marL="0" indent="0" algn="l">
              <a:buNone/>
            </a:pPr>
            <a:r>
              <a:rPr lang="en-US" sz="3000" b="1" dirty="0">
                <a:solidFill>
                  <a:schemeClr val="tx2"/>
                </a:solidFill>
                <a:latin typeface="Cambria" pitchFamily="34" charset="0"/>
                <a:ea typeface="Cambria" pitchFamily="34" charset="-122"/>
                <a:cs typeface="Cambria" pitchFamily="34" charset="-120"/>
              </a:rPr>
              <a:t>From field images to class-based decisions</a:t>
            </a:r>
            <a:endParaRPr lang="en-US" sz="3000" dirty="0"/>
          </a:p>
        </p:txBody>
      </p:sp>
      <p:sp>
        <p:nvSpPr>
          <p:cNvPr id="4" name="Model card"/>
          <p:cNvSpPr/>
          <p:nvPr/>
        </p:nvSpPr>
        <p:spPr>
          <a:xfrm>
            <a:off x="548640" y="1280160"/>
            <a:ext cx="4023360" cy="2011680"/>
          </a:xfrm>
          <a:prstGeom prst="roundRect">
            <a:avLst>
              <a:gd name="adj" fmla="val 4090"/>
            </a:avLst>
          </a:prstGeom>
          <a:solidFill>
            <a:schemeClr val="bg1"/>
          </a:solidFill>
          <a:ln w="12700">
            <a:solidFill>
              <a:srgbClr val="D9D2BC"/>
            </a:solidFill>
          </a:ln>
        </p:spPr>
        <p:txBody>
          <a:bodyPr/>
          <a:lstStyle/>
          <a:p>
            <a:endParaRPr lang="en-US"/>
          </a:p>
        </p:txBody>
      </p:sp>
      <p:sp>
        <p:nvSpPr>
          <p:cNvPr id="5" name="Badge AI"/>
          <p:cNvSpPr/>
          <p:nvPr/>
        </p:nvSpPr>
        <p:spPr>
          <a:xfrm>
            <a:off x="731520" y="1408176"/>
            <a:ext cx="329184" cy="329184"/>
          </a:xfrm>
          <a:prstGeom prst="ellipse">
            <a:avLst/>
          </a:prstGeom>
          <a:solidFill>
            <a:schemeClr val="tx2"/>
          </a:solidFill>
          <a:ln>
            <a:noFill/>
          </a:ln>
        </p:spPr>
        <p:txBody>
          <a:bodyPr wrap="square" lIns="0" tIns="0" rIns="0" bIns="0" rtlCol="0" anchor="ctr"/>
          <a:lstStyle/>
          <a:p>
            <a:pPr marL="0" indent="0" algn="ctr">
              <a:spcAft>
                <a:spcPts val="0"/>
              </a:spcAft>
              <a:buNone/>
            </a:pPr>
            <a:r>
              <a:rPr lang="en-US" sz="1200" b="1" dirty="0">
                <a:solidFill>
                  <a:schemeClr val="accent3"/>
                </a:solidFill>
                <a:latin typeface="Cambria"/>
                <a:ea typeface="Cambria"/>
                <a:cs typeface="Cambria"/>
              </a:rPr>
              <a:t>AI</a:t>
            </a:r>
            <a:endParaRPr lang="en-US" sz="1200" dirty="0"/>
          </a:p>
        </p:txBody>
      </p:sp>
      <p:sp>
        <p:nvSpPr>
          <p:cNvPr id="6" name="Model title"/>
          <p:cNvSpPr txBox="1"/>
          <p:nvPr/>
        </p:nvSpPr>
        <p:spPr>
          <a:xfrm>
            <a:off x="1170432" y="1408176"/>
            <a:ext cx="3200400" cy="329184"/>
          </a:xfrm>
          <a:prstGeom prst="rect">
            <a:avLst/>
          </a:prstGeom>
          <a:noFill/>
          <a:ln>
            <a:noFill/>
          </a:ln>
        </p:spPr>
        <p:txBody>
          <a:bodyPr wrap="square" lIns="0" tIns="0" rIns="0" bIns="0" rtlCol="0" anchor="ctr"/>
          <a:lstStyle/>
          <a:p>
            <a:pPr marL="0" indent="0" algn="l">
              <a:spcAft>
                <a:spcPts val="0"/>
              </a:spcAft>
              <a:buNone/>
            </a:pPr>
            <a:r>
              <a:rPr lang="en-US" sz="1600" b="1" dirty="0">
                <a:solidFill>
                  <a:schemeClr val="tx2"/>
                </a:solidFill>
                <a:latin typeface="Cambria"/>
                <a:ea typeface="Cambria"/>
                <a:cs typeface="Cambria"/>
              </a:rPr>
              <a:t>AI Model</a:t>
            </a:r>
            <a:endParaRPr lang="en-US" sz="1600" dirty="0"/>
          </a:p>
        </p:txBody>
      </p:sp>
      <p:sp>
        <p:nvSpPr>
          <p:cNvPr id="7" name="Model body"/>
          <p:cNvSpPr txBox="1"/>
          <p:nvPr/>
        </p:nvSpPr>
        <p:spPr>
          <a:xfrm>
            <a:off x="731520" y="1828800"/>
            <a:ext cx="3657600" cy="1417320"/>
          </a:xfrm>
          <a:prstGeom prst="rect">
            <a:avLst/>
          </a:prstGeom>
          <a:noFill/>
          <a:ln>
            <a:noFill/>
          </a:ln>
        </p:spPr>
        <p:txBody>
          <a:bodyPr wrap="square" lIns="0" tIns="0" rIns="0" bIns="0" rtlCol="0" anchor="t"/>
          <a:lstStyle/>
          <a:p>
            <a:pPr marL="164592" indent="-164592" algn="l">
              <a:spcAft>
                <a:spcPts val="300"/>
              </a:spcAft>
              <a:buClr>
                <a:schemeClr val="accent2"/>
              </a:buClr>
              <a:buFont typeface="Arial"/>
              <a:buChar char="•"/>
            </a:pPr>
            <a:r>
              <a:rPr lang="en-US" sz="1400" dirty="0">
                <a:solidFill>
                  <a:schemeClr val="tx1"/>
                </a:solidFill>
              </a:rPr>
              <a:t>YOLOv8 object detection.</a:t>
            </a:r>
            <a:endParaRPr lang="en-US" sz="1400" dirty="0"/>
          </a:p>
          <a:p>
            <a:pPr marL="164592" indent="-164592" algn="l">
              <a:spcAft>
                <a:spcPts val="300"/>
              </a:spcAft>
              <a:buClr>
                <a:schemeClr val="accent2"/>
              </a:buClr>
              <a:buFont typeface="Arial"/>
              <a:buChar char="•"/>
            </a:pPr>
            <a:r>
              <a:rPr lang="en-US" sz="1400" dirty="0">
                <a:solidFill>
                  <a:schemeClr val="tx1"/>
                </a:solidFill>
              </a:rPr>
              <a:t>Class labels and confidence scores from model inference.</a:t>
            </a:r>
            <a:endParaRPr lang="en-US" sz="1400" dirty="0"/>
          </a:p>
          <a:p>
            <a:pPr marL="164592" indent="-164592" algn="l">
              <a:spcAft>
                <a:spcPts val="0"/>
              </a:spcAft>
              <a:buClr>
                <a:schemeClr val="accent2"/>
              </a:buClr>
              <a:buFont typeface="Arial"/>
              <a:buChar char="•"/>
            </a:pPr>
            <a:r>
              <a:rPr lang="en-US" sz="1400" dirty="0">
                <a:solidFill>
                  <a:schemeClr val="tx1"/>
                </a:solidFill>
              </a:rPr>
              <a:t>Supported classes depend on the loaded model.</a:t>
            </a:r>
            <a:endParaRPr lang="en-US" sz="1400" dirty="0"/>
          </a:p>
        </p:txBody>
      </p:sp>
      <p:sp>
        <p:nvSpPr>
          <p:cNvPr id="8" name="Policy card"/>
          <p:cNvSpPr/>
          <p:nvPr/>
        </p:nvSpPr>
        <p:spPr>
          <a:xfrm>
            <a:off x="4754880" y="1280160"/>
            <a:ext cx="6885432" cy="2011680"/>
          </a:xfrm>
          <a:prstGeom prst="roundRect">
            <a:avLst>
              <a:gd name="adj" fmla="val 4090"/>
            </a:avLst>
          </a:prstGeom>
          <a:solidFill>
            <a:schemeClr val="bg1"/>
          </a:solidFill>
          <a:ln w="12700">
            <a:solidFill>
              <a:srgbClr val="D9D2BC"/>
            </a:solidFill>
          </a:ln>
        </p:spPr>
        <p:txBody>
          <a:bodyPr/>
          <a:lstStyle/>
          <a:p>
            <a:endParaRPr lang="en-US"/>
          </a:p>
        </p:txBody>
      </p:sp>
      <p:sp>
        <p:nvSpPr>
          <p:cNvPr id="9" name="Policy label"/>
          <p:cNvSpPr txBox="1"/>
          <p:nvPr/>
        </p:nvSpPr>
        <p:spPr>
          <a:xfrm>
            <a:off x="4983480" y="1408176"/>
            <a:ext cx="6428232" cy="228600"/>
          </a:xfrm>
          <a:prstGeom prst="rect">
            <a:avLst/>
          </a:prstGeom>
          <a:noFill/>
          <a:ln>
            <a:noFill/>
          </a:ln>
        </p:spPr>
        <p:txBody>
          <a:bodyPr wrap="square" lIns="0" tIns="0" rIns="0" bIns="0" rtlCol="0" anchor="t"/>
          <a:lstStyle/>
          <a:p>
            <a:pPr marL="0" indent="0" algn="l">
              <a:spcAft>
                <a:spcPts val="0"/>
              </a:spcAft>
              <a:buNone/>
            </a:pPr>
            <a:r>
              <a:rPr lang="en-US" sz="1100" b="1" kern="0" spc="150" dirty="0">
                <a:solidFill>
                  <a:schemeClr val="accent2"/>
                </a:solidFill>
              </a:rPr>
              <a:t>SELECTIVE RESPONSE POLICY</a:t>
            </a:r>
            <a:endParaRPr lang="en-US" sz="1100" dirty="0"/>
          </a:p>
        </p:txBody>
      </p:sp>
      <p:sp>
        <p:nvSpPr>
          <p:cNvPr id="10" name="Policy tile 1"/>
          <p:cNvSpPr/>
          <p:nvPr/>
        </p:nvSpPr>
        <p:spPr>
          <a:xfrm>
            <a:off x="4983480" y="1737360"/>
            <a:ext cx="2051304" cy="1417320"/>
          </a:xfrm>
          <a:prstGeom prst="roundRect">
            <a:avLst>
              <a:gd name="adj" fmla="val 4516"/>
            </a:avLst>
          </a:prstGeom>
          <a:solidFill>
            <a:srgbClr val="DCE8DC"/>
          </a:solidFill>
          <a:ln>
            <a:noFill/>
          </a:ln>
        </p:spPr>
        <p:txBody>
          <a:bodyPr/>
          <a:lstStyle/>
          <a:p>
            <a:endParaRPr lang="en-US"/>
          </a:p>
        </p:txBody>
      </p:sp>
      <p:sp>
        <p:nvSpPr>
          <p:cNvPr id="11" name="Status DETERRENCE ON"/>
          <p:cNvSpPr/>
          <p:nvPr/>
        </p:nvSpPr>
        <p:spPr>
          <a:xfrm>
            <a:off x="5120640" y="1847088"/>
            <a:ext cx="1143000" cy="219456"/>
          </a:xfrm>
          <a:prstGeom prst="roundRect">
            <a:avLst>
              <a:gd name="adj" fmla="val 30769"/>
            </a:avLst>
          </a:prstGeom>
          <a:solidFill>
            <a:schemeClr val="accent2"/>
          </a:solidFill>
          <a:ln>
            <a:noFill/>
          </a:ln>
        </p:spPr>
        <p:txBody>
          <a:bodyPr wrap="square" lIns="0" tIns="0" rIns="0" bIns="0" rtlCol="0" anchor="ctr"/>
          <a:lstStyle/>
          <a:p>
            <a:pPr marL="0" indent="0" algn="ctr">
              <a:spcAft>
                <a:spcPts val="0"/>
              </a:spcAft>
              <a:buNone/>
            </a:pPr>
            <a:r>
              <a:rPr lang="en-US" sz="1000" b="1" kern="0" spc="50" dirty="0">
                <a:solidFill>
                  <a:schemeClr val="bg1"/>
                </a:solidFill>
              </a:rPr>
              <a:t>DETERRENCE ON</a:t>
            </a:r>
            <a:endParaRPr lang="en-US" sz="1000" dirty="0"/>
          </a:p>
        </p:txBody>
      </p:sp>
      <p:sp>
        <p:nvSpPr>
          <p:cNvPr id="12" name="Tile head 1"/>
          <p:cNvSpPr txBox="1"/>
          <p:nvPr/>
        </p:nvSpPr>
        <p:spPr>
          <a:xfrm>
            <a:off x="5120640" y="2139696"/>
            <a:ext cx="1776984" cy="457200"/>
          </a:xfrm>
          <a:prstGeom prst="rect">
            <a:avLst/>
          </a:prstGeom>
          <a:noFill/>
          <a:ln>
            <a:noFill/>
          </a:ln>
        </p:spPr>
        <p:txBody>
          <a:bodyPr wrap="square" lIns="0" tIns="0" rIns="0" bIns="0" rtlCol="0" anchor="t"/>
          <a:lstStyle/>
          <a:p>
            <a:pPr marL="0" indent="0" algn="l">
              <a:spcAft>
                <a:spcPts val="0"/>
              </a:spcAft>
              <a:buNone/>
            </a:pPr>
            <a:r>
              <a:rPr lang="en-US" sz="1400" b="1" dirty="0">
                <a:solidFill>
                  <a:schemeClr val="tx2"/>
                </a:solidFill>
              </a:rPr>
              <a:t>Supported animal</a:t>
            </a:r>
            <a:endParaRPr lang="en-US" sz="1400" dirty="0"/>
          </a:p>
        </p:txBody>
      </p:sp>
      <p:sp>
        <p:nvSpPr>
          <p:cNvPr id="13" name="Tile body 1"/>
          <p:cNvSpPr txBox="1"/>
          <p:nvPr/>
        </p:nvSpPr>
        <p:spPr>
          <a:xfrm>
            <a:off x="5120640" y="2606040"/>
            <a:ext cx="1776984" cy="457200"/>
          </a:xfrm>
          <a:prstGeom prst="rect">
            <a:avLst/>
          </a:prstGeom>
          <a:noFill/>
          <a:ln>
            <a:noFill/>
          </a:ln>
        </p:spPr>
        <p:txBody>
          <a:bodyPr wrap="square" lIns="0" tIns="0" rIns="0" bIns="0" rtlCol="0" anchor="t"/>
          <a:lstStyle/>
          <a:p>
            <a:pPr marL="0" indent="0" algn="l">
              <a:spcAft>
                <a:spcPts val="0"/>
              </a:spcAft>
              <a:buNone/>
            </a:pPr>
            <a:r>
              <a:rPr lang="en-US" sz="1400" dirty="0">
                <a:solidFill>
                  <a:schemeClr val="tx1"/>
                </a:solidFill>
              </a:rPr>
              <a:t>Request deterrent audio and arm movement.</a:t>
            </a:r>
            <a:endParaRPr lang="en-US" sz="1400" dirty="0"/>
          </a:p>
        </p:txBody>
      </p:sp>
      <p:sp>
        <p:nvSpPr>
          <p:cNvPr id="14" name="Policy tile 2"/>
          <p:cNvSpPr/>
          <p:nvPr/>
        </p:nvSpPr>
        <p:spPr>
          <a:xfrm>
            <a:off x="7171944" y="1737360"/>
            <a:ext cx="2051304" cy="1417320"/>
          </a:xfrm>
          <a:prstGeom prst="roundRect">
            <a:avLst>
              <a:gd name="adj" fmla="val 4516"/>
            </a:avLst>
          </a:prstGeom>
          <a:solidFill>
            <a:srgbClr val="EEF0EC"/>
          </a:solidFill>
          <a:ln>
            <a:noFill/>
          </a:ln>
        </p:spPr>
        <p:txBody>
          <a:bodyPr/>
          <a:lstStyle/>
          <a:p>
            <a:endParaRPr lang="en-US"/>
          </a:p>
        </p:txBody>
      </p:sp>
      <p:sp>
        <p:nvSpPr>
          <p:cNvPr id="15" name="Status NO RESPONSE"/>
          <p:cNvSpPr/>
          <p:nvPr/>
        </p:nvSpPr>
        <p:spPr>
          <a:xfrm>
            <a:off x="7309104" y="1847088"/>
            <a:ext cx="1143000" cy="219456"/>
          </a:xfrm>
          <a:prstGeom prst="roundRect">
            <a:avLst>
              <a:gd name="adj" fmla="val 30769"/>
            </a:avLst>
          </a:prstGeom>
          <a:solidFill>
            <a:srgbClr val="66756D"/>
          </a:solidFill>
          <a:ln>
            <a:noFill/>
          </a:ln>
        </p:spPr>
        <p:txBody>
          <a:bodyPr wrap="square" lIns="0" tIns="0" rIns="0" bIns="0" rtlCol="0" anchor="ctr"/>
          <a:lstStyle/>
          <a:p>
            <a:pPr marL="0" indent="0" algn="ctr">
              <a:spcAft>
                <a:spcPts val="0"/>
              </a:spcAft>
              <a:buNone/>
            </a:pPr>
            <a:r>
              <a:rPr lang="en-US" sz="1000" b="1" kern="0" spc="50" dirty="0">
                <a:solidFill>
                  <a:srgbClr val="FFFFFF"/>
                </a:solidFill>
              </a:rPr>
              <a:t>NO RESPONSE</a:t>
            </a:r>
            <a:endParaRPr lang="en-US" sz="1000" dirty="0"/>
          </a:p>
        </p:txBody>
      </p:sp>
      <p:sp>
        <p:nvSpPr>
          <p:cNvPr id="16" name="Tile head 2"/>
          <p:cNvSpPr txBox="1"/>
          <p:nvPr/>
        </p:nvSpPr>
        <p:spPr>
          <a:xfrm>
            <a:off x="7309104" y="2139696"/>
            <a:ext cx="1776984" cy="457200"/>
          </a:xfrm>
          <a:prstGeom prst="rect">
            <a:avLst/>
          </a:prstGeom>
          <a:noFill/>
          <a:ln>
            <a:noFill/>
          </a:ln>
        </p:spPr>
        <p:txBody>
          <a:bodyPr wrap="square" lIns="0" tIns="0" rIns="0" bIns="0" rtlCol="0" anchor="t"/>
          <a:lstStyle/>
          <a:p>
            <a:pPr marL="0" indent="0" algn="l">
              <a:spcAft>
                <a:spcPts val="0"/>
              </a:spcAft>
              <a:buNone/>
            </a:pPr>
            <a:r>
              <a:rPr lang="en-US" sz="1400" b="1" dirty="0">
                <a:solidFill>
                  <a:schemeClr val="tx2"/>
                </a:solidFill>
              </a:rPr>
              <a:t>Human</a:t>
            </a:r>
            <a:endParaRPr lang="en-US" sz="1400" dirty="0"/>
          </a:p>
        </p:txBody>
      </p:sp>
      <p:sp>
        <p:nvSpPr>
          <p:cNvPr id="17" name="Tile body 2"/>
          <p:cNvSpPr txBox="1"/>
          <p:nvPr/>
        </p:nvSpPr>
        <p:spPr>
          <a:xfrm>
            <a:off x="7309104" y="2606040"/>
            <a:ext cx="1776984" cy="457200"/>
          </a:xfrm>
          <a:prstGeom prst="rect">
            <a:avLst/>
          </a:prstGeom>
          <a:noFill/>
          <a:ln>
            <a:noFill/>
          </a:ln>
        </p:spPr>
        <p:txBody>
          <a:bodyPr wrap="square" lIns="0" tIns="0" rIns="0" bIns="0" rtlCol="0" anchor="t"/>
          <a:lstStyle/>
          <a:p>
            <a:pPr marL="0" indent="0" algn="l">
              <a:spcAft>
                <a:spcPts val="0"/>
              </a:spcAft>
              <a:buNone/>
            </a:pPr>
            <a:r>
              <a:rPr lang="en-US" sz="1400" dirty="0">
                <a:solidFill>
                  <a:schemeClr val="tx1"/>
                </a:solidFill>
              </a:rPr>
              <a:t>No deterrent response.</a:t>
            </a:r>
            <a:endParaRPr lang="en-US" sz="1400" dirty="0"/>
          </a:p>
        </p:txBody>
      </p:sp>
      <p:sp>
        <p:nvSpPr>
          <p:cNvPr id="18" name="Policy tile 3"/>
          <p:cNvSpPr/>
          <p:nvPr/>
        </p:nvSpPr>
        <p:spPr>
          <a:xfrm>
            <a:off x="9360408" y="1737360"/>
            <a:ext cx="2051304" cy="1417320"/>
          </a:xfrm>
          <a:prstGeom prst="roundRect">
            <a:avLst>
              <a:gd name="adj" fmla="val 4516"/>
            </a:avLst>
          </a:prstGeom>
          <a:solidFill>
            <a:srgbClr val="F4E8DA"/>
          </a:solidFill>
          <a:ln>
            <a:noFill/>
          </a:ln>
        </p:spPr>
        <p:txBody>
          <a:bodyPr/>
          <a:lstStyle/>
          <a:p>
            <a:endParaRPr lang="en-US"/>
          </a:p>
        </p:txBody>
      </p:sp>
      <p:sp>
        <p:nvSpPr>
          <p:cNvPr id="19" name="Status NO RESPONSE"/>
          <p:cNvSpPr/>
          <p:nvPr/>
        </p:nvSpPr>
        <p:spPr>
          <a:xfrm>
            <a:off x="9497568" y="1847088"/>
            <a:ext cx="1143000" cy="219456"/>
          </a:xfrm>
          <a:prstGeom prst="roundRect">
            <a:avLst>
              <a:gd name="adj" fmla="val 30769"/>
            </a:avLst>
          </a:prstGeom>
          <a:solidFill>
            <a:schemeClr val="accent5"/>
          </a:solidFill>
          <a:ln>
            <a:noFill/>
          </a:ln>
        </p:spPr>
        <p:txBody>
          <a:bodyPr wrap="square" lIns="0" tIns="0" rIns="0" bIns="0" rtlCol="0" anchor="ctr"/>
          <a:lstStyle/>
          <a:p>
            <a:pPr marL="0" indent="0" algn="ctr">
              <a:spcAft>
                <a:spcPts val="0"/>
              </a:spcAft>
              <a:buNone/>
            </a:pPr>
            <a:r>
              <a:rPr lang="en-US" sz="1000" b="1" kern="0" spc="50" dirty="0">
                <a:solidFill>
                  <a:schemeClr val="bg1"/>
                </a:solidFill>
              </a:rPr>
              <a:t>NO RESPONSE</a:t>
            </a:r>
            <a:endParaRPr lang="en-US" sz="1000" dirty="0"/>
          </a:p>
        </p:txBody>
      </p:sp>
      <p:sp>
        <p:nvSpPr>
          <p:cNvPr id="20" name="Tile head 3"/>
          <p:cNvSpPr txBox="1"/>
          <p:nvPr/>
        </p:nvSpPr>
        <p:spPr>
          <a:xfrm>
            <a:off x="9497568" y="2139696"/>
            <a:ext cx="1776984" cy="457200"/>
          </a:xfrm>
          <a:prstGeom prst="rect">
            <a:avLst/>
          </a:prstGeom>
          <a:noFill/>
          <a:ln>
            <a:noFill/>
          </a:ln>
        </p:spPr>
        <p:txBody>
          <a:bodyPr wrap="square" lIns="0" tIns="0" rIns="0" bIns="0" rtlCol="0" anchor="t"/>
          <a:lstStyle/>
          <a:p>
            <a:pPr marL="0" indent="0" algn="l">
              <a:spcAft>
                <a:spcPts val="0"/>
              </a:spcAft>
              <a:buNone/>
            </a:pPr>
            <a:r>
              <a:rPr lang="en-US" sz="1400" b="1" dirty="0">
                <a:solidFill>
                  <a:schemeClr val="tx2"/>
                </a:solidFill>
              </a:rPr>
              <a:t>Low confidence or unsupported</a:t>
            </a:r>
            <a:endParaRPr lang="en-US" sz="1400" dirty="0"/>
          </a:p>
        </p:txBody>
      </p:sp>
      <p:sp>
        <p:nvSpPr>
          <p:cNvPr id="21" name="Tile body 3"/>
          <p:cNvSpPr txBox="1"/>
          <p:nvPr/>
        </p:nvSpPr>
        <p:spPr>
          <a:xfrm>
            <a:off x="9497568" y="2606040"/>
            <a:ext cx="1776984" cy="457200"/>
          </a:xfrm>
          <a:prstGeom prst="rect">
            <a:avLst/>
          </a:prstGeom>
          <a:noFill/>
          <a:ln>
            <a:noFill/>
          </a:ln>
        </p:spPr>
        <p:txBody>
          <a:bodyPr wrap="square" lIns="0" tIns="0" rIns="0" bIns="0" rtlCol="0" anchor="t"/>
          <a:lstStyle/>
          <a:p>
            <a:pPr marL="0" indent="0" algn="l">
              <a:spcAft>
                <a:spcPts val="0"/>
              </a:spcAft>
              <a:buNone/>
            </a:pPr>
            <a:r>
              <a:rPr lang="en-US" sz="1400" dirty="0">
                <a:solidFill>
                  <a:schemeClr val="tx1"/>
                </a:solidFill>
              </a:rPr>
              <a:t>No automatic deterrence.</a:t>
            </a:r>
            <a:endParaRPr lang="en-US" sz="1400" dirty="0"/>
          </a:p>
        </p:txBody>
      </p:sp>
      <p:sp>
        <p:nvSpPr>
          <p:cNvPr id="22" name="Pipeline label"/>
          <p:cNvSpPr txBox="1"/>
          <p:nvPr/>
        </p:nvSpPr>
        <p:spPr>
          <a:xfrm>
            <a:off x="548640" y="3383280"/>
            <a:ext cx="5486400" cy="228600"/>
          </a:xfrm>
          <a:prstGeom prst="rect">
            <a:avLst/>
          </a:prstGeom>
          <a:noFill/>
          <a:ln>
            <a:noFill/>
          </a:ln>
        </p:spPr>
        <p:txBody>
          <a:bodyPr wrap="square" lIns="0" tIns="0" rIns="0" bIns="0" rtlCol="0" anchor="t"/>
          <a:lstStyle/>
          <a:p>
            <a:pPr marL="0" indent="0" algn="l">
              <a:spcAft>
                <a:spcPts val="0"/>
              </a:spcAft>
              <a:buNone/>
            </a:pPr>
            <a:r>
              <a:rPr lang="en-US" sz="1100" b="1" kern="0" spc="150" dirty="0">
                <a:solidFill>
                  <a:schemeClr val="accent2"/>
                </a:solidFill>
              </a:rPr>
              <a:t>PROCESSING PIPELINE</a:t>
            </a:r>
            <a:endParaRPr lang="en-US" sz="1100" dirty="0"/>
          </a:p>
        </p:txBody>
      </p:sp>
      <p:sp>
        <p:nvSpPr>
          <p:cNvPr id="23" name="Step 1"/>
          <p:cNvSpPr/>
          <p:nvPr/>
        </p:nvSpPr>
        <p:spPr>
          <a:xfrm>
            <a:off x="548640" y="3657600"/>
            <a:ext cx="1998878" cy="1325880"/>
          </a:xfrm>
          <a:prstGeom prst="roundRect">
            <a:avLst>
              <a:gd name="adj" fmla="val 6206"/>
            </a:avLst>
          </a:prstGeom>
          <a:solidFill>
            <a:schemeClr val="bg1"/>
          </a:solidFill>
          <a:ln w="12700">
            <a:solidFill>
              <a:srgbClr val="D9D2BC"/>
            </a:solidFill>
          </a:ln>
        </p:spPr>
        <p:txBody>
          <a:bodyPr/>
          <a:lstStyle/>
          <a:p>
            <a:endParaRPr lang="en-US"/>
          </a:p>
        </p:txBody>
      </p:sp>
      <p:sp>
        <p:nvSpPr>
          <p:cNvPr id="24" name="Badge 1"/>
          <p:cNvSpPr/>
          <p:nvPr/>
        </p:nvSpPr>
        <p:spPr>
          <a:xfrm>
            <a:off x="685800" y="3794760"/>
            <a:ext cx="329184" cy="329184"/>
          </a:xfrm>
          <a:prstGeom prst="ellipse">
            <a:avLst/>
          </a:prstGeom>
          <a:solidFill>
            <a:schemeClr val="tx2"/>
          </a:solidFill>
          <a:ln>
            <a:noFill/>
          </a:ln>
        </p:spPr>
        <p:txBody>
          <a:bodyPr wrap="square" lIns="0" tIns="0" rIns="0" bIns="0" rtlCol="0" anchor="ctr"/>
          <a:lstStyle/>
          <a:p>
            <a:pPr marL="0" indent="0" algn="ctr">
              <a:spcAft>
                <a:spcPts val="0"/>
              </a:spcAft>
              <a:buNone/>
            </a:pPr>
            <a:r>
              <a:rPr lang="en-US" sz="1400" b="1" dirty="0">
                <a:solidFill>
                  <a:schemeClr val="accent3"/>
                </a:solidFill>
                <a:latin typeface="Cambria"/>
                <a:ea typeface="Cambria"/>
                <a:cs typeface="Cambria"/>
              </a:rPr>
              <a:t>1</a:t>
            </a:r>
            <a:endParaRPr lang="en-US" sz="1400" dirty="0"/>
          </a:p>
        </p:txBody>
      </p:sp>
      <p:sp>
        <p:nvSpPr>
          <p:cNvPr id="25" name="Step text 1"/>
          <p:cNvSpPr txBox="1"/>
          <p:nvPr/>
        </p:nvSpPr>
        <p:spPr>
          <a:xfrm>
            <a:off x="685800" y="4224528"/>
            <a:ext cx="1724558" cy="713232"/>
          </a:xfrm>
          <a:prstGeom prst="rect">
            <a:avLst/>
          </a:prstGeom>
          <a:noFill/>
          <a:ln>
            <a:noFill/>
          </a:ln>
        </p:spPr>
        <p:txBody>
          <a:bodyPr wrap="square" lIns="0" tIns="0" rIns="0" bIns="0" rtlCol="0" anchor="t"/>
          <a:lstStyle/>
          <a:p>
            <a:pPr marL="0" indent="0" algn="l">
              <a:spcAft>
                <a:spcPts val="0"/>
              </a:spcAft>
              <a:buNone/>
            </a:pPr>
            <a:r>
              <a:rPr lang="en-US" sz="1400" dirty="0">
                <a:solidFill>
                  <a:schemeClr val="tx1"/>
                </a:solidFill>
              </a:rPr>
              <a:t>Capture an image from the selected camera.</a:t>
            </a:r>
            <a:endParaRPr lang="en-US" sz="1400" dirty="0"/>
          </a:p>
        </p:txBody>
      </p:sp>
      <p:sp>
        <p:nvSpPr>
          <p:cNvPr id="26" name="Arrow"/>
          <p:cNvSpPr/>
          <p:nvPr/>
        </p:nvSpPr>
        <p:spPr>
          <a:xfrm>
            <a:off x="2574950" y="4201668"/>
            <a:ext cx="219456" cy="237744"/>
          </a:xfrm>
          <a:prstGeom prst="rightArrow">
            <a:avLst/>
          </a:prstGeom>
          <a:solidFill>
            <a:schemeClr val="accent2"/>
          </a:solidFill>
          <a:ln>
            <a:noFill/>
          </a:ln>
        </p:spPr>
        <p:txBody>
          <a:bodyPr/>
          <a:lstStyle/>
          <a:p>
            <a:endParaRPr lang="en-US"/>
          </a:p>
        </p:txBody>
      </p:sp>
      <p:sp>
        <p:nvSpPr>
          <p:cNvPr id="27" name="Step 2"/>
          <p:cNvSpPr/>
          <p:nvPr/>
        </p:nvSpPr>
        <p:spPr>
          <a:xfrm>
            <a:off x="2821838" y="3657600"/>
            <a:ext cx="1998878" cy="1325880"/>
          </a:xfrm>
          <a:prstGeom prst="roundRect">
            <a:avLst>
              <a:gd name="adj" fmla="val 6206"/>
            </a:avLst>
          </a:prstGeom>
          <a:solidFill>
            <a:schemeClr val="bg1"/>
          </a:solidFill>
          <a:ln w="12700">
            <a:solidFill>
              <a:srgbClr val="D9D2BC"/>
            </a:solidFill>
          </a:ln>
        </p:spPr>
        <p:txBody>
          <a:bodyPr/>
          <a:lstStyle/>
          <a:p>
            <a:endParaRPr lang="en-US"/>
          </a:p>
        </p:txBody>
      </p:sp>
      <p:sp>
        <p:nvSpPr>
          <p:cNvPr id="28" name="Badge 2"/>
          <p:cNvSpPr/>
          <p:nvPr/>
        </p:nvSpPr>
        <p:spPr>
          <a:xfrm>
            <a:off x="2958998" y="3794760"/>
            <a:ext cx="329184" cy="329184"/>
          </a:xfrm>
          <a:prstGeom prst="ellipse">
            <a:avLst/>
          </a:prstGeom>
          <a:solidFill>
            <a:schemeClr val="tx2"/>
          </a:solidFill>
          <a:ln>
            <a:noFill/>
          </a:ln>
        </p:spPr>
        <p:txBody>
          <a:bodyPr wrap="square" lIns="0" tIns="0" rIns="0" bIns="0" rtlCol="0" anchor="ctr"/>
          <a:lstStyle/>
          <a:p>
            <a:pPr marL="0" indent="0" algn="ctr">
              <a:spcAft>
                <a:spcPts val="0"/>
              </a:spcAft>
              <a:buNone/>
            </a:pPr>
            <a:r>
              <a:rPr lang="en-US" sz="1400" b="1" dirty="0">
                <a:solidFill>
                  <a:schemeClr val="accent3"/>
                </a:solidFill>
                <a:latin typeface="Cambria"/>
                <a:ea typeface="Cambria"/>
                <a:cs typeface="Cambria"/>
              </a:rPr>
              <a:t>2</a:t>
            </a:r>
            <a:endParaRPr lang="en-US" sz="1400" dirty="0"/>
          </a:p>
        </p:txBody>
      </p:sp>
      <p:sp>
        <p:nvSpPr>
          <p:cNvPr id="29" name="Step text 2"/>
          <p:cNvSpPr txBox="1"/>
          <p:nvPr/>
        </p:nvSpPr>
        <p:spPr>
          <a:xfrm>
            <a:off x="2958998" y="4224528"/>
            <a:ext cx="1724558" cy="713232"/>
          </a:xfrm>
          <a:prstGeom prst="rect">
            <a:avLst/>
          </a:prstGeom>
          <a:noFill/>
          <a:ln>
            <a:noFill/>
          </a:ln>
        </p:spPr>
        <p:txBody>
          <a:bodyPr wrap="square" lIns="0" tIns="0" rIns="0" bIns="0" rtlCol="0" anchor="t"/>
          <a:lstStyle/>
          <a:p>
            <a:pPr marL="0" indent="0" algn="l">
              <a:spcAft>
                <a:spcPts val="0"/>
              </a:spcAft>
              <a:buNone/>
            </a:pPr>
            <a:r>
              <a:rPr lang="en-US" sz="1400" dirty="0">
                <a:solidFill>
                  <a:schemeClr val="tx1"/>
                </a:solidFill>
              </a:rPr>
              <a:t>Run inference on the connected AI processing host.</a:t>
            </a:r>
            <a:endParaRPr lang="en-US" sz="1400" dirty="0"/>
          </a:p>
        </p:txBody>
      </p:sp>
      <p:sp>
        <p:nvSpPr>
          <p:cNvPr id="30" name="Arrow"/>
          <p:cNvSpPr/>
          <p:nvPr/>
        </p:nvSpPr>
        <p:spPr>
          <a:xfrm>
            <a:off x="4848149" y="4201668"/>
            <a:ext cx="219456" cy="237744"/>
          </a:xfrm>
          <a:prstGeom prst="rightArrow">
            <a:avLst/>
          </a:prstGeom>
          <a:solidFill>
            <a:schemeClr val="accent2"/>
          </a:solidFill>
          <a:ln>
            <a:noFill/>
          </a:ln>
        </p:spPr>
        <p:txBody>
          <a:bodyPr/>
          <a:lstStyle/>
          <a:p>
            <a:endParaRPr lang="en-US"/>
          </a:p>
        </p:txBody>
      </p:sp>
      <p:sp>
        <p:nvSpPr>
          <p:cNvPr id="31" name="Step 3"/>
          <p:cNvSpPr/>
          <p:nvPr/>
        </p:nvSpPr>
        <p:spPr>
          <a:xfrm>
            <a:off x="5095037" y="3657600"/>
            <a:ext cx="1998878" cy="1325880"/>
          </a:xfrm>
          <a:prstGeom prst="roundRect">
            <a:avLst>
              <a:gd name="adj" fmla="val 6206"/>
            </a:avLst>
          </a:prstGeom>
          <a:solidFill>
            <a:schemeClr val="bg1"/>
          </a:solidFill>
          <a:ln w="12700">
            <a:solidFill>
              <a:srgbClr val="D9D2BC"/>
            </a:solidFill>
          </a:ln>
        </p:spPr>
        <p:txBody>
          <a:bodyPr/>
          <a:lstStyle/>
          <a:p>
            <a:endParaRPr lang="en-US"/>
          </a:p>
        </p:txBody>
      </p:sp>
      <p:sp>
        <p:nvSpPr>
          <p:cNvPr id="32" name="Badge 3"/>
          <p:cNvSpPr/>
          <p:nvPr/>
        </p:nvSpPr>
        <p:spPr>
          <a:xfrm>
            <a:off x="5232197" y="3794760"/>
            <a:ext cx="329184" cy="329184"/>
          </a:xfrm>
          <a:prstGeom prst="ellipse">
            <a:avLst/>
          </a:prstGeom>
          <a:solidFill>
            <a:schemeClr val="tx2"/>
          </a:solidFill>
          <a:ln>
            <a:noFill/>
          </a:ln>
        </p:spPr>
        <p:txBody>
          <a:bodyPr wrap="square" lIns="0" tIns="0" rIns="0" bIns="0" rtlCol="0" anchor="ctr"/>
          <a:lstStyle/>
          <a:p>
            <a:pPr marL="0" indent="0" algn="ctr">
              <a:spcAft>
                <a:spcPts val="0"/>
              </a:spcAft>
              <a:buNone/>
            </a:pPr>
            <a:r>
              <a:rPr lang="en-US" sz="1400" b="1" dirty="0">
                <a:solidFill>
                  <a:schemeClr val="accent3"/>
                </a:solidFill>
                <a:latin typeface="Cambria"/>
                <a:ea typeface="Cambria"/>
                <a:cs typeface="Cambria"/>
              </a:rPr>
              <a:t>3</a:t>
            </a:r>
            <a:endParaRPr lang="en-US" sz="1400" dirty="0"/>
          </a:p>
        </p:txBody>
      </p:sp>
      <p:sp>
        <p:nvSpPr>
          <p:cNvPr id="33" name="Step text 3"/>
          <p:cNvSpPr txBox="1"/>
          <p:nvPr/>
        </p:nvSpPr>
        <p:spPr>
          <a:xfrm>
            <a:off x="5232197" y="4224528"/>
            <a:ext cx="1724558" cy="713232"/>
          </a:xfrm>
          <a:prstGeom prst="rect">
            <a:avLst/>
          </a:prstGeom>
          <a:noFill/>
          <a:ln>
            <a:noFill/>
          </a:ln>
        </p:spPr>
        <p:txBody>
          <a:bodyPr wrap="square" lIns="0" tIns="0" rIns="0" bIns="0" rtlCol="0" anchor="t"/>
          <a:lstStyle/>
          <a:p>
            <a:pPr marL="0" indent="0" algn="l">
              <a:spcAft>
                <a:spcPts val="0"/>
              </a:spcAft>
              <a:buNone/>
            </a:pPr>
            <a:r>
              <a:rPr lang="en-US" sz="1400" dirty="0">
                <a:solidFill>
                  <a:schemeClr val="tx1"/>
                </a:solidFill>
              </a:rPr>
              <a:t>Display bounding boxes, class names and confidence scores.</a:t>
            </a:r>
            <a:endParaRPr lang="en-US" sz="1400" dirty="0"/>
          </a:p>
        </p:txBody>
      </p:sp>
      <p:sp>
        <p:nvSpPr>
          <p:cNvPr id="34" name="Arrow"/>
          <p:cNvSpPr/>
          <p:nvPr/>
        </p:nvSpPr>
        <p:spPr>
          <a:xfrm>
            <a:off x="7121347" y="4201668"/>
            <a:ext cx="219456" cy="237744"/>
          </a:xfrm>
          <a:prstGeom prst="rightArrow">
            <a:avLst/>
          </a:prstGeom>
          <a:solidFill>
            <a:schemeClr val="accent2"/>
          </a:solidFill>
          <a:ln>
            <a:noFill/>
          </a:ln>
        </p:spPr>
        <p:txBody>
          <a:bodyPr/>
          <a:lstStyle/>
          <a:p>
            <a:endParaRPr lang="en-US"/>
          </a:p>
        </p:txBody>
      </p:sp>
      <p:sp>
        <p:nvSpPr>
          <p:cNvPr id="35" name="Step 4"/>
          <p:cNvSpPr/>
          <p:nvPr/>
        </p:nvSpPr>
        <p:spPr>
          <a:xfrm>
            <a:off x="7368235" y="3657600"/>
            <a:ext cx="1998878" cy="1325880"/>
          </a:xfrm>
          <a:prstGeom prst="roundRect">
            <a:avLst>
              <a:gd name="adj" fmla="val 6206"/>
            </a:avLst>
          </a:prstGeom>
          <a:solidFill>
            <a:schemeClr val="bg1"/>
          </a:solidFill>
          <a:ln w="12700">
            <a:solidFill>
              <a:srgbClr val="D9D2BC"/>
            </a:solidFill>
          </a:ln>
        </p:spPr>
        <p:txBody>
          <a:bodyPr/>
          <a:lstStyle/>
          <a:p>
            <a:endParaRPr lang="en-US"/>
          </a:p>
        </p:txBody>
      </p:sp>
      <p:sp>
        <p:nvSpPr>
          <p:cNvPr id="36" name="Badge 4"/>
          <p:cNvSpPr/>
          <p:nvPr/>
        </p:nvSpPr>
        <p:spPr>
          <a:xfrm>
            <a:off x="7505395" y="3794760"/>
            <a:ext cx="329184" cy="329184"/>
          </a:xfrm>
          <a:prstGeom prst="ellipse">
            <a:avLst/>
          </a:prstGeom>
          <a:solidFill>
            <a:schemeClr val="tx2"/>
          </a:solidFill>
          <a:ln>
            <a:noFill/>
          </a:ln>
        </p:spPr>
        <p:txBody>
          <a:bodyPr wrap="square" lIns="0" tIns="0" rIns="0" bIns="0" rtlCol="0" anchor="ctr"/>
          <a:lstStyle/>
          <a:p>
            <a:pPr marL="0" indent="0" algn="ctr">
              <a:spcAft>
                <a:spcPts val="0"/>
              </a:spcAft>
              <a:buNone/>
            </a:pPr>
            <a:r>
              <a:rPr lang="en-US" sz="1400" b="1" dirty="0">
                <a:solidFill>
                  <a:schemeClr val="accent3"/>
                </a:solidFill>
                <a:latin typeface="Cambria"/>
                <a:ea typeface="Cambria"/>
                <a:cs typeface="Cambria"/>
              </a:rPr>
              <a:t>4</a:t>
            </a:r>
            <a:endParaRPr lang="en-US" sz="1400" dirty="0"/>
          </a:p>
        </p:txBody>
      </p:sp>
      <p:sp>
        <p:nvSpPr>
          <p:cNvPr id="37" name="Step text 4"/>
          <p:cNvSpPr txBox="1"/>
          <p:nvPr/>
        </p:nvSpPr>
        <p:spPr>
          <a:xfrm>
            <a:off x="7505395" y="4224528"/>
            <a:ext cx="1724558" cy="713232"/>
          </a:xfrm>
          <a:prstGeom prst="rect">
            <a:avLst/>
          </a:prstGeom>
          <a:noFill/>
          <a:ln>
            <a:noFill/>
          </a:ln>
        </p:spPr>
        <p:txBody>
          <a:bodyPr wrap="square" lIns="0" tIns="0" rIns="0" bIns="0" rtlCol="0" anchor="t"/>
          <a:lstStyle/>
          <a:p>
            <a:pPr marL="0" indent="0" algn="l">
              <a:spcAft>
                <a:spcPts val="0"/>
              </a:spcAft>
              <a:buNone/>
            </a:pPr>
            <a:r>
              <a:rPr lang="en-US" sz="1400" dirty="0">
                <a:solidFill>
                  <a:schemeClr val="tx1"/>
                </a:solidFill>
              </a:rPr>
              <a:t>Apply class filtering, confidence threshold and cooldown rules.</a:t>
            </a:r>
            <a:endParaRPr lang="en-US" sz="1400" dirty="0"/>
          </a:p>
        </p:txBody>
      </p:sp>
      <p:sp>
        <p:nvSpPr>
          <p:cNvPr id="38" name="Arrow"/>
          <p:cNvSpPr/>
          <p:nvPr/>
        </p:nvSpPr>
        <p:spPr>
          <a:xfrm>
            <a:off x="9394546" y="4201668"/>
            <a:ext cx="219456" cy="237744"/>
          </a:xfrm>
          <a:prstGeom prst="rightArrow">
            <a:avLst/>
          </a:prstGeom>
          <a:solidFill>
            <a:schemeClr val="accent2"/>
          </a:solidFill>
          <a:ln>
            <a:noFill/>
          </a:ln>
        </p:spPr>
        <p:txBody>
          <a:bodyPr/>
          <a:lstStyle/>
          <a:p>
            <a:endParaRPr lang="en-US"/>
          </a:p>
        </p:txBody>
      </p:sp>
      <p:sp>
        <p:nvSpPr>
          <p:cNvPr id="39" name="Step 5"/>
          <p:cNvSpPr/>
          <p:nvPr/>
        </p:nvSpPr>
        <p:spPr>
          <a:xfrm>
            <a:off x="9641434" y="3657600"/>
            <a:ext cx="1998878" cy="1325880"/>
          </a:xfrm>
          <a:prstGeom prst="roundRect">
            <a:avLst>
              <a:gd name="adj" fmla="val 6206"/>
            </a:avLst>
          </a:prstGeom>
          <a:solidFill>
            <a:schemeClr val="bg1"/>
          </a:solidFill>
          <a:ln w="12700">
            <a:solidFill>
              <a:srgbClr val="D9D2BC"/>
            </a:solidFill>
          </a:ln>
        </p:spPr>
        <p:txBody>
          <a:bodyPr/>
          <a:lstStyle/>
          <a:p>
            <a:endParaRPr lang="en-US"/>
          </a:p>
        </p:txBody>
      </p:sp>
      <p:sp>
        <p:nvSpPr>
          <p:cNvPr id="40" name="Badge 5"/>
          <p:cNvSpPr/>
          <p:nvPr/>
        </p:nvSpPr>
        <p:spPr>
          <a:xfrm>
            <a:off x="9778594" y="3794760"/>
            <a:ext cx="329184" cy="329184"/>
          </a:xfrm>
          <a:prstGeom prst="ellipse">
            <a:avLst/>
          </a:prstGeom>
          <a:solidFill>
            <a:schemeClr val="tx2"/>
          </a:solidFill>
          <a:ln>
            <a:noFill/>
          </a:ln>
        </p:spPr>
        <p:txBody>
          <a:bodyPr wrap="square" lIns="0" tIns="0" rIns="0" bIns="0" rtlCol="0" anchor="ctr"/>
          <a:lstStyle/>
          <a:p>
            <a:pPr marL="0" indent="0" algn="ctr">
              <a:spcAft>
                <a:spcPts val="0"/>
              </a:spcAft>
              <a:buNone/>
            </a:pPr>
            <a:r>
              <a:rPr lang="en-US" sz="1400" b="1" dirty="0">
                <a:solidFill>
                  <a:schemeClr val="accent3"/>
                </a:solidFill>
                <a:latin typeface="Cambria"/>
                <a:ea typeface="Cambria"/>
                <a:cs typeface="Cambria"/>
              </a:rPr>
              <a:t>5</a:t>
            </a:r>
            <a:endParaRPr lang="en-US" sz="1400" dirty="0"/>
          </a:p>
        </p:txBody>
      </p:sp>
      <p:sp>
        <p:nvSpPr>
          <p:cNvPr id="41" name="Step text 5"/>
          <p:cNvSpPr txBox="1"/>
          <p:nvPr/>
        </p:nvSpPr>
        <p:spPr>
          <a:xfrm>
            <a:off x="9778594" y="4224528"/>
            <a:ext cx="1724558" cy="713232"/>
          </a:xfrm>
          <a:prstGeom prst="rect">
            <a:avLst/>
          </a:prstGeom>
          <a:noFill/>
          <a:ln>
            <a:noFill/>
          </a:ln>
        </p:spPr>
        <p:txBody>
          <a:bodyPr wrap="square" lIns="0" tIns="0" rIns="0" bIns="0" rtlCol="0" anchor="t"/>
          <a:lstStyle/>
          <a:p>
            <a:pPr marL="0" indent="0" algn="l">
              <a:spcAft>
                <a:spcPts val="0"/>
              </a:spcAft>
              <a:buNone/>
            </a:pPr>
            <a:r>
              <a:rPr lang="en-US" sz="1400" dirty="0">
                <a:solidFill>
                  <a:schemeClr val="tx1"/>
                </a:solidFill>
              </a:rPr>
              <a:t>Send an authorized response command to the controller.</a:t>
            </a:r>
            <a:endParaRPr lang="en-US" sz="1400" dirty="0"/>
          </a:p>
        </p:txBody>
      </p:sp>
      <p:sp>
        <p:nvSpPr>
          <p:cNvPr id="42" name="Evidence card"/>
          <p:cNvSpPr/>
          <p:nvPr/>
        </p:nvSpPr>
        <p:spPr>
          <a:xfrm>
            <a:off x="548640" y="5120640"/>
            <a:ext cx="6949440" cy="1051560"/>
          </a:xfrm>
          <a:prstGeom prst="roundRect">
            <a:avLst>
              <a:gd name="adj" fmla="val 7826"/>
            </a:avLst>
          </a:prstGeom>
          <a:solidFill>
            <a:schemeClr val="bg1"/>
          </a:solidFill>
          <a:ln w="12700">
            <a:solidFill>
              <a:srgbClr val="D9D2BC"/>
            </a:solidFill>
          </a:ln>
        </p:spPr>
        <p:txBody>
          <a:bodyPr/>
          <a:lstStyle/>
          <a:p>
            <a:endParaRPr lang="en-US"/>
          </a:p>
        </p:txBody>
      </p:sp>
      <p:sp>
        <p:nvSpPr>
          <p:cNvPr id="43" name="Stat"/>
          <p:cNvSpPr txBox="1"/>
          <p:nvPr/>
        </p:nvSpPr>
        <p:spPr>
          <a:xfrm>
            <a:off x="731520" y="5230368"/>
            <a:ext cx="1554480" cy="548640"/>
          </a:xfrm>
          <a:prstGeom prst="rect">
            <a:avLst/>
          </a:prstGeom>
          <a:noFill/>
          <a:ln>
            <a:noFill/>
          </a:ln>
        </p:spPr>
        <p:txBody>
          <a:bodyPr wrap="square" lIns="0" tIns="0" rIns="0" bIns="0" rtlCol="0" anchor="ctr"/>
          <a:lstStyle/>
          <a:p>
            <a:pPr marL="0" indent="0" algn="ctr">
              <a:spcAft>
                <a:spcPts val="0"/>
              </a:spcAft>
              <a:buNone/>
            </a:pPr>
            <a:r>
              <a:rPr lang="en-US" sz="4000" b="1" dirty="0">
                <a:solidFill>
                  <a:schemeClr val="accent2"/>
                </a:solidFill>
                <a:latin typeface="Cambria"/>
                <a:ea typeface="Cambria"/>
                <a:cs typeface="Cambria"/>
              </a:rPr>
              <a:t>87%</a:t>
            </a:r>
            <a:endParaRPr lang="en-US" sz="4000" dirty="0"/>
          </a:p>
        </p:txBody>
      </p:sp>
      <p:sp>
        <p:nvSpPr>
          <p:cNvPr id="44" name="Stat caption"/>
          <p:cNvSpPr txBox="1"/>
          <p:nvPr/>
        </p:nvSpPr>
        <p:spPr>
          <a:xfrm>
            <a:off x="731520" y="5797296"/>
            <a:ext cx="1554480" cy="228600"/>
          </a:xfrm>
          <a:prstGeom prst="rect">
            <a:avLst/>
          </a:prstGeom>
          <a:noFill/>
          <a:ln>
            <a:noFill/>
          </a:ln>
        </p:spPr>
        <p:txBody>
          <a:bodyPr wrap="square" lIns="0" tIns="0" rIns="0" bIns="0" rtlCol="0" anchor="t"/>
          <a:lstStyle/>
          <a:p>
            <a:pPr marL="0" indent="0" algn="ctr">
              <a:spcAft>
                <a:spcPts val="0"/>
              </a:spcAft>
              <a:buNone/>
            </a:pPr>
            <a:r>
              <a:rPr lang="en-US" sz="1000" b="1" kern="0" spc="50" dirty="0">
                <a:solidFill>
                  <a:schemeClr val="accent4"/>
                </a:solidFill>
              </a:rPr>
              <a:t>SAMPLE COW IMAGE</a:t>
            </a:r>
            <a:endParaRPr lang="en-US" sz="1000" dirty="0"/>
          </a:p>
        </p:txBody>
      </p:sp>
      <p:sp>
        <p:nvSpPr>
          <p:cNvPr id="45" name="Evidence text"/>
          <p:cNvSpPr txBox="1"/>
          <p:nvPr/>
        </p:nvSpPr>
        <p:spPr>
          <a:xfrm>
            <a:off x="2468880" y="5230368"/>
            <a:ext cx="4846320" cy="832104"/>
          </a:xfrm>
          <a:prstGeom prst="rect">
            <a:avLst/>
          </a:prstGeom>
          <a:noFill/>
          <a:ln>
            <a:noFill/>
          </a:ln>
        </p:spPr>
        <p:txBody>
          <a:bodyPr wrap="square" lIns="0" tIns="0" rIns="0" bIns="0" rtlCol="0" anchor="ctr"/>
          <a:lstStyle/>
          <a:p>
            <a:pPr marL="0" indent="0" algn="l">
              <a:spcAft>
                <a:spcPts val="0"/>
              </a:spcAft>
              <a:buNone/>
            </a:pPr>
            <a:r>
              <a:rPr lang="en-US" sz="1400" b="1" dirty="0">
                <a:solidFill>
                  <a:schemeClr val="tx2"/>
                </a:solidFill>
              </a:rPr>
              <a:t>Current evidence: </a:t>
            </a:r>
            <a:r>
              <a:rPr lang="en-US" sz="1400" dirty="0">
                <a:solidFill>
                  <a:schemeClr val="tx1"/>
                </a:solidFill>
              </a:rPr>
              <a:t>A sample cow image has displayed a detection with an 87% confidence score. This is a single-image demonstration, not a measurement of overall model accuracy.</a:t>
            </a:r>
            <a:endParaRPr lang="en-US" sz="1400" dirty="0"/>
          </a:p>
        </p:txBody>
      </p:sp>
      <p:sp>
        <p:nvSpPr>
          <p:cNvPr id="46" name="Milestone card"/>
          <p:cNvSpPr/>
          <p:nvPr/>
        </p:nvSpPr>
        <p:spPr>
          <a:xfrm>
            <a:off x="7680960" y="5120640"/>
            <a:ext cx="3959352" cy="1051560"/>
          </a:xfrm>
          <a:prstGeom prst="roundRect">
            <a:avLst>
              <a:gd name="adj" fmla="val 7826"/>
            </a:avLst>
          </a:prstGeom>
          <a:solidFill>
            <a:schemeClr val="tx2"/>
          </a:solidFill>
          <a:ln>
            <a:noFill/>
          </a:ln>
        </p:spPr>
        <p:txBody>
          <a:bodyPr/>
          <a:lstStyle/>
          <a:p>
            <a:endParaRPr lang="en-US"/>
          </a:p>
        </p:txBody>
      </p:sp>
      <p:sp>
        <p:nvSpPr>
          <p:cNvPr id="47" name="Milestone text"/>
          <p:cNvSpPr txBox="1"/>
          <p:nvPr/>
        </p:nvSpPr>
        <p:spPr>
          <a:xfrm>
            <a:off x="7909560" y="5230368"/>
            <a:ext cx="3502152" cy="832104"/>
          </a:xfrm>
          <a:prstGeom prst="rect">
            <a:avLst/>
          </a:prstGeom>
          <a:noFill/>
          <a:ln>
            <a:noFill/>
          </a:ln>
        </p:spPr>
        <p:txBody>
          <a:bodyPr wrap="square" lIns="0" tIns="0" rIns="0" bIns="0" rtlCol="0" anchor="ctr"/>
          <a:lstStyle/>
          <a:p>
            <a:pPr marL="0" indent="0" algn="l">
              <a:spcAft>
                <a:spcPts val="300"/>
              </a:spcAft>
              <a:buNone/>
            </a:pPr>
            <a:r>
              <a:rPr lang="en-US" sz="1000" b="1" kern="0" spc="150" dirty="0">
                <a:solidFill>
                  <a:schemeClr val="accent3"/>
                </a:solidFill>
              </a:rPr>
              <a:t>NEXT MILESTONE</a:t>
            </a:r>
            <a:endParaRPr lang="en-US" sz="1000" dirty="0"/>
          </a:p>
          <a:p>
            <a:pPr marL="0" indent="0" algn="l">
              <a:spcAft>
                <a:spcPts val="0"/>
              </a:spcAft>
              <a:buNone/>
            </a:pPr>
            <a:r>
              <a:rPr lang="en-US" sz="1400" dirty="0">
                <a:solidFill>
                  <a:schemeClr val="bg1"/>
                </a:solidFill>
              </a:rPr>
              <a:t>Validate supported animal classes and integrate the complete camera-to-controller pipeline.</a:t>
            </a:r>
            <a:endParaRPr lang="en-US" sz="1400" dirty="0"/>
          </a:p>
        </p:txBody>
      </p:sp>
      <p:sp>
        <p:nvSpPr>
          <p:cNvPr id="48" name="Slide Number Placeholder 0"/>
          <p:cNvSpPr>
            <a:spLocks noGrp="1"/>
          </p:cNvSpPr>
          <p:nvPr>
            <p:ph type="sldNum" sz="quarter" idx="4294967295"/>
          </p:nvPr>
        </p:nvSpPr>
        <p:spPr>
          <a:xfrm>
            <a:off x="10725912" y="6419088"/>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11480" y="201168"/>
            <a:ext cx="5486400" cy="237744"/>
          </a:xfrm>
          <a:prstGeom prst="rect">
            <a:avLst/>
          </a:prstGeom>
          <a:noFill/>
          <a:ln/>
        </p:spPr>
        <p:txBody>
          <a:bodyPr wrap="square" lIns="0" tIns="0" rIns="0" bIns="0" rtlCol="0" anchor="t"/>
          <a:lstStyle/>
          <a:p>
            <a:pPr marL="0" indent="0">
              <a:buNone/>
            </a:pPr>
            <a:r>
              <a:rPr lang="en-US" sz="1600" b="1" kern="0" spc="150" dirty="0">
                <a:solidFill>
                  <a:srgbClr val="2E7D4F"/>
                </a:solidFill>
                <a:latin typeface="Calibri" pitchFamily="34" charset="0"/>
                <a:ea typeface="Calibri" pitchFamily="34" charset="-122"/>
                <a:cs typeface="Calibri" pitchFamily="34" charset="-120"/>
              </a:rPr>
              <a:t>08  |  ARCHITECTURE DETAIL</a:t>
            </a:r>
            <a:endParaRPr lang="en-US" sz="1600" b="1" dirty="0"/>
          </a:p>
        </p:txBody>
      </p:sp>
      <p:sp>
        <p:nvSpPr>
          <p:cNvPr id="3" name="Text 1"/>
          <p:cNvSpPr txBox="1"/>
          <p:nvPr/>
        </p:nvSpPr>
        <p:spPr>
          <a:xfrm>
            <a:off x="411480" y="411480"/>
            <a:ext cx="7863840" cy="548640"/>
          </a:xfrm>
          <a:prstGeom prst="rect">
            <a:avLst/>
          </a:prstGeom>
          <a:noFill/>
          <a:ln/>
        </p:spPr>
        <p:txBody>
          <a:bodyPr wrap="square" lIns="0" tIns="0" rIns="0" bIns="0" rtlCol="0" anchor="ctr"/>
          <a:lstStyle/>
          <a:p>
            <a:pPr marL="0" indent="0">
              <a:buNone/>
            </a:pPr>
            <a:r>
              <a:rPr lang="en-US" sz="3000" b="1" dirty="0">
                <a:solidFill>
                  <a:srgbClr val="1F4D36"/>
                </a:solidFill>
                <a:latin typeface="Cambria" pitchFamily="34" charset="0"/>
                <a:ea typeface="Cambria" pitchFamily="34" charset="-122"/>
                <a:cs typeface="Cambria" pitchFamily="34" charset="-120"/>
              </a:rPr>
              <a:t>Smart Bijuka: System Architecture</a:t>
            </a:r>
            <a:endParaRPr lang="en-US" sz="3000" dirty="0"/>
          </a:p>
        </p:txBody>
      </p:sp>
      <p:sp>
        <p:nvSpPr>
          <p:cNvPr id="4" name="Text 2"/>
          <p:cNvSpPr txBox="1"/>
          <p:nvPr/>
        </p:nvSpPr>
        <p:spPr>
          <a:xfrm>
            <a:off x="411480" y="932688"/>
            <a:ext cx="5486400" cy="292608"/>
          </a:xfrm>
          <a:prstGeom prst="rect">
            <a:avLst/>
          </a:prstGeom>
          <a:noFill/>
          <a:ln/>
        </p:spPr>
        <p:txBody>
          <a:bodyPr wrap="square" lIns="0" tIns="0" rIns="0" bIns="0" rtlCol="0" anchor="t"/>
          <a:lstStyle/>
          <a:p>
            <a:pPr marL="0" indent="0">
              <a:buNone/>
            </a:pPr>
            <a:r>
              <a:rPr lang="en-US" sz="1600" dirty="0">
                <a:solidFill>
                  <a:srgbClr val="66756D"/>
                </a:solidFill>
                <a:latin typeface="Calibri" pitchFamily="34" charset="0"/>
                <a:ea typeface="Calibri" pitchFamily="34" charset="-122"/>
                <a:cs typeface="Calibri" pitchFamily="34" charset="-120"/>
              </a:rPr>
              <a:t>Three layers, one data path</a:t>
            </a:r>
            <a:endParaRPr lang="en-US" sz="1600" dirty="0"/>
          </a:p>
        </p:txBody>
      </p:sp>
      <p:sp>
        <p:nvSpPr>
          <p:cNvPr id="5" name="Goal card"/>
          <p:cNvSpPr/>
          <p:nvPr/>
        </p:nvSpPr>
        <p:spPr>
          <a:xfrm>
            <a:off x="8686800" y="182880"/>
            <a:ext cx="3090672" cy="1005840"/>
          </a:xfrm>
          <a:prstGeom prst="roundRect">
            <a:avLst>
              <a:gd name="adj" fmla="val 7273"/>
            </a:avLst>
          </a:prstGeom>
          <a:solidFill>
            <a:srgbClr val="DCE8DC"/>
          </a:solidFill>
          <a:ln w="12700">
            <a:solidFill>
              <a:srgbClr val="DCE8DC"/>
            </a:solidFill>
            <a:prstDash val="solid"/>
          </a:ln>
        </p:spPr>
        <p:txBody>
          <a:bodyPr/>
          <a:lstStyle/>
          <a:p>
            <a:endParaRPr lang="en-IN"/>
          </a:p>
        </p:txBody>
      </p:sp>
      <p:pic>
        <p:nvPicPr>
          <p:cNvPr id="6" name="Image 0" descr="Leaf icon"/>
          <p:cNvPicPr>
            <a:picLocks noChangeAspect="1"/>
          </p:cNvPicPr>
          <p:nvPr/>
        </p:nvPicPr>
        <p:blipFill>
          <a:blip r:embed="rId3"/>
          <a:stretch>
            <a:fillRect/>
          </a:stretch>
        </p:blipFill>
        <p:spPr>
          <a:xfrm>
            <a:off x="8796528" y="530352"/>
            <a:ext cx="347472" cy="347472"/>
          </a:xfrm>
          <a:prstGeom prst="rect">
            <a:avLst/>
          </a:prstGeom>
        </p:spPr>
      </p:pic>
      <p:sp>
        <p:nvSpPr>
          <p:cNvPr id="7" name="Text 4"/>
          <p:cNvSpPr txBox="1"/>
          <p:nvPr/>
        </p:nvSpPr>
        <p:spPr>
          <a:xfrm>
            <a:off x="9235440" y="246888"/>
            <a:ext cx="2468880" cy="219456"/>
          </a:xfrm>
          <a:prstGeom prst="rect">
            <a:avLst/>
          </a:prstGeom>
          <a:noFill/>
          <a:ln/>
        </p:spPr>
        <p:txBody>
          <a:bodyPr wrap="square" lIns="0" tIns="0" rIns="0" bIns="0" rtlCol="0" anchor="t"/>
          <a:lstStyle/>
          <a:p>
            <a:pPr marL="0" indent="0">
              <a:buNone/>
            </a:pPr>
            <a:r>
              <a:rPr lang="en-US" sz="1300" b="1" dirty="0">
                <a:solidFill>
                  <a:srgbClr val="1F4D36"/>
                </a:solidFill>
                <a:latin typeface="Calibri" pitchFamily="34" charset="0"/>
                <a:ea typeface="Calibri" pitchFamily="34" charset="-122"/>
                <a:cs typeface="Calibri" pitchFamily="34" charset="-120"/>
              </a:rPr>
              <a:t>Goal</a:t>
            </a:r>
            <a:endParaRPr lang="en-US" sz="1300" dirty="0"/>
          </a:p>
        </p:txBody>
      </p:sp>
      <p:sp>
        <p:nvSpPr>
          <p:cNvPr id="8" name="Text 5"/>
          <p:cNvSpPr txBox="1"/>
          <p:nvPr/>
        </p:nvSpPr>
        <p:spPr>
          <a:xfrm>
            <a:off x="9235440" y="475488"/>
            <a:ext cx="2468880" cy="685800"/>
          </a:xfrm>
          <a:prstGeom prst="rect">
            <a:avLst/>
          </a:prstGeom>
          <a:noFill/>
          <a:ln/>
        </p:spPr>
        <p:txBody>
          <a:bodyPr wrap="square" lIns="0" tIns="0" rIns="0" bIns="0" rtlCol="0" anchor="t"/>
          <a:lstStyle/>
          <a:p>
            <a:pPr marL="0" indent="0">
              <a:buNone/>
            </a:pPr>
            <a:r>
              <a:rPr lang="en-US" sz="1050" dirty="0">
                <a:solidFill>
                  <a:srgbClr val="1B2A22"/>
                </a:solidFill>
                <a:latin typeface="Calibri" pitchFamily="34" charset="0"/>
                <a:ea typeface="Calibri" pitchFamily="34" charset="-122"/>
                <a:cs typeface="Calibri" pitchFamily="34" charset="-120"/>
              </a:rPr>
              <a:t>Detect field intruders, respond selectively and record events using a reliable, low-cost, solar-assisted system.</a:t>
            </a:r>
            <a:endParaRPr lang="en-US" sz="1050" dirty="0"/>
          </a:p>
        </p:txBody>
      </p:sp>
      <p:sp>
        <p:nvSpPr>
          <p:cNvPr id="9" name="Layer header A"/>
          <p:cNvSpPr/>
          <p:nvPr/>
        </p:nvSpPr>
        <p:spPr>
          <a:xfrm>
            <a:off x="411480" y="1298448"/>
            <a:ext cx="3931920" cy="530352"/>
          </a:xfrm>
          <a:prstGeom prst="roundRect">
            <a:avLst>
              <a:gd name="adj" fmla="val 13793"/>
            </a:avLst>
          </a:prstGeom>
          <a:solidFill>
            <a:srgbClr val="1F4D36"/>
          </a:solidFill>
          <a:ln w="12700">
            <a:solidFill>
              <a:srgbClr val="1F4D36"/>
            </a:solidFill>
            <a:prstDash val="solid"/>
          </a:ln>
        </p:spPr>
        <p:txBody>
          <a:bodyPr/>
          <a:lstStyle/>
          <a:p>
            <a:endParaRPr lang="en-IN"/>
          </a:p>
        </p:txBody>
      </p:sp>
      <p:sp>
        <p:nvSpPr>
          <p:cNvPr id="10" name="Text 7"/>
          <p:cNvSpPr/>
          <p:nvPr/>
        </p:nvSpPr>
        <p:spPr>
          <a:xfrm>
            <a:off x="502920" y="1371600"/>
            <a:ext cx="365760" cy="384048"/>
          </a:xfrm>
          <a:prstGeom prst="rect">
            <a:avLst/>
          </a:prstGeom>
          <a:noFill/>
          <a:ln/>
        </p:spPr>
        <p:txBody>
          <a:bodyPr wrap="square" lIns="0" tIns="0" rIns="0" bIns="0" rtlCol="0" anchor="ctr"/>
          <a:lstStyle/>
          <a:p>
            <a:pPr marL="0" indent="0" algn="ctr">
              <a:buNone/>
            </a:pPr>
            <a:r>
              <a:rPr lang="en-US" sz="1600" b="1" dirty="0">
                <a:solidFill>
                  <a:srgbClr val="D9B84A"/>
                </a:solidFill>
                <a:latin typeface="Cambria" pitchFamily="34" charset="0"/>
                <a:ea typeface="Cambria" pitchFamily="34" charset="-122"/>
                <a:cs typeface="Cambria" pitchFamily="34" charset="-120"/>
              </a:rPr>
              <a:t>A</a:t>
            </a:r>
            <a:endParaRPr lang="en-US" sz="1600" dirty="0"/>
          </a:p>
        </p:txBody>
      </p:sp>
      <p:sp>
        <p:nvSpPr>
          <p:cNvPr id="11" name="Text 8"/>
          <p:cNvSpPr txBox="1"/>
          <p:nvPr/>
        </p:nvSpPr>
        <p:spPr>
          <a:xfrm>
            <a:off x="868680" y="1335024"/>
            <a:ext cx="3429000" cy="274320"/>
          </a:xfrm>
          <a:prstGeom prst="rect">
            <a:avLst/>
          </a:prstGeom>
          <a:noFill/>
          <a:ln/>
        </p:spPr>
        <p:txBody>
          <a:bodyPr wrap="square" lIns="0" tIns="0" rIns="0" bIns="0" rtlCol="0" anchor="ctr"/>
          <a:lstStyle/>
          <a:p>
            <a:pPr marL="0" indent="0">
              <a:buNone/>
            </a:pPr>
            <a:r>
              <a:rPr lang="en-US" sz="1300" b="1" kern="0" spc="100" dirty="0">
                <a:solidFill>
                  <a:srgbClr val="FFFFFF"/>
                </a:solidFill>
                <a:latin typeface="Calibri" pitchFamily="34" charset="0"/>
                <a:ea typeface="Calibri" pitchFamily="34" charset="-122"/>
                <a:cs typeface="Calibri" pitchFamily="34" charset="-120"/>
              </a:rPr>
              <a:t>DEVICE AND HARDWARE LAYER</a:t>
            </a:r>
            <a:endParaRPr lang="en-US" sz="1300" dirty="0"/>
          </a:p>
        </p:txBody>
      </p:sp>
      <p:sp>
        <p:nvSpPr>
          <p:cNvPr id="12" name="Text 9"/>
          <p:cNvSpPr txBox="1"/>
          <p:nvPr/>
        </p:nvSpPr>
        <p:spPr>
          <a:xfrm>
            <a:off x="868680" y="1591056"/>
            <a:ext cx="3429000" cy="201168"/>
          </a:xfrm>
          <a:prstGeom prst="rect">
            <a:avLst/>
          </a:prstGeom>
          <a:noFill/>
          <a:ln/>
        </p:spPr>
        <p:txBody>
          <a:bodyPr wrap="square" lIns="0" tIns="0" rIns="0" bIns="0" rtlCol="0" anchor="t"/>
          <a:lstStyle/>
          <a:p>
            <a:pPr marL="0" indent="0">
              <a:buNone/>
            </a:pPr>
            <a:r>
              <a:rPr lang="en-US" sz="1000" dirty="0">
                <a:solidFill>
                  <a:srgbClr val="E8EFE8"/>
                </a:solidFill>
                <a:latin typeface="Calibri" pitchFamily="34" charset="0"/>
                <a:ea typeface="Calibri" pitchFamily="34" charset="-122"/>
                <a:cs typeface="Calibri" pitchFamily="34" charset="-120"/>
              </a:rPr>
              <a:t>Field unit: senses and acts</a:t>
            </a:r>
            <a:endParaRPr lang="en-US" sz="1000" dirty="0"/>
          </a:p>
        </p:txBody>
      </p:sp>
      <p:sp>
        <p:nvSpPr>
          <p:cNvPr id="13" name="Layer header B"/>
          <p:cNvSpPr/>
          <p:nvPr/>
        </p:nvSpPr>
        <p:spPr>
          <a:xfrm>
            <a:off x="4526280" y="1298448"/>
            <a:ext cx="3657600" cy="530352"/>
          </a:xfrm>
          <a:prstGeom prst="roundRect">
            <a:avLst>
              <a:gd name="adj" fmla="val 13793"/>
            </a:avLst>
          </a:prstGeom>
          <a:solidFill>
            <a:srgbClr val="1F4D36"/>
          </a:solidFill>
          <a:ln w="12700">
            <a:solidFill>
              <a:srgbClr val="1F4D36"/>
            </a:solidFill>
            <a:prstDash val="solid"/>
          </a:ln>
        </p:spPr>
        <p:txBody>
          <a:bodyPr/>
          <a:lstStyle/>
          <a:p>
            <a:endParaRPr lang="en-IN"/>
          </a:p>
        </p:txBody>
      </p:sp>
      <p:sp>
        <p:nvSpPr>
          <p:cNvPr id="14" name="Text 11"/>
          <p:cNvSpPr/>
          <p:nvPr/>
        </p:nvSpPr>
        <p:spPr>
          <a:xfrm>
            <a:off x="4617720" y="1371600"/>
            <a:ext cx="365760" cy="384048"/>
          </a:xfrm>
          <a:prstGeom prst="rect">
            <a:avLst/>
          </a:prstGeom>
          <a:noFill/>
          <a:ln/>
        </p:spPr>
        <p:txBody>
          <a:bodyPr wrap="square" lIns="0" tIns="0" rIns="0" bIns="0" rtlCol="0" anchor="ctr"/>
          <a:lstStyle/>
          <a:p>
            <a:pPr marL="0" indent="0" algn="ctr">
              <a:buNone/>
            </a:pPr>
            <a:r>
              <a:rPr lang="en-US" sz="1600" b="1" dirty="0">
                <a:solidFill>
                  <a:srgbClr val="D9B84A"/>
                </a:solidFill>
                <a:latin typeface="Cambria" pitchFamily="34" charset="0"/>
                <a:ea typeface="Cambria" pitchFamily="34" charset="-122"/>
                <a:cs typeface="Cambria" pitchFamily="34" charset="-120"/>
              </a:rPr>
              <a:t>B</a:t>
            </a:r>
            <a:endParaRPr lang="en-US" sz="1600" dirty="0"/>
          </a:p>
        </p:txBody>
      </p:sp>
      <p:sp>
        <p:nvSpPr>
          <p:cNvPr id="15" name="Text 12"/>
          <p:cNvSpPr txBox="1"/>
          <p:nvPr/>
        </p:nvSpPr>
        <p:spPr>
          <a:xfrm>
            <a:off x="4983480" y="1335024"/>
            <a:ext cx="3154680" cy="274320"/>
          </a:xfrm>
          <a:prstGeom prst="rect">
            <a:avLst/>
          </a:prstGeom>
          <a:noFill/>
          <a:ln/>
        </p:spPr>
        <p:txBody>
          <a:bodyPr wrap="square" lIns="0" tIns="0" rIns="0" bIns="0" rtlCol="0" anchor="ctr"/>
          <a:lstStyle/>
          <a:p>
            <a:pPr marL="0" indent="0">
              <a:buNone/>
            </a:pPr>
            <a:r>
              <a:rPr lang="en-US" sz="1300" b="1" kern="0" spc="100" dirty="0">
                <a:solidFill>
                  <a:srgbClr val="FFFFFF"/>
                </a:solidFill>
                <a:latin typeface="Calibri" pitchFamily="34" charset="0"/>
                <a:ea typeface="Calibri" pitchFamily="34" charset="-122"/>
                <a:cs typeface="Calibri" pitchFamily="34" charset="-120"/>
              </a:rPr>
              <a:t>AI AND DECISION LAYER</a:t>
            </a:r>
            <a:endParaRPr lang="en-US" sz="1300" dirty="0"/>
          </a:p>
        </p:txBody>
      </p:sp>
      <p:sp>
        <p:nvSpPr>
          <p:cNvPr id="16" name="Text 13"/>
          <p:cNvSpPr txBox="1"/>
          <p:nvPr/>
        </p:nvSpPr>
        <p:spPr>
          <a:xfrm>
            <a:off x="4983480" y="1591056"/>
            <a:ext cx="3154680" cy="201168"/>
          </a:xfrm>
          <a:prstGeom prst="rect">
            <a:avLst/>
          </a:prstGeom>
          <a:noFill/>
          <a:ln/>
        </p:spPr>
        <p:txBody>
          <a:bodyPr wrap="square" lIns="0" tIns="0" rIns="0" bIns="0" rtlCol="0" anchor="t"/>
          <a:lstStyle/>
          <a:p>
            <a:pPr marL="0" indent="0">
              <a:buNone/>
            </a:pPr>
            <a:r>
              <a:rPr lang="en-US" sz="1000" dirty="0">
                <a:solidFill>
                  <a:srgbClr val="E8EFE8"/>
                </a:solidFill>
                <a:latin typeface="Calibri" pitchFamily="34" charset="0"/>
                <a:ea typeface="Calibri" pitchFamily="34" charset="-122"/>
                <a:cs typeface="Calibri" pitchFamily="34" charset="-120"/>
              </a:rPr>
              <a:t>Vision and logic: detects and decides</a:t>
            </a:r>
            <a:endParaRPr lang="en-US" sz="1000" dirty="0"/>
          </a:p>
        </p:txBody>
      </p:sp>
      <p:sp>
        <p:nvSpPr>
          <p:cNvPr id="17" name="Layer header C"/>
          <p:cNvSpPr/>
          <p:nvPr/>
        </p:nvSpPr>
        <p:spPr>
          <a:xfrm>
            <a:off x="8686800" y="1298448"/>
            <a:ext cx="3090672" cy="530352"/>
          </a:xfrm>
          <a:prstGeom prst="roundRect">
            <a:avLst>
              <a:gd name="adj" fmla="val 13793"/>
            </a:avLst>
          </a:prstGeom>
          <a:solidFill>
            <a:srgbClr val="1F4D36"/>
          </a:solidFill>
          <a:ln w="12700">
            <a:solidFill>
              <a:srgbClr val="1F4D36"/>
            </a:solidFill>
            <a:prstDash val="solid"/>
          </a:ln>
        </p:spPr>
        <p:txBody>
          <a:bodyPr/>
          <a:lstStyle/>
          <a:p>
            <a:endParaRPr lang="en-IN"/>
          </a:p>
        </p:txBody>
      </p:sp>
      <p:sp>
        <p:nvSpPr>
          <p:cNvPr id="18" name="Text 15"/>
          <p:cNvSpPr/>
          <p:nvPr/>
        </p:nvSpPr>
        <p:spPr>
          <a:xfrm>
            <a:off x="8778240" y="1371600"/>
            <a:ext cx="365760" cy="384048"/>
          </a:xfrm>
          <a:prstGeom prst="rect">
            <a:avLst/>
          </a:prstGeom>
          <a:noFill/>
          <a:ln/>
        </p:spPr>
        <p:txBody>
          <a:bodyPr wrap="square" lIns="0" tIns="0" rIns="0" bIns="0" rtlCol="0" anchor="ctr"/>
          <a:lstStyle/>
          <a:p>
            <a:pPr marL="0" indent="0" algn="ctr">
              <a:buNone/>
            </a:pPr>
            <a:r>
              <a:rPr lang="en-US" sz="1600" b="1" dirty="0">
                <a:solidFill>
                  <a:srgbClr val="D9B84A"/>
                </a:solidFill>
                <a:latin typeface="Cambria" pitchFamily="34" charset="0"/>
                <a:ea typeface="Cambria" pitchFamily="34" charset="-122"/>
                <a:cs typeface="Cambria" pitchFamily="34" charset="-120"/>
              </a:rPr>
              <a:t>C</a:t>
            </a:r>
            <a:endParaRPr lang="en-US" sz="1600" dirty="0"/>
          </a:p>
        </p:txBody>
      </p:sp>
      <p:sp>
        <p:nvSpPr>
          <p:cNvPr id="19" name="Text 16"/>
          <p:cNvSpPr txBox="1"/>
          <p:nvPr/>
        </p:nvSpPr>
        <p:spPr>
          <a:xfrm>
            <a:off x="9144000" y="1335024"/>
            <a:ext cx="2587752" cy="274320"/>
          </a:xfrm>
          <a:prstGeom prst="rect">
            <a:avLst/>
          </a:prstGeom>
          <a:noFill/>
          <a:ln/>
        </p:spPr>
        <p:txBody>
          <a:bodyPr wrap="square" lIns="0" tIns="0" rIns="0" bIns="0" rtlCol="0" anchor="ctr"/>
          <a:lstStyle/>
          <a:p>
            <a:pPr marL="0" indent="0">
              <a:buNone/>
            </a:pPr>
            <a:r>
              <a:rPr lang="en-US" sz="1300" b="1" kern="0" spc="100" dirty="0">
                <a:solidFill>
                  <a:srgbClr val="FFFFFF"/>
                </a:solidFill>
                <a:latin typeface="Calibri" pitchFamily="34" charset="0"/>
                <a:ea typeface="Calibri" pitchFamily="34" charset="-122"/>
                <a:cs typeface="Calibri" pitchFamily="34" charset="-120"/>
              </a:rPr>
              <a:t>SOFTWARE AND DATA LAYER</a:t>
            </a:r>
            <a:endParaRPr lang="en-US" sz="1300" dirty="0"/>
          </a:p>
        </p:txBody>
      </p:sp>
      <p:sp>
        <p:nvSpPr>
          <p:cNvPr id="20" name="Text 17"/>
          <p:cNvSpPr txBox="1"/>
          <p:nvPr/>
        </p:nvSpPr>
        <p:spPr>
          <a:xfrm>
            <a:off x="9144000" y="1591056"/>
            <a:ext cx="2587752" cy="201168"/>
          </a:xfrm>
          <a:prstGeom prst="rect">
            <a:avLst/>
          </a:prstGeom>
          <a:noFill/>
          <a:ln/>
        </p:spPr>
        <p:txBody>
          <a:bodyPr wrap="square" lIns="0" tIns="0" rIns="0" bIns="0" rtlCol="0" anchor="t"/>
          <a:lstStyle/>
          <a:p>
            <a:pPr marL="0" indent="0">
              <a:buNone/>
            </a:pPr>
            <a:r>
              <a:rPr lang="en-US" sz="1000" dirty="0">
                <a:solidFill>
                  <a:srgbClr val="E8EFE8"/>
                </a:solidFill>
                <a:latin typeface="Calibri" pitchFamily="34" charset="0"/>
                <a:ea typeface="Calibri" pitchFamily="34" charset="-122"/>
                <a:cs typeface="Calibri" pitchFamily="34" charset="-120"/>
              </a:rPr>
              <a:t>User interface: records and alerts</a:t>
            </a:r>
            <a:endParaRPr lang="en-US" sz="1000" dirty="0"/>
          </a:p>
        </p:txBody>
      </p:sp>
      <p:sp>
        <p:nvSpPr>
          <p:cNvPr id="21" name="Device Camera"/>
          <p:cNvSpPr/>
          <p:nvPr/>
        </p:nvSpPr>
        <p:spPr>
          <a:xfrm>
            <a:off x="411480" y="1920240"/>
            <a:ext cx="1874520" cy="704088"/>
          </a:xfrm>
          <a:prstGeom prst="roundRect">
            <a:avLst>
              <a:gd name="adj" fmla="val 10390"/>
            </a:avLst>
          </a:prstGeom>
          <a:solidFill>
            <a:srgbClr val="FFFFFF"/>
          </a:solidFill>
          <a:ln w="19050">
            <a:solidFill>
              <a:srgbClr val="D9D2BC"/>
            </a:solidFill>
            <a:prstDash val="dash"/>
          </a:ln>
        </p:spPr>
        <p:txBody>
          <a:bodyPr/>
          <a:lstStyle/>
          <a:p>
            <a:endParaRPr lang="en-IN"/>
          </a:p>
        </p:txBody>
      </p:sp>
      <p:pic>
        <p:nvPicPr>
          <p:cNvPr id="22" name="Image 1" descr="Camera"/>
          <p:cNvPicPr>
            <a:picLocks noChangeAspect="1"/>
          </p:cNvPicPr>
          <p:nvPr/>
        </p:nvPicPr>
        <p:blipFill>
          <a:blip r:embed="rId4"/>
          <a:srcRect/>
          <a:stretch/>
        </p:blipFill>
        <p:spPr>
          <a:xfrm>
            <a:off x="475488" y="2011680"/>
            <a:ext cx="502920" cy="502920"/>
          </a:xfrm>
          <a:prstGeom prst="rect">
            <a:avLst/>
          </a:prstGeom>
        </p:spPr>
      </p:pic>
      <p:sp>
        <p:nvSpPr>
          <p:cNvPr id="23" name="Text 19"/>
          <p:cNvSpPr txBox="1"/>
          <p:nvPr/>
        </p:nvSpPr>
        <p:spPr>
          <a:xfrm>
            <a:off x="1051560" y="1975104"/>
            <a:ext cx="1188720" cy="201168"/>
          </a:xfrm>
          <a:prstGeom prst="rect">
            <a:avLst/>
          </a:prstGeom>
          <a:noFill/>
          <a:ln/>
        </p:spPr>
        <p:txBody>
          <a:bodyPr wrap="square" lIns="0" tIns="0" rIns="0" bIns="0" rtlCol="0" anchor="t"/>
          <a:lstStyle/>
          <a:p>
            <a:pPr marL="0" indent="0">
              <a:buNone/>
            </a:pPr>
            <a:r>
              <a:rPr lang="en-US" sz="1200" b="1" dirty="0">
                <a:solidFill>
                  <a:srgbClr val="1B2A22"/>
                </a:solidFill>
                <a:latin typeface="Calibri" pitchFamily="34" charset="0"/>
                <a:ea typeface="Calibri" pitchFamily="34" charset="-122"/>
                <a:cs typeface="Calibri" pitchFamily="34" charset="-120"/>
              </a:rPr>
              <a:t>Camera</a:t>
            </a:r>
            <a:endParaRPr lang="en-US" sz="1200" dirty="0"/>
          </a:p>
        </p:txBody>
      </p:sp>
      <p:sp>
        <p:nvSpPr>
          <p:cNvPr id="24" name="Text 20"/>
          <p:cNvSpPr txBox="1"/>
          <p:nvPr/>
        </p:nvSpPr>
        <p:spPr>
          <a:xfrm>
            <a:off x="1051560" y="2167128"/>
            <a:ext cx="1188720" cy="182880"/>
          </a:xfrm>
          <a:prstGeom prst="rect">
            <a:avLst/>
          </a:prstGeom>
          <a:noFill/>
          <a:ln/>
        </p:spPr>
        <p:txBody>
          <a:bodyPr wrap="square" lIns="0" tIns="0" rIns="0" bIns="0" rtlCol="0" anchor="t"/>
          <a:lstStyle/>
          <a:p>
            <a:pPr marL="0" indent="0">
              <a:buNone/>
            </a:pPr>
            <a:r>
              <a:rPr lang="en-US" sz="1000" dirty="0">
                <a:solidFill>
                  <a:srgbClr val="66756D"/>
                </a:solidFill>
                <a:latin typeface="Calibri" pitchFamily="34" charset="0"/>
                <a:ea typeface="Calibri" pitchFamily="34" charset="-122"/>
                <a:cs typeface="Calibri" pitchFamily="34" charset="-120"/>
              </a:rPr>
              <a:t>(ESP32-CAM)</a:t>
            </a:r>
            <a:endParaRPr lang="en-US" sz="1000" dirty="0"/>
          </a:p>
        </p:txBody>
      </p:sp>
      <p:sp>
        <p:nvSpPr>
          <p:cNvPr id="26" name="Device PIR sensor"/>
          <p:cNvSpPr/>
          <p:nvPr/>
        </p:nvSpPr>
        <p:spPr>
          <a:xfrm>
            <a:off x="411480" y="2679192"/>
            <a:ext cx="1874520" cy="704088"/>
          </a:xfrm>
          <a:prstGeom prst="roundRect">
            <a:avLst>
              <a:gd name="adj" fmla="val 10390"/>
            </a:avLst>
          </a:prstGeom>
          <a:solidFill>
            <a:srgbClr val="FFFFFF"/>
          </a:solidFill>
          <a:ln w="12700">
            <a:solidFill>
              <a:srgbClr val="D9D2BC"/>
            </a:solidFill>
            <a:prstDash val="solid"/>
          </a:ln>
        </p:spPr>
        <p:txBody>
          <a:bodyPr/>
          <a:lstStyle/>
          <a:p>
            <a:endParaRPr lang="en-IN"/>
          </a:p>
        </p:txBody>
      </p:sp>
      <p:pic>
        <p:nvPicPr>
          <p:cNvPr id="27" name="Image 2" descr="PIR sensor"/>
          <p:cNvPicPr>
            <a:picLocks noChangeAspect="1"/>
          </p:cNvPicPr>
          <p:nvPr/>
        </p:nvPicPr>
        <p:blipFill>
          <a:blip r:embed="rId5"/>
          <a:srcRect/>
          <a:stretch/>
        </p:blipFill>
        <p:spPr>
          <a:xfrm>
            <a:off x="475488" y="2770632"/>
            <a:ext cx="502920" cy="502920"/>
          </a:xfrm>
          <a:prstGeom prst="rect">
            <a:avLst/>
          </a:prstGeom>
        </p:spPr>
      </p:pic>
      <p:sp>
        <p:nvSpPr>
          <p:cNvPr id="28" name="Text 23"/>
          <p:cNvSpPr txBox="1"/>
          <p:nvPr/>
        </p:nvSpPr>
        <p:spPr>
          <a:xfrm>
            <a:off x="1051560" y="2734056"/>
            <a:ext cx="1188720" cy="201168"/>
          </a:xfrm>
          <a:prstGeom prst="rect">
            <a:avLst/>
          </a:prstGeom>
          <a:noFill/>
          <a:ln/>
        </p:spPr>
        <p:txBody>
          <a:bodyPr wrap="square" lIns="0" tIns="0" rIns="0" bIns="0" rtlCol="0" anchor="t"/>
          <a:lstStyle/>
          <a:p>
            <a:pPr marL="0" indent="0">
              <a:buNone/>
            </a:pPr>
            <a:r>
              <a:rPr lang="en-US" sz="1200" b="1" dirty="0">
                <a:solidFill>
                  <a:srgbClr val="1B2A22"/>
                </a:solidFill>
                <a:latin typeface="Calibri" pitchFamily="34" charset="0"/>
                <a:ea typeface="Calibri" pitchFamily="34" charset="-122"/>
                <a:cs typeface="Calibri" pitchFamily="34" charset="-120"/>
              </a:rPr>
              <a:t>PIR sensor</a:t>
            </a:r>
            <a:endParaRPr lang="en-US" sz="1200" dirty="0"/>
          </a:p>
        </p:txBody>
      </p:sp>
      <p:sp>
        <p:nvSpPr>
          <p:cNvPr id="29" name="Text 24"/>
          <p:cNvSpPr txBox="1"/>
          <p:nvPr/>
        </p:nvSpPr>
        <p:spPr>
          <a:xfrm>
            <a:off x="1051560" y="2926080"/>
            <a:ext cx="1188720" cy="182880"/>
          </a:xfrm>
          <a:prstGeom prst="rect">
            <a:avLst/>
          </a:prstGeom>
          <a:noFill/>
          <a:ln/>
        </p:spPr>
        <p:txBody>
          <a:bodyPr wrap="square" lIns="0" tIns="0" rIns="0" bIns="0" rtlCol="0" anchor="t"/>
          <a:lstStyle/>
          <a:p>
            <a:pPr marL="0" indent="0">
              <a:buNone/>
            </a:pPr>
            <a:r>
              <a:rPr lang="en-US" sz="1000" dirty="0">
                <a:solidFill>
                  <a:srgbClr val="66756D"/>
                </a:solidFill>
                <a:latin typeface="Calibri" pitchFamily="34" charset="0"/>
                <a:ea typeface="Calibri" pitchFamily="34" charset="-122"/>
                <a:cs typeface="Calibri" pitchFamily="34" charset="-120"/>
              </a:rPr>
              <a:t>(Motion trigger)</a:t>
            </a:r>
            <a:endParaRPr lang="en-US" sz="1000" dirty="0"/>
          </a:p>
        </p:txBody>
      </p:sp>
      <p:sp>
        <p:nvSpPr>
          <p:cNvPr id="30" name="Status WORKING"/>
          <p:cNvSpPr/>
          <p:nvPr/>
        </p:nvSpPr>
        <p:spPr>
          <a:xfrm>
            <a:off x="1051560" y="3136392"/>
            <a:ext cx="914400" cy="219456"/>
          </a:xfrm>
          <a:prstGeom prst="roundRect">
            <a:avLst>
              <a:gd name="adj" fmla="val 29167"/>
            </a:avLst>
          </a:prstGeom>
          <a:solidFill>
            <a:srgbClr val="2E7D4F"/>
          </a:solidFill>
          <a:ln/>
        </p:spPr>
        <p:txBody>
          <a:bodyPr wrap="square" lIns="0" tIns="0" rIns="0" bIns="0" rtlCol="0" anchor="ctr"/>
          <a:lstStyle/>
          <a:p>
            <a:pPr marL="0" indent="0" algn="ctr">
              <a:buNone/>
            </a:pPr>
            <a:r>
              <a:rPr lang="en-US" sz="1000" b="1" kern="0" spc="50" dirty="0">
                <a:solidFill>
                  <a:srgbClr val="FFFFFF"/>
                </a:solidFill>
                <a:latin typeface="Calibri" pitchFamily="34" charset="0"/>
                <a:ea typeface="Calibri" pitchFamily="34" charset="-122"/>
                <a:cs typeface="Calibri" pitchFamily="34" charset="-120"/>
              </a:rPr>
              <a:t>WORKING</a:t>
            </a:r>
            <a:endParaRPr lang="en-US" sz="1000" dirty="0"/>
          </a:p>
        </p:txBody>
      </p:sp>
      <p:sp>
        <p:nvSpPr>
          <p:cNvPr id="31" name="Device Servo motor"/>
          <p:cNvSpPr/>
          <p:nvPr/>
        </p:nvSpPr>
        <p:spPr>
          <a:xfrm>
            <a:off x="411480" y="3438144"/>
            <a:ext cx="1874520" cy="704088"/>
          </a:xfrm>
          <a:prstGeom prst="roundRect">
            <a:avLst>
              <a:gd name="adj" fmla="val 10390"/>
            </a:avLst>
          </a:prstGeom>
          <a:solidFill>
            <a:srgbClr val="FFFFFF"/>
          </a:solidFill>
          <a:ln w="12700">
            <a:solidFill>
              <a:srgbClr val="D9D2BC"/>
            </a:solidFill>
            <a:prstDash val="solid"/>
          </a:ln>
        </p:spPr>
        <p:txBody>
          <a:bodyPr/>
          <a:lstStyle/>
          <a:p>
            <a:endParaRPr lang="en-IN"/>
          </a:p>
        </p:txBody>
      </p:sp>
      <p:pic>
        <p:nvPicPr>
          <p:cNvPr id="32" name="Image 3" descr="Servo motor"/>
          <p:cNvPicPr>
            <a:picLocks noChangeAspect="1"/>
          </p:cNvPicPr>
          <p:nvPr/>
        </p:nvPicPr>
        <p:blipFill>
          <a:blip r:embed="rId6"/>
          <a:srcRect/>
          <a:stretch/>
        </p:blipFill>
        <p:spPr>
          <a:xfrm>
            <a:off x="475488" y="3529584"/>
            <a:ext cx="502920" cy="502920"/>
          </a:xfrm>
          <a:prstGeom prst="rect">
            <a:avLst/>
          </a:prstGeom>
        </p:spPr>
      </p:pic>
      <p:sp>
        <p:nvSpPr>
          <p:cNvPr id="33" name="Text 27"/>
          <p:cNvSpPr txBox="1"/>
          <p:nvPr/>
        </p:nvSpPr>
        <p:spPr>
          <a:xfrm>
            <a:off x="1051560" y="3493008"/>
            <a:ext cx="1188720" cy="201168"/>
          </a:xfrm>
          <a:prstGeom prst="rect">
            <a:avLst/>
          </a:prstGeom>
          <a:noFill/>
          <a:ln/>
        </p:spPr>
        <p:txBody>
          <a:bodyPr wrap="square" lIns="0" tIns="0" rIns="0" bIns="0" rtlCol="0" anchor="t"/>
          <a:lstStyle/>
          <a:p>
            <a:pPr marL="0" indent="0">
              <a:buNone/>
            </a:pPr>
            <a:r>
              <a:rPr lang="en-US" sz="1200" b="1" dirty="0">
                <a:solidFill>
                  <a:srgbClr val="1B2A22"/>
                </a:solidFill>
                <a:latin typeface="Calibri" pitchFamily="34" charset="0"/>
                <a:ea typeface="Calibri" pitchFamily="34" charset="-122"/>
                <a:cs typeface="Calibri" pitchFamily="34" charset="-120"/>
              </a:rPr>
              <a:t>Servo motor</a:t>
            </a:r>
            <a:endParaRPr lang="en-US" sz="1200" dirty="0"/>
          </a:p>
        </p:txBody>
      </p:sp>
      <p:sp>
        <p:nvSpPr>
          <p:cNvPr id="34" name="Text 28"/>
          <p:cNvSpPr txBox="1"/>
          <p:nvPr/>
        </p:nvSpPr>
        <p:spPr>
          <a:xfrm>
            <a:off x="1051560" y="3685032"/>
            <a:ext cx="1188720" cy="182880"/>
          </a:xfrm>
          <a:prstGeom prst="rect">
            <a:avLst/>
          </a:prstGeom>
          <a:noFill/>
          <a:ln/>
        </p:spPr>
        <p:txBody>
          <a:bodyPr wrap="square" lIns="0" tIns="0" rIns="0" bIns="0" rtlCol="0" anchor="t"/>
          <a:lstStyle/>
          <a:p>
            <a:pPr marL="0" indent="0">
              <a:buNone/>
            </a:pPr>
            <a:r>
              <a:rPr lang="en-US" sz="1000" dirty="0">
                <a:solidFill>
                  <a:srgbClr val="66756D"/>
                </a:solidFill>
                <a:latin typeface="Calibri" pitchFamily="34" charset="0"/>
                <a:ea typeface="Calibri" pitchFamily="34" charset="-122"/>
                <a:cs typeface="Calibri" pitchFamily="34" charset="-120"/>
              </a:rPr>
              <a:t>(Arm movement)</a:t>
            </a:r>
            <a:endParaRPr lang="en-US" sz="1000" dirty="0"/>
          </a:p>
        </p:txBody>
      </p:sp>
      <p:sp>
        <p:nvSpPr>
          <p:cNvPr id="35" name="Status WORKING"/>
          <p:cNvSpPr/>
          <p:nvPr/>
        </p:nvSpPr>
        <p:spPr>
          <a:xfrm>
            <a:off x="1051560" y="3895344"/>
            <a:ext cx="914400" cy="219456"/>
          </a:xfrm>
          <a:prstGeom prst="roundRect">
            <a:avLst>
              <a:gd name="adj" fmla="val 29167"/>
            </a:avLst>
          </a:prstGeom>
          <a:solidFill>
            <a:srgbClr val="2E7D4F"/>
          </a:solidFill>
          <a:ln/>
        </p:spPr>
        <p:txBody>
          <a:bodyPr wrap="square" lIns="0" tIns="0" rIns="0" bIns="0" rtlCol="0" anchor="ctr"/>
          <a:lstStyle/>
          <a:p>
            <a:pPr marL="0" indent="0" algn="ctr">
              <a:buNone/>
            </a:pPr>
            <a:r>
              <a:rPr lang="en-US" sz="1000" b="1" kern="0" spc="50" dirty="0">
                <a:solidFill>
                  <a:srgbClr val="FFFFFF"/>
                </a:solidFill>
                <a:latin typeface="Calibri" pitchFamily="34" charset="0"/>
                <a:ea typeface="Calibri" pitchFamily="34" charset="-122"/>
                <a:cs typeface="Calibri" pitchFamily="34" charset="-120"/>
              </a:rPr>
              <a:t>WORKING</a:t>
            </a:r>
            <a:endParaRPr lang="en-US" sz="1000" dirty="0"/>
          </a:p>
        </p:txBody>
      </p:sp>
      <p:sp>
        <p:nvSpPr>
          <p:cNvPr id="36" name="Device Speaker"/>
          <p:cNvSpPr/>
          <p:nvPr/>
        </p:nvSpPr>
        <p:spPr>
          <a:xfrm>
            <a:off x="411480" y="4197096"/>
            <a:ext cx="1874520" cy="704088"/>
          </a:xfrm>
          <a:prstGeom prst="roundRect">
            <a:avLst>
              <a:gd name="adj" fmla="val 10390"/>
            </a:avLst>
          </a:prstGeom>
          <a:solidFill>
            <a:srgbClr val="FFFFFF"/>
          </a:solidFill>
          <a:ln w="12700">
            <a:solidFill>
              <a:srgbClr val="D9D2BC"/>
            </a:solidFill>
            <a:prstDash val="solid"/>
          </a:ln>
        </p:spPr>
        <p:txBody>
          <a:bodyPr/>
          <a:lstStyle/>
          <a:p>
            <a:endParaRPr lang="en-IN"/>
          </a:p>
        </p:txBody>
      </p:sp>
      <p:pic>
        <p:nvPicPr>
          <p:cNvPr id="37" name="Image 4" descr="Speaker"/>
          <p:cNvPicPr>
            <a:picLocks noChangeAspect="1"/>
          </p:cNvPicPr>
          <p:nvPr/>
        </p:nvPicPr>
        <p:blipFill>
          <a:blip r:embed="rId7"/>
          <a:srcRect/>
          <a:stretch/>
        </p:blipFill>
        <p:spPr>
          <a:xfrm>
            <a:off x="475488" y="4288536"/>
            <a:ext cx="502920" cy="502920"/>
          </a:xfrm>
          <a:prstGeom prst="rect">
            <a:avLst/>
          </a:prstGeom>
        </p:spPr>
      </p:pic>
      <p:sp>
        <p:nvSpPr>
          <p:cNvPr id="38" name="Text 31"/>
          <p:cNvSpPr txBox="1"/>
          <p:nvPr/>
        </p:nvSpPr>
        <p:spPr>
          <a:xfrm>
            <a:off x="1051560" y="4251960"/>
            <a:ext cx="1188720" cy="201168"/>
          </a:xfrm>
          <a:prstGeom prst="rect">
            <a:avLst/>
          </a:prstGeom>
          <a:noFill/>
          <a:ln/>
        </p:spPr>
        <p:txBody>
          <a:bodyPr wrap="square" lIns="0" tIns="0" rIns="0" bIns="0" rtlCol="0" anchor="t"/>
          <a:lstStyle/>
          <a:p>
            <a:pPr marL="0" indent="0">
              <a:buNone/>
            </a:pPr>
            <a:r>
              <a:rPr lang="en-US" sz="1200" b="1" dirty="0">
                <a:solidFill>
                  <a:srgbClr val="1B2A22"/>
                </a:solidFill>
                <a:latin typeface="Calibri" pitchFamily="34" charset="0"/>
                <a:ea typeface="Calibri" pitchFamily="34" charset="-122"/>
                <a:cs typeface="Calibri" pitchFamily="34" charset="-120"/>
              </a:rPr>
              <a:t>Speaker</a:t>
            </a:r>
            <a:endParaRPr lang="en-US" sz="1200" dirty="0"/>
          </a:p>
        </p:txBody>
      </p:sp>
      <p:sp>
        <p:nvSpPr>
          <p:cNvPr id="39" name="Text 32"/>
          <p:cNvSpPr txBox="1"/>
          <p:nvPr/>
        </p:nvSpPr>
        <p:spPr>
          <a:xfrm>
            <a:off x="1051560" y="4443984"/>
            <a:ext cx="1188720" cy="182880"/>
          </a:xfrm>
          <a:prstGeom prst="rect">
            <a:avLst/>
          </a:prstGeom>
          <a:noFill/>
          <a:ln/>
        </p:spPr>
        <p:txBody>
          <a:bodyPr wrap="square" lIns="0" tIns="0" rIns="0" bIns="0" rtlCol="0" anchor="t"/>
          <a:lstStyle/>
          <a:p>
            <a:pPr marL="0" indent="0">
              <a:buNone/>
            </a:pPr>
            <a:r>
              <a:rPr lang="en-US" sz="1000" dirty="0">
                <a:solidFill>
                  <a:srgbClr val="66756D"/>
                </a:solidFill>
                <a:latin typeface="Calibri" pitchFamily="34" charset="0"/>
                <a:ea typeface="Calibri" pitchFamily="34" charset="-122"/>
                <a:cs typeface="Calibri" pitchFamily="34" charset="-120"/>
              </a:rPr>
              <a:t>(DFPlayer Mini)</a:t>
            </a:r>
            <a:endParaRPr lang="en-US" sz="1000" dirty="0"/>
          </a:p>
        </p:txBody>
      </p:sp>
      <p:sp>
        <p:nvSpPr>
          <p:cNvPr id="40" name="Status WORKING"/>
          <p:cNvSpPr/>
          <p:nvPr/>
        </p:nvSpPr>
        <p:spPr>
          <a:xfrm>
            <a:off x="1051560" y="4654296"/>
            <a:ext cx="914400" cy="219456"/>
          </a:xfrm>
          <a:prstGeom prst="roundRect">
            <a:avLst>
              <a:gd name="adj" fmla="val 29167"/>
            </a:avLst>
          </a:prstGeom>
          <a:solidFill>
            <a:srgbClr val="2E7D4F"/>
          </a:solidFill>
          <a:ln/>
        </p:spPr>
        <p:txBody>
          <a:bodyPr wrap="square" lIns="0" tIns="0" rIns="0" bIns="0" rtlCol="0" anchor="ctr"/>
          <a:lstStyle/>
          <a:p>
            <a:pPr marL="0" indent="0" algn="ctr">
              <a:buNone/>
            </a:pPr>
            <a:r>
              <a:rPr lang="en-US" sz="1000" b="1" kern="0" spc="50" dirty="0">
                <a:solidFill>
                  <a:srgbClr val="FFFFFF"/>
                </a:solidFill>
                <a:latin typeface="Calibri" pitchFamily="34" charset="0"/>
                <a:ea typeface="Calibri" pitchFamily="34" charset="-122"/>
                <a:cs typeface="Calibri" pitchFamily="34" charset="-120"/>
              </a:rPr>
              <a:t>WORKING</a:t>
            </a:r>
            <a:endParaRPr lang="en-US" sz="1000" dirty="0"/>
          </a:p>
        </p:txBody>
      </p:sp>
      <p:sp>
        <p:nvSpPr>
          <p:cNvPr id="41" name="ESP32 card"/>
          <p:cNvSpPr/>
          <p:nvPr/>
        </p:nvSpPr>
        <p:spPr>
          <a:xfrm>
            <a:off x="3017520" y="1920240"/>
            <a:ext cx="1325880" cy="2980944"/>
          </a:xfrm>
          <a:prstGeom prst="roundRect">
            <a:avLst>
              <a:gd name="adj" fmla="val 5517"/>
            </a:avLst>
          </a:prstGeom>
          <a:solidFill>
            <a:srgbClr val="F3F5F3"/>
          </a:solidFill>
          <a:ln w="12700">
            <a:solidFill>
              <a:srgbClr val="D9D2BC"/>
            </a:solidFill>
            <a:prstDash val="solid"/>
          </a:ln>
        </p:spPr>
        <p:txBody>
          <a:bodyPr/>
          <a:lstStyle/>
          <a:p>
            <a:endParaRPr lang="en-IN"/>
          </a:p>
        </p:txBody>
      </p:sp>
      <p:pic>
        <p:nvPicPr>
          <p:cNvPr id="42" name="Image 5" descr="ESP32 board"/>
          <p:cNvPicPr>
            <a:picLocks noChangeAspect="1"/>
          </p:cNvPicPr>
          <p:nvPr/>
        </p:nvPicPr>
        <p:blipFill>
          <a:blip r:embed="rId8"/>
          <a:srcRect/>
          <a:stretch/>
        </p:blipFill>
        <p:spPr>
          <a:xfrm>
            <a:off x="3310128" y="2240280"/>
            <a:ext cx="731520" cy="1234440"/>
          </a:xfrm>
          <a:prstGeom prst="rect">
            <a:avLst/>
          </a:prstGeom>
        </p:spPr>
      </p:pic>
      <p:sp>
        <p:nvSpPr>
          <p:cNvPr id="43" name="Text 35"/>
          <p:cNvSpPr txBox="1"/>
          <p:nvPr/>
        </p:nvSpPr>
        <p:spPr>
          <a:xfrm>
            <a:off x="3063240" y="3611880"/>
            <a:ext cx="1234440" cy="365760"/>
          </a:xfrm>
          <a:prstGeom prst="rect">
            <a:avLst/>
          </a:prstGeom>
          <a:noFill/>
          <a:ln/>
        </p:spPr>
        <p:txBody>
          <a:bodyPr wrap="square" lIns="0" tIns="0" rIns="0" bIns="0" rtlCol="0" anchor="t"/>
          <a:lstStyle/>
          <a:p>
            <a:pPr marL="0" indent="0" algn="ctr">
              <a:buNone/>
            </a:pPr>
            <a:r>
              <a:rPr lang="en-US" sz="1200" b="1" dirty="0">
                <a:solidFill>
                  <a:srgbClr val="1F4D36"/>
                </a:solidFill>
                <a:latin typeface="Calibri" pitchFamily="34" charset="0"/>
                <a:ea typeface="Calibri" pitchFamily="34" charset="-122"/>
                <a:cs typeface="Calibri" pitchFamily="34" charset="-120"/>
              </a:rPr>
              <a:t>ESP32 Controller</a:t>
            </a:r>
            <a:endParaRPr lang="en-US" sz="1200" dirty="0"/>
          </a:p>
        </p:txBody>
      </p:sp>
      <p:sp>
        <p:nvSpPr>
          <p:cNvPr id="45" name="Wi-Fi frames"/>
          <p:cNvSpPr/>
          <p:nvPr/>
        </p:nvSpPr>
        <p:spPr>
          <a:xfrm>
            <a:off x="2286000" y="2272284"/>
            <a:ext cx="731520" cy="0"/>
          </a:xfrm>
          <a:prstGeom prst="line">
            <a:avLst/>
          </a:prstGeom>
          <a:noFill/>
          <a:ln w="25400">
            <a:solidFill>
              <a:srgbClr val="2E7D4F"/>
            </a:solidFill>
            <a:prstDash val="solid"/>
            <a:tailEnd type="triangle"/>
          </a:ln>
        </p:spPr>
        <p:txBody>
          <a:bodyPr/>
          <a:lstStyle/>
          <a:p>
            <a:endParaRPr lang="en-IN"/>
          </a:p>
        </p:txBody>
      </p:sp>
      <p:sp>
        <p:nvSpPr>
          <p:cNvPr id="46" name="Text 38"/>
          <p:cNvSpPr txBox="1"/>
          <p:nvPr/>
        </p:nvSpPr>
        <p:spPr>
          <a:xfrm>
            <a:off x="2286000" y="1943100"/>
            <a:ext cx="731520" cy="310896"/>
          </a:xfrm>
          <a:prstGeom prst="rect">
            <a:avLst/>
          </a:prstGeom>
          <a:noFill/>
          <a:ln/>
        </p:spPr>
        <p:txBody>
          <a:bodyPr wrap="square" lIns="0" tIns="0" rIns="0" bIns="0" rtlCol="0" anchor="t"/>
          <a:lstStyle/>
          <a:p>
            <a:pPr marL="0" indent="0" algn="ctr">
              <a:buNone/>
            </a:pPr>
            <a:r>
              <a:rPr lang="en-US" sz="1000" dirty="0">
                <a:solidFill>
                  <a:srgbClr val="2E7D4F"/>
                </a:solidFill>
                <a:latin typeface="Calibri" pitchFamily="34" charset="0"/>
                <a:ea typeface="Calibri" pitchFamily="34" charset="-122"/>
                <a:cs typeface="Calibri" pitchFamily="34" charset="-120"/>
              </a:rPr>
              <a:t>Image frames (Wi-Fi)</a:t>
            </a:r>
            <a:endParaRPr lang="en-US" sz="1000" dirty="0"/>
          </a:p>
        </p:txBody>
      </p:sp>
      <p:sp>
        <p:nvSpPr>
          <p:cNvPr id="47" name="GPIO"/>
          <p:cNvSpPr/>
          <p:nvPr/>
        </p:nvSpPr>
        <p:spPr>
          <a:xfrm>
            <a:off x="2286000" y="3031236"/>
            <a:ext cx="731520" cy="0"/>
          </a:xfrm>
          <a:prstGeom prst="line">
            <a:avLst/>
          </a:prstGeom>
          <a:noFill/>
          <a:ln w="25400">
            <a:solidFill>
              <a:srgbClr val="3B6FC9"/>
            </a:solidFill>
            <a:prstDash val="dash"/>
            <a:tailEnd type="triangle"/>
          </a:ln>
        </p:spPr>
        <p:txBody>
          <a:bodyPr/>
          <a:lstStyle/>
          <a:p>
            <a:endParaRPr lang="en-IN"/>
          </a:p>
        </p:txBody>
      </p:sp>
      <p:sp>
        <p:nvSpPr>
          <p:cNvPr id="48" name="Text 40"/>
          <p:cNvSpPr txBox="1"/>
          <p:nvPr/>
        </p:nvSpPr>
        <p:spPr>
          <a:xfrm>
            <a:off x="2286000" y="2830068"/>
            <a:ext cx="731520" cy="182880"/>
          </a:xfrm>
          <a:prstGeom prst="rect">
            <a:avLst/>
          </a:prstGeom>
          <a:noFill/>
          <a:ln/>
        </p:spPr>
        <p:txBody>
          <a:bodyPr wrap="square" lIns="0" tIns="0" rIns="0" bIns="0" rtlCol="0" anchor="t"/>
          <a:lstStyle/>
          <a:p>
            <a:pPr marL="0" indent="0" algn="ctr">
              <a:buNone/>
            </a:pPr>
            <a:r>
              <a:rPr lang="en-US" sz="1000" dirty="0">
                <a:solidFill>
                  <a:srgbClr val="3B6FC9"/>
                </a:solidFill>
                <a:latin typeface="Calibri" pitchFamily="34" charset="0"/>
                <a:ea typeface="Calibri" pitchFamily="34" charset="-122"/>
                <a:cs typeface="Calibri" pitchFamily="34" charset="-120"/>
              </a:rPr>
              <a:t>GPIO</a:t>
            </a:r>
            <a:endParaRPr lang="en-US" sz="1000" dirty="0"/>
          </a:p>
        </p:txBody>
      </p:sp>
      <p:sp>
        <p:nvSpPr>
          <p:cNvPr id="49" name="PWM"/>
          <p:cNvSpPr/>
          <p:nvPr/>
        </p:nvSpPr>
        <p:spPr>
          <a:xfrm flipH="1">
            <a:off x="2286000" y="3790188"/>
            <a:ext cx="731520" cy="0"/>
          </a:xfrm>
          <a:prstGeom prst="line">
            <a:avLst/>
          </a:prstGeom>
          <a:noFill/>
          <a:ln w="25400">
            <a:solidFill>
              <a:srgbClr val="C0392B"/>
            </a:solidFill>
            <a:prstDash val="dash"/>
            <a:tailEnd type="triangle"/>
          </a:ln>
        </p:spPr>
        <p:txBody>
          <a:bodyPr/>
          <a:lstStyle/>
          <a:p>
            <a:endParaRPr lang="en-IN"/>
          </a:p>
        </p:txBody>
      </p:sp>
      <p:sp>
        <p:nvSpPr>
          <p:cNvPr id="50" name="Text 42"/>
          <p:cNvSpPr txBox="1"/>
          <p:nvPr/>
        </p:nvSpPr>
        <p:spPr>
          <a:xfrm>
            <a:off x="2286000" y="3589020"/>
            <a:ext cx="731520" cy="182880"/>
          </a:xfrm>
          <a:prstGeom prst="rect">
            <a:avLst/>
          </a:prstGeom>
          <a:noFill/>
          <a:ln/>
        </p:spPr>
        <p:txBody>
          <a:bodyPr wrap="square" lIns="0" tIns="0" rIns="0" bIns="0" rtlCol="0" anchor="t"/>
          <a:lstStyle/>
          <a:p>
            <a:pPr marL="0" indent="0" algn="ctr">
              <a:buNone/>
            </a:pPr>
            <a:r>
              <a:rPr lang="en-US" sz="1000" dirty="0">
                <a:solidFill>
                  <a:srgbClr val="C0392B"/>
                </a:solidFill>
                <a:latin typeface="Calibri" pitchFamily="34" charset="0"/>
                <a:ea typeface="Calibri" pitchFamily="34" charset="-122"/>
                <a:cs typeface="Calibri" pitchFamily="34" charset="-120"/>
              </a:rPr>
              <a:t>PWM</a:t>
            </a:r>
            <a:endParaRPr lang="en-US" sz="1000" dirty="0"/>
          </a:p>
        </p:txBody>
      </p:sp>
      <p:sp>
        <p:nvSpPr>
          <p:cNvPr id="51" name="UART"/>
          <p:cNvSpPr/>
          <p:nvPr/>
        </p:nvSpPr>
        <p:spPr>
          <a:xfrm flipH="1">
            <a:off x="2286000" y="4549140"/>
            <a:ext cx="731520" cy="0"/>
          </a:xfrm>
          <a:prstGeom prst="line">
            <a:avLst/>
          </a:prstGeom>
          <a:noFill/>
          <a:ln w="25400">
            <a:solidFill>
              <a:srgbClr val="C0392B"/>
            </a:solidFill>
            <a:prstDash val="dash"/>
            <a:tailEnd type="triangle"/>
          </a:ln>
        </p:spPr>
        <p:txBody>
          <a:bodyPr/>
          <a:lstStyle/>
          <a:p>
            <a:endParaRPr lang="en-IN"/>
          </a:p>
        </p:txBody>
      </p:sp>
      <p:sp>
        <p:nvSpPr>
          <p:cNvPr id="52" name="Text 44"/>
          <p:cNvSpPr txBox="1"/>
          <p:nvPr/>
        </p:nvSpPr>
        <p:spPr>
          <a:xfrm>
            <a:off x="2286000" y="4347972"/>
            <a:ext cx="731520" cy="182880"/>
          </a:xfrm>
          <a:prstGeom prst="rect">
            <a:avLst/>
          </a:prstGeom>
          <a:noFill/>
          <a:ln/>
        </p:spPr>
        <p:txBody>
          <a:bodyPr wrap="square" lIns="0" tIns="0" rIns="0" bIns="0" rtlCol="0" anchor="t"/>
          <a:lstStyle/>
          <a:p>
            <a:pPr marL="0" indent="0" algn="ctr">
              <a:buNone/>
            </a:pPr>
            <a:r>
              <a:rPr lang="en-US" sz="1000" dirty="0">
                <a:solidFill>
                  <a:srgbClr val="C0392B"/>
                </a:solidFill>
                <a:latin typeface="Calibri" pitchFamily="34" charset="0"/>
                <a:ea typeface="Calibri" pitchFamily="34" charset="-122"/>
                <a:cs typeface="Calibri" pitchFamily="34" charset="-120"/>
              </a:rPr>
              <a:t>Serial (UART)</a:t>
            </a:r>
            <a:endParaRPr lang="en-US" sz="1000" dirty="0"/>
          </a:p>
        </p:txBody>
      </p:sp>
      <p:sp>
        <p:nvSpPr>
          <p:cNvPr id="53" name="Power card"/>
          <p:cNvSpPr/>
          <p:nvPr/>
        </p:nvSpPr>
        <p:spPr>
          <a:xfrm>
            <a:off x="411480" y="5157216"/>
            <a:ext cx="3931920" cy="713232"/>
          </a:xfrm>
          <a:prstGeom prst="roundRect">
            <a:avLst>
              <a:gd name="adj" fmla="val 10256"/>
            </a:avLst>
          </a:prstGeom>
          <a:solidFill>
            <a:srgbClr val="F6EFD9"/>
          </a:solidFill>
          <a:ln w="12700">
            <a:solidFill>
              <a:srgbClr val="E3D6A8"/>
            </a:solidFill>
            <a:prstDash val="solid"/>
          </a:ln>
        </p:spPr>
        <p:txBody>
          <a:bodyPr/>
          <a:lstStyle/>
          <a:p>
            <a:endParaRPr lang="en-IN"/>
          </a:p>
        </p:txBody>
      </p:sp>
      <p:pic>
        <p:nvPicPr>
          <p:cNvPr id="54" name="Image 6" descr="Solar panel (~10-20 W)"/>
          <p:cNvPicPr>
            <a:picLocks noChangeAspect="1"/>
          </p:cNvPicPr>
          <p:nvPr/>
        </p:nvPicPr>
        <p:blipFill>
          <a:blip r:embed="rId9"/>
          <a:srcRect/>
          <a:stretch/>
        </p:blipFill>
        <p:spPr>
          <a:xfrm>
            <a:off x="777240" y="5212080"/>
            <a:ext cx="502920" cy="274320"/>
          </a:xfrm>
          <a:prstGeom prst="rect">
            <a:avLst/>
          </a:prstGeom>
        </p:spPr>
      </p:pic>
      <p:sp>
        <p:nvSpPr>
          <p:cNvPr id="55" name="Text 46"/>
          <p:cNvSpPr txBox="1"/>
          <p:nvPr/>
        </p:nvSpPr>
        <p:spPr>
          <a:xfrm>
            <a:off x="502920" y="5522976"/>
            <a:ext cx="1051560" cy="329184"/>
          </a:xfrm>
          <a:prstGeom prst="rect">
            <a:avLst/>
          </a:prstGeom>
          <a:noFill/>
          <a:ln/>
        </p:spPr>
        <p:txBody>
          <a:bodyPr wrap="square" lIns="0" tIns="0" rIns="0" bIns="0" rtlCol="0" anchor="t"/>
          <a:lstStyle/>
          <a:p>
            <a:pPr marL="0" indent="0" algn="ctr">
              <a:buNone/>
            </a:pPr>
            <a:r>
              <a:rPr lang="en-US" sz="1000" dirty="0">
                <a:solidFill>
                  <a:srgbClr val="1B2A22"/>
                </a:solidFill>
                <a:latin typeface="Calibri" pitchFamily="34" charset="0"/>
                <a:ea typeface="Calibri" pitchFamily="34" charset="-122"/>
                <a:cs typeface="Calibri" pitchFamily="34" charset="-120"/>
              </a:rPr>
              <a:t>Solar panel (~10-20 W)</a:t>
            </a:r>
            <a:endParaRPr lang="en-US" sz="1000" dirty="0"/>
          </a:p>
        </p:txBody>
      </p:sp>
      <p:pic>
        <p:nvPicPr>
          <p:cNvPr id="56" name="Image 7" descr="Charge controller (LM2596)"/>
          <p:cNvPicPr>
            <a:picLocks noChangeAspect="1"/>
          </p:cNvPicPr>
          <p:nvPr/>
        </p:nvPicPr>
        <p:blipFill>
          <a:blip r:embed="rId10"/>
          <a:srcRect/>
          <a:stretch/>
        </p:blipFill>
        <p:spPr>
          <a:xfrm>
            <a:off x="2011680" y="5212080"/>
            <a:ext cx="502920" cy="274320"/>
          </a:xfrm>
          <a:prstGeom prst="rect">
            <a:avLst/>
          </a:prstGeom>
        </p:spPr>
      </p:pic>
      <p:sp>
        <p:nvSpPr>
          <p:cNvPr id="57" name="Text 47"/>
          <p:cNvSpPr txBox="1"/>
          <p:nvPr/>
        </p:nvSpPr>
        <p:spPr>
          <a:xfrm>
            <a:off x="1737360" y="5522976"/>
            <a:ext cx="1051560" cy="329184"/>
          </a:xfrm>
          <a:prstGeom prst="rect">
            <a:avLst/>
          </a:prstGeom>
          <a:noFill/>
          <a:ln/>
        </p:spPr>
        <p:txBody>
          <a:bodyPr wrap="square" lIns="0" tIns="0" rIns="0" bIns="0" rtlCol="0" anchor="t"/>
          <a:lstStyle/>
          <a:p>
            <a:pPr marL="0" indent="0" algn="ctr">
              <a:buNone/>
            </a:pPr>
            <a:r>
              <a:rPr lang="en-US" sz="1000" dirty="0">
                <a:solidFill>
                  <a:srgbClr val="1B2A22"/>
                </a:solidFill>
                <a:latin typeface="Calibri" pitchFamily="34" charset="0"/>
                <a:ea typeface="Calibri" pitchFamily="34" charset="-122"/>
                <a:cs typeface="Calibri" pitchFamily="34" charset="-120"/>
              </a:rPr>
              <a:t>Charge controller (LM2596)</a:t>
            </a:r>
            <a:endParaRPr lang="en-US" sz="1000" dirty="0"/>
          </a:p>
        </p:txBody>
      </p:sp>
      <p:pic>
        <p:nvPicPr>
          <p:cNvPr id="58" name="Image 8" descr="12 V battery"/>
          <p:cNvPicPr>
            <a:picLocks noChangeAspect="1"/>
          </p:cNvPicPr>
          <p:nvPr/>
        </p:nvPicPr>
        <p:blipFill>
          <a:blip r:embed="rId11"/>
          <a:srcRect/>
          <a:stretch/>
        </p:blipFill>
        <p:spPr>
          <a:xfrm>
            <a:off x="3246120" y="5212080"/>
            <a:ext cx="502920" cy="274320"/>
          </a:xfrm>
          <a:prstGeom prst="rect">
            <a:avLst/>
          </a:prstGeom>
        </p:spPr>
      </p:pic>
      <p:sp>
        <p:nvSpPr>
          <p:cNvPr id="59" name="Text 48"/>
          <p:cNvSpPr txBox="1"/>
          <p:nvPr/>
        </p:nvSpPr>
        <p:spPr>
          <a:xfrm>
            <a:off x="2971800" y="5522976"/>
            <a:ext cx="1051560" cy="329184"/>
          </a:xfrm>
          <a:prstGeom prst="rect">
            <a:avLst/>
          </a:prstGeom>
          <a:noFill/>
          <a:ln/>
        </p:spPr>
        <p:txBody>
          <a:bodyPr wrap="square" lIns="0" tIns="0" rIns="0" bIns="0" rtlCol="0" anchor="t"/>
          <a:lstStyle/>
          <a:p>
            <a:pPr marL="0" indent="0" algn="ctr">
              <a:buNone/>
            </a:pPr>
            <a:r>
              <a:rPr lang="en-US" sz="1000" dirty="0">
                <a:solidFill>
                  <a:srgbClr val="1B2A22"/>
                </a:solidFill>
                <a:latin typeface="Calibri" pitchFamily="34" charset="0"/>
                <a:ea typeface="Calibri" pitchFamily="34" charset="-122"/>
                <a:cs typeface="Calibri" pitchFamily="34" charset="-120"/>
              </a:rPr>
              <a:t>12 V battery</a:t>
            </a:r>
            <a:endParaRPr lang="en-US" sz="1000" dirty="0"/>
          </a:p>
        </p:txBody>
      </p:sp>
      <p:sp>
        <p:nvSpPr>
          <p:cNvPr id="61" name="solar to charger"/>
          <p:cNvSpPr/>
          <p:nvPr/>
        </p:nvSpPr>
        <p:spPr>
          <a:xfrm>
            <a:off x="1325880" y="5340096"/>
            <a:ext cx="640080" cy="0"/>
          </a:xfrm>
          <a:prstGeom prst="line">
            <a:avLst/>
          </a:prstGeom>
          <a:noFill/>
          <a:ln w="25400">
            <a:solidFill>
              <a:srgbClr val="66756D"/>
            </a:solidFill>
            <a:prstDash val="solid"/>
            <a:tailEnd type="triangle"/>
          </a:ln>
        </p:spPr>
        <p:txBody>
          <a:bodyPr/>
          <a:lstStyle/>
          <a:p>
            <a:endParaRPr lang="en-IN"/>
          </a:p>
        </p:txBody>
      </p:sp>
      <p:sp>
        <p:nvSpPr>
          <p:cNvPr id="62" name="charger to battery"/>
          <p:cNvSpPr/>
          <p:nvPr/>
        </p:nvSpPr>
        <p:spPr>
          <a:xfrm>
            <a:off x="2560320" y="5340096"/>
            <a:ext cx="640080" cy="0"/>
          </a:xfrm>
          <a:prstGeom prst="line">
            <a:avLst/>
          </a:prstGeom>
          <a:noFill/>
          <a:ln w="25400">
            <a:solidFill>
              <a:srgbClr val="66756D"/>
            </a:solidFill>
            <a:prstDash val="solid"/>
            <a:tailEnd type="triangle"/>
          </a:ln>
        </p:spPr>
        <p:txBody>
          <a:bodyPr/>
          <a:lstStyle/>
          <a:p>
            <a:endParaRPr lang="en-IN"/>
          </a:p>
        </p:txBody>
      </p:sp>
      <p:sp>
        <p:nvSpPr>
          <p:cNvPr id="63" name="Power"/>
          <p:cNvSpPr/>
          <p:nvPr/>
        </p:nvSpPr>
        <p:spPr>
          <a:xfrm flipV="1">
            <a:off x="3657600" y="4910328"/>
            <a:ext cx="0" cy="246888"/>
          </a:xfrm>
          <a:prstGeom prst="line">
            <a:avLst/>
          </a:prstGeom>
          <a:noFill/>
          <a:ln w="25400">
            <a:solidFill>
              <a:srgbClr val="C0392B"/>
            </a:solidFill>
            <a:prstDash val="dash"/>
            <a:tailEnd type="triangle"/>
          </a:ln>
        </p:spPr>
        <p:txBody>
          <a:bodyPr/>
          <a:lstStyle/>
          <a:p>
            <a:endParaRPr lang="en-IN"/>
          </a:p>
        </p:txBody>
      </p:sp>
      <p:sp>
        <p:nvSpPr>
          <p:cNvPr id="64" name="Text 53"/>
          <p:cNvSpPr txBox="1"/>
          <p:nvPr/>
        </p:nvSpPr>
        <p:spPr>
          <a:xfrm>
            <a:off x="2194560" y="4956048"/>
            <a:ext cx="1417320" cy="182880"/>
          </a:xfrm>
          <a:prstGeom prst="rect">
            <a:avLst/>
          </a:prstGeom>
          <a:noFill/>
          <a:ln/>
        </p:spPr>
        <p:txBody>
          <a:bodyPr wrap="square" lIns="0" tIns="0" rIns="0" bIns="0" rtlCol="0" anchor="t"/>
          <a:lstStyle/>
          <a:p>
            <a:pPr marL="0" indent="0" algn="r">
              <a:buNone/>
            </a:pPr>
            <a:r>
              <a:rPr lang="en-US" sz="1000" dirty="0">
                <a:solidFill>
                  <a:srgbClr val="C0392B"/>
                </a:solidFill>
                <a:latin typeface="Calibri" pitchFamily="34" charset="0"/>
                <a:ea typeface="Calibri" pitchFamily="34" charset="-122"/>
                <a:cs typeface="Calibri" pitchFamily="34" charset="-120"/>
              </a:rPr>
              <a:t>Power (5 V / 12 V)</a:t>
            </a:r>
            <a:endParaRPr lang="en-US" sz="1000" dirty="0"/>
          </a:p>
        </p:txBody>
      </p:sp>
      <p:sp>
        <p:nvSpPr>
          <p:cNvPr id="65" name="Camera frame card"/>
          <p:cNvSpPr/>
          <p:nvPr/>
        </p:nvSpPr>
        <p:spPr>
          <a:xfrm>
            <a:off x="4526280" y="1920240"/>
            <a:ext cx="1554480" cy="1188720"/>
          </a:xfrm>
          <a:prstGeom prst="roundRect">
            <a:avLst>
              <a:gd name="adj" fmla="val 6154"/>
            </a:avLst>
          </a:prstGeom>
          <a:solidFill>
            <a:srgbClr val="FFFFFF"/>
          </a:solidFill>
          <a:ln w="12700">
            <a:solidFill>
              <a:srgbClr val="D9D2BC"/>
            </a:solidFill>
            <a:prstDash val="solid"/>
          </a:ln>
        </p:spPr>
        <p:txBody>
          <a:bodyPr/>
          <a:lstStyle/>
          <a:p>
            <a:endParaRPr lang="en-IN"/>
          </a:p>
        </p:txBody>
      </p:sp>
      <p:pic>
        <p:nvPicPr>
          <p:cNvPr id="66" name="Image 9" descr="Illustrative camera frame"/>
          <p:cNvPicPr>
            <a:picLocks noChangeAspect="1"/>
          </p:cNvPicPr>
          <p:nvPr/>
        </p:nvPicPr>
        <p:blipFill>
          <a:blip r:embed="rId12"/>
          <a:stretch>
            <a:fillRect/>
          </a:stretch>
        </p:blipFill>
        <p:spPr>
          <a:xfrm>
            <a:off x="4599432" y="1975104"/>
            <a:ext cx="1408176" cy="822960"/>
          </a:xfrm>
          <a:prstGeom prst="rect">
            <a:avLst/>
          </a:prstGeom>
        </p:spPr>
      </p:pic>
      <p:sp>
        <p:nvSpPr>
          <p:cNvPr id="67" name="Text 55"/>
          <p:cNvSpPr txBox="1"/>
          <p:nvPr/>
        </p:nvSpPr>
        <p:spPr>
          <a:xfrm>
            <a:off x="4572000" y="2834640"/>
            <a:ext cx="1463040" cy="256032"/>
          </a:xfrm>
          <a:prstGeom prst="rect">
            <a:avLst/>
          </a:prstGeom>
          <a:noFill/>
          <a:ln/>
        </p:spPr>
        <p:txBody>
          <a:bodyPr wrap="square" lIns="0" tIns="0" rIns="0" bIns="0" rtlCol="0" anchor="t"/>
          <a:lstStyle/>
          <a:p>
            <a:pPr marL="0" indent="0" algn="ctr">
              <a:buNone/>
            </a:pPr>
            <a:r>
              <a:rPr lang="en-US" sz="950" dirty="0">
                <a:solidFill>
                  <a:srgbClr val="66756D"/>
                </a:solidFill>
                <a:latin typeface="Calibri" pitchFamily="34" charset="0"/>
                <a:ea typeface="Calibri" pitchFamily="34" charset="-122"/>
                <a:cs typeface="Calibri" pitchFamily="34" charset="-120"/>
              </a:rPr>
              <a:t>Frame from camera (illustrative)</a:t>
            </a:r>
            <a:endParaRPr lang="en-US" sz="950" dirty="0"/>
          </a:p>
        </p:txBody>
      </p:sp>
      <p:sp>
        <p:nvSpPr>
          <p:cNvPr id="68" name="frame to yolo"/>
          <p:cNvSpPr/>
          <p:nvPr/>
        </p:nvSpPr>
        <p:spPr>
          <a:xfrm>
            <a:off x="6080760" y="2514600"/>
            <a:ext cx="274320" cy="0"/>
          </a:xfrm>
          <a:prstGeom prst="line">
            <a:avLst/>
          </a:prstGeom>
          <a:noFill/>
          <a:ln w="25400">
            <a:solidFill>
              <a:srgbClr val="2E7D4F"/>
            </a:solidFill>
            <a:prstDash val="solid"/>
            <a:tailEnd type="triangle"/>
          </a:ln>
        </p:spPr>
        <p:txBody>
          <a:bodyPr/>
          <a:lstStyle/>
          <a:p>
            <a:endParaRPr lang="en-IN"/>
          </a:p>
        </p:txBody>
      </p:sp>
      <p:sp>
        <p:nvSpPr>
          <p:cNvPr id="69" name="YOLOv8 card"/>
          <p:cNvSpPr/>
          <p:nvPr/>
        </p:nvSpPr>
        <p:spPr>
          <a:xfrm>
            <a:off x="6355080" y="1920240"/>
            <a:ext cx="1828800" cy="1188720"/>
          </a:xfrm>
          <a:prstGeom prst="roundRect">
            <a:avLst>
              <a:gd name="adj" fmla="val 6154"/>
            </a:avLst>
          </a:prstGeom>
          <a:solidFill>
            <a:srgbClr val="E3ECF8"/>
          </a:solidFill>
          <a:ln w="12700">
            <a:solidFill>
              <a:srgbClr val="B8CBEA"/>
            </a:solidFill>
            <a:prstDash val="solid"/>
          </a:ln>
        </p:spPr>
        <p:txBody>
          <a:bodyPr/>
          <a:lstStyle/>
          <a:p>
            <a:endParaRPr lang="en-IN"/>
          </a:p>
        </p:txBody>
      </p:sp>
      <p:sp>
        <p:nvSpPr>
          <p:cNvPr id="70" name="Text 58"/>
          <p:cNvSpPr txBox="1"/>
          <p:nvPr/>
        </p:nvSpPr>
        <p:spPr>
          <a:xfrm>
            <a:off x="6446520" y="2011680"/>
            <a:ext cx="1645920" cy="237744"/>
          </a:xfrm>
          <a:prstGeom prst="rect">
            <a:avLst/>
          </a:prstGeom>
          <a:noFill/>
          <a:ln/>
        </p:spPr>
        <p:txBody>
          <a:bodyPr wrap="square" lIns="0" tIns="0" rIns="0" bIns="0" rtlCol="0" anchor="t"/>
          <a:lstStyle/>
          <a:p>
            <a:pPr marL="0" indent="0" algn="ctr">
              <a:buNone/>
            </a:pPr>
            <a:r>
              <a:rPr lang="en-US" sz="1300" b="1" dirty="0">
                <a:solidFill>
                  <a:srgbClr val="1F4D36"/>
                </a:solidFill>
                <a:latin typeface="Calibri" pitchFamily="34" charset="0"/>
                <a:ea typeface="Calibri" pitchFamily="34" charset="-122"/>
                <a:cs typeface="Calibri" pitchFamily="34" charset="-120"/>
              </a:rPr>
              <a:t>YOLOv8 Inference</a:t>
            </a:r>
            <a:endParaRPr lang="en-US" sz="1300" dirty="0"/>
          </a:p>
        </p:txBody>
      </p:sp>
      <p:sp>
        <p:nvSpPr>
          <p:cNvPr id="71" name="Text 59"/>
          <p:cNvSpPr txBox="1"/>
          <p:nvPr/>
        </p:nvSpPr>
        <p:spPr>
          <a:xfrm>
            <a:off x="6446520" y="2267712"/>
            <a:ext cx="1645920" cy="201168"/>
          </a:xfrm>
          <a:prstGeom prst="rect">
            <a:avLst/>
          </a:prstGeom>
          <a:noFill/>
          <a:ln/>
        </p:spPr>
        <p:txBody>
          <a:bodyPr wrap="square" lIns="0" tIns="0" rIns="0" bIns="0" rtlCol="0" anchor="t"/>
          <a:lstStyle/>
          <a:p>
            <a:pPr marL="0" indent="0" algn="ctr">
              <a:buNone/>
            </a:pPr>
            <a:r>
              <a:rPr lang="en-US" sz="1000" dirty="0">
                <a:solidFill>
                  <a:srgbClr val="66756D"/>
                </a:solidFill>
                <a:latin typeface="Calibri" pitchFamily="34" charset="0"/>
                <a:ea typeface="Calibri" pitchFamily="34" charset="-122"/>
                <a:cs typeface="Calibri" pitchFamily="34" charset="-120"/>
              </a:rPr>
              <a:t>(on laptop / edge device)</a:t>
            </a:r>
            <a:endParaRPr lang="en-US" sz="1000" dirty="0"/>
          </a:p>
        </p:txBody>
      </p:sp>
      <p:sp>
        <p:nvSpPr>
          <p:cNvPr id="72" name="Text 60"/>
          <p:cNvSpPr txBox="1"/>
          <p:nvPr/>
        </p:nvSpPr>
        <p:spPr>
          <a:xfrm>
            <a:off x="6446520" y="2542032"/>
            <a:ext cx="1645920" cy="201168"/>
          </a:xfrm>
          <a:prstGeom prst="rect">
            <a:avLst/>
          </a:prstGeom>
          <a:noFill/>
          <a:ln/>
        </p:spPr>
        <p:txBody>
          <a:bodyPr wrap="square" lIns="0" tIns="0" rIns="0" bIns="0" rtlCol="0" anchor="t"/>
          <a:lstStyle/>
          <a:p>
            <a:pPr marL="0" indent="0" algn="ctr">
              <a:buNone/>
            </a:pPr>
            <a:r>
              <a:rPr lang="en-US" sz="1050" b="1" dirty="0">
                <a:solidFill>
                  <a:srgbClr val="1F4D36"/>
                </a:solidFill>
                <a:latin typeface="Calibri" pitchFamily="34" charset="0"/>
                <a:ea typeface="Calibri" pitchFamily="34" charset="-122"/>
                <a:cs typeface="Calibri" pitchFamily="34" charset="-120"/>
              </a:rPr>
              <a:t>class + confidence</a:t>
            </a:r>
            <a:endParaRPr lang="en-US" sz="1050" dirty="0"/>
          </a:p>
        </p:txBody>
      </p:sp>
      <p:sp>
        <p:nvSpPr>
          <p:cNvPr id="74" name="yolo to decision"/>
          <p:cNvSpPr/>
          <p:nvPr/>
        </p:nvSpPr>
        <p:spPr>
          <a:xfrm>
            <a:off x="7269480" y="3108960"/>
            <a:ext cx="0" cy="365760"/>
          </a:xfrm>
          <a:prstGeom prst="line">
            <a:avLst/>
          </a:prstGeom>
          <a:noFill/>
          <a:ln w="25400">
            <a:solidFill>
              <a:srgbClr val="2E7D4F"/>
            </a:solidFill>
            <a:prstDash val="solid"/>
            <a:tailEnd type="triangle"/>
          </a:ln>
        </p:spPr>
        <p:txBody>
          <a:bodyPr/>
          <a:lstStyle/>
          <a:p>
            <a:endParaRPr lang="en-IN"/>
          </a:p>
        </p:txBody>
      </p:sp>
      <p:sp>
        <p:nvSpPr>
          <p:cNvPr id="75" name="Text 63"/>
          <p:cNvSpPr txBox="1"/>
          <p:nvPr/>
        </p:nvSpPr>
        <p:spPr>
          <a:xfrm>
            <a:off x="4754880" y="3200400"/>
            <a:ext cx="2423160" cy="201168"/>
          </a:xfrm>
          <a:prstGeom prst="rect">
            <a:avLst/>
          </a:prstGeom>
          <a:noFill/>
          <a:ln/>
        </p:spPr>
        <p:txBody>
          <a:bodyPr wrap="square" lIns="0" tIns="0" rIns="0" bIns="0" rtlCol="0" anchor="t"/>
          <a:lstStyle/>
          <a:p>
            <a:pPr marL="0" indent="0" algn="r">
              <a:buNone/>
            </a:pPr>
            <a:r>
              <a:rPr lang="en-US" sz="1000" dirty="0">
                <a:solidFill>
                  <a:srgbClr val="66756D"/>
                </a:solidFill>
                <a:latin typeface="Calibri" pitchFamily="34" charset="0"/>
                <a:ea typeface="Calibri" pitchFamily="34" charset="-122"/>
                <a:cs typeface="Calibri" pitchFamily="34" charset="-120"/>
              </a:rPr>
              <a:t>Detected class + confidence (e.g. cow: 0.87)</a:t>
            </a:r>
            <a:endParaRPr lang="en-US" sz="1000" dirty="0"/>
          </a:p>
        </p:txBody>
      </p:sp>
      <p:sp>
        <p:nvSpPr>
          <p:cNvPr id="76" name="Decision logic card"/>
          <p:cNvSpPr/>
          <p:nvPr/>
        </p:nvSpPr>
        <p:spPr>
          <a:xfrm>
            <a:off x="4526280" y="3493008"/>
            <a:ext cx="3657600" cy="1371600"/>
          </a:xfrm>
          <a:prstGeom prst="roundRect">
            <a:avLst>
              <a:gd name="adj" fmla="val 5333"/>
            </a:avLst>
          </a:prstGeom>
          <a:solidFill>
            <a:srgbClr val="E7F0E4"/>
          </a:solidFill>
          <a:ln w="12700">
            <a:solidFill>
              <a:srgbClr val="B8D8C0"/>
            </a:solidFill>
            <a:prstDash val="solid"/>
          </a:ln>
        </p:spPr>
        <p:txBody>
          <a:bodyPr/>
          <a:lstStyle/>
          <a:p>
            <a:endParaRPr lang="en-IN"/>
          </a:p>
        </p:txBody>
      </p:sp>
      <p:pic>
        <p:nvPicPr>
          <p:cNvPr id="77" name="Image 10" descr="Gear icon"/>
          <p:cNvPicPr>
            <a:picLocks noChangeAspect="1"/>
          </p:cNvPicPr>
          <p:nvPr/>
        </p:nvPicPr>
        <p:blipFill>
          <a:blip r:embed="rId13"/>
          <a:stretch>
            <a:fillRect/>
          </a:stretch>
        </p:blipFill>
        <p:spPr>
          <a:xfrm>
            <a:off x="4636008" y="3566160"/>
            <a:ext cx="274320" cy="274320"/>
          </a:xfrm>
          <a:prstGeom prst="rect">
            <a:avLst/>
          </a:prstGeom>
        </p:spPr>
      </p:pic>
      <p:sp>
        <p:nvSpPr>
          <p:cNvPr id="78" name="Text 65"/>
          <p:cNvSpPr txBox="1"/>
          <p:nvPr/>
        </p:nvSpPr>
        <p:spPr>
          <a:xfrm>
            <a:off x="4983480" y="3566160"/>
            <a:ext cx="1828800" cy="274320"/>
          </a:xfrm>
          <a:prstGeom prst="rect">
            <a:avLst/>
          </a:prstGeom>
          <a:noFill/>
          <a:ln/>
        </p:spPr>
        <p:txBody>
          <a:bodyPr wrap="square" lIns="0" tIns="0" rIns="0" bIns="0" rtlCol="0" anchor="ctr"/>
          <a:lstStyle/>
          <a:p>
            <a:pPr marL="0" indent="0">
              <a:buNone/>
            </a:pPr>
            <a:r>
              <a:rPr lang="en-US" sz="1300" b="1" dirty="0">
                <a:solidFill>
                  <a:srgbClr val="1F4D36"/>
                </a:solidFill>
                <a:latin typeface="Calibri" pitchFamily="34" charset="0"/>
                <a:ea typeface="Calibri" pitchFamily="34" charset="-122"/>
                <a:cs typeface="Calibri" pitchFamily="34" charset="-120"/>
              </a:rPr>
              <a:t>Decision Logic</a:t>
            </a:r>
            <a:endParaRPr lang="en-US" sz="1300" dirty="0"/>
          </a:p>
        </p:txBody>
      </p:sp>
      <p:sp>
        <p:nvSpPr>
          <p:cNvPr id="80" name="Text 67"/>
          <p:cNvSpPr txBox="1"/>
          <p:nvPr/>
        </p:nvSpPr>
        <p:spPr>
          <a:xfrm>
            <a:off x="4663440" y="3904488"/>
            <a:ext cx="3383280" cy="914400"/>
          </a:xfrm>
          <a:prstGeom prst="rect">
            <a:avLst/>
          </a:prstGeom>
          <a:noFill/>
          <a:ln/>
        </p:spPr>
        <p:txBody>
          <a:bodyPr wrap="square" lIns="0" tIns="0" rIns="0" bIns="0" rtlCol="0" anchor="t"/>
          <a:lstStyle/>
          <a:p>
            <a:pPr marL="127000" indent="-127000">
              <a:spcAft>
                <a:spcPts val="100"/>
              </a:spcAft>
              <a:buSzPct val="100000"/>
              <a:buChar char="•"/>
            </a:pPr>
            <a:r>
              <a:rPr lang="en-US" sz="1050" dirty="0">
                <a:solidFill>
                  <a:srgbClr val="1B2A22"/>
                </a:solidFill>
                <a:latin typeface="Calibri" pitchFamily="34" charset="0"/>
                <a:ea typeface="Calibri" pitchFamily="34" charset="-122"/>
                <a:cs typeface="Calibri" pitchFamily="34" charset="-120"/>
              </a:rPr>
              <a:t>Check supported class (animal)</a:t>
            </a:r>
            <a:endParaRPr lang="en-US" sz="1050" dirty="0"/>
          </a:p>
          <a:p>
            <a:pPr marL="127000" indent="-127000">
              <a:spcAft>
                <a:spcPts val="100"/>
              </a:spcAft>
              <a:buSzPct val="100000"/>
              <a:buChar char="•"/>
            </a:pPr>
            <a:r>
              <a:rPr lang="en-US" sz="1050" dirty="0">
                <a:solidFill>
                  <a:srgbClr val="1B2A22"/>
                </a:solidFill>
                <a:latin typeface="Calibri" pitchFamily="34" charset="0"/>
                <a:ea typeface="Calibri" pitchFamily="34" charset="-122"/>
                <a:cs typeface="Calibri" pitchFamily="34" charset="-120"/>
              </a:rPr>
              <a:t>Confidence threshold (e.g. ≥ 0.6)</a:t>
            </a:r>
            <a:endParaRPr lang="en-US" sz="1050" dirty="0"/>
          </a:p>
          <a:p>
            <a:pPr marL="127000" indent="-127000">
              <a:spcAft>
                <a:spcPts val="100"/>
              </a:spcAft>
              <a:buSzPct val="100000"/>
              <a:buChar char="•"/>
            </a:pPr>
            <a:r>
              <a:rPr lang="en-US" sz="1050" dirty="0">
                <a:solidFill>
                  <a:srgbClr val="1B2A22"/>
                </a:solidFill>
                <a:latin typeface="Calibri" pitchFamily="34" charset="0"/>
                <a:ea typeface="Calibri" pitchFamily="34" charset="-122"/>
                <a:cs typeface="Calibri" pitchFamily="34" charset="-120"/>
              </a:rPr>
              <a:t>Cooldown timer</a:t>
            </a:r>
            <a:endParaRPr lang="en-US" sz="1050" dirty="0"/>
          </a:p>
          <a:p>
            <a:pPr marL="127000" indent="-127000">
              <a:spcAft>
                <a:spcPts val="100"/>
              </a:spcAft>
              <a:buSzPct val="100000"/>
              <a:buChar char="•"/>
            </a:pPr>
            <a:r>
              <a:rPr lang="en-US" sz="1050" dirty="0">
                <a:solidFill>
                  <a:srgbClr val="1B2A22"/>
                </a:solidFill>
                <a:latin typeface="Calibri" pitchFamily="34" charset="0"/>
                <a:ea typeface="Calibri" pitchFamily="34" charset="-122"/>
                <a:cs typeface="Calibri" pitchFamily="34" charset="-120"/>
              </a:rPr>
              <a:t>Ignore humans and low confidence</a:t>
            </a:r>
            <a:endParaRPr lang="en-US" sz="1050" dirty="0"/>
          </a:p>
          <a:p>
            <a:pPr marL="127000" indent="-127000">
              <a:spcAft>
                <a:spcPts val="100"/>
              </a:spcAft>
              <a:buSzPct val="100000"/>
              <a:buChar char="•"/>
            </a:pPr>
            <a:r>
              <a:rPr lang="en-US" sz="1050" dirty="0">
                <a:solidFill>
                  <a:srgbClr val="1B2A22"/>
                </a:solidFill>
                <a:latin typeface="Calibri" pitchFamily="34" charset="0"/>
                <a:ea typeface="Calibri" pitchFamily="34" charset="-122"/>
                <a:cs typeface="Calibri" pitchFamily="34" charset="-120"/>
              </a:rPr>
              <a:t>Handle no-detection and errors</a:t>
            </a:r>
            <a:endParaRPr lang="en-US" sz="1050" dirty="0"/>
          </a:p>
        </p:txBody>
      </p:sp>
      <p:sp>
        <p:nvSpPr>
          <p:cNvPr id="81" name="Actuation command"/>
          <p:cNvSpPr/>
          <p:nvPr/>
        </p:nvSpPr>
        <p:spPr>
          <a:xfrm flipH="1">
            <a:off x="4343400" y="4206240"/>
            <a:ext cx="182880" cy="0"/>
          </a:xfrm>
          <a:prstGeom prst="line">
            <a:avLst/>
          </a:prstGeom>
          <a:noFill/>
          <a:ln w="25400">
            <a:solidFill>
              <a:srgbClr val="C0392B"/>
            </a:solidFill>
            <a:prstDash val="dash"/>
            <a:tailEnd type="triangle"/>
          </a:ln>
        </p:spPr>
        <p:txBody>
          <a:bodyPr/>
          <a:lstStyle/>
          <a:p>
            <a:endParaRPr lang="en-IN"/>
          </a:p>
        </p:txBody>
      </p:sp>
      <p:pic>
        <p:nvPicPr>
          <p:cNvPr id="82" name="Image 11" descr="People icon"/>
          <p:cNvPicPr>
            <a:picLocks noChangeAspect="1"/>
          </p:cNvPicPr>
          <p:nvPr/>
        </p:nvPicPr>
        <p:blipFill>
          <a:blip r:embed="rId14"/>
          <a:stretch>
            <a:fillRect/>
          </a:stretch>
        </p:blipFill>
        <p:spPr>
          <a:xfrm>
            <a:off x="4599432" y="5029200"/>
            <a:ext cx="256032" cy="256032"/>
          </a:xfrm>
          <a:prstGeom prst="rect">
            <a:avLst/>
          </a:prstGeom>
        </p:spPr>
      </p:pic>
      <p:sp>
        <p:nvSpPr>
          <p:cNvPr id="83" name="Human branch"/>
          <p:cNvSpPr/>
          <p:nvPr/>
        </p:nvSpPr>
        <p:spPr>
          <a:xfrm>
            <a:off x="4526280" y="4992624"/>
            <a:ext cx="1783080" cy="411480"/>
          </a:xfrm>
          <a:prstGeom prst="roundRect">
            <a:avLst>
              <a:gd name="adj" fmla="val 17778"/>
            </a:avLst>
          </a:prstGeom>
          <a:solidFill>
            <a:srgbClr val="EDEFED"/>
          </a:solidFill>
          <a:ln w="12700">
            <a:solidFill>
              <a:srgbClr val="D9D2BC"/>
            </a:solidFill>
            <a:prstDash val="solid"/>
          </a:ln>
        </p:spPr>
        <p:txBody>
          <a:bodyPr/>
          <a:lstStyle/>
          <a:p>
            <a:endParaRPr lang="en-IN"/>
          </a:p>
        </p:txBody>
      </p:sp>
      <p:sp>
        <p:nvSpPr>
          <p:cNvPr id="84" name="Text 70"/>
          <p:cNvSpPr txBox="1"/>
          <p:nvPr/>
        </p:nvSpPr>
        <p:spPr>
          <a:xfrm>
            <a:off x="4910328" y="5010912"/>
            <a:ext cx="1371600" cy="384048"/>
          </a:xfrm>
          <a:prstGeom prst="rect">
            <a:avLst/>
          </a:prstGeom>
          <a:noFill/>
          <a:ln/>
        </p:spPr>
        <p:txBody>
          <a:bodyPr wrap="square" lIns="0" tIns="0" rIns="0" bIns="0" rtlCol="0" anchor="ctr"/>
          <a:lstStyle/>
          <a:p>
            <a:pPr marL="0" indent="0">
              <a:buNone/>
            </a:pPr>
            <a:r>
              <a:rPr lang="en-US" sz="950" b="1" dirty="0">
                <a:solidFill>
                  <a:srgbClr val="1B2A22"/>
                </a:solidFill>
                <a:latin typeface="Calibri" pitchFamily="34" charset="0"/>
                <a:ea typeface="Calibri" pitchFamily="34" charset="-122"/>
                <a:cs typeface="Calibri" pitchFamily="34" charset="-120"/>
              </a:rPr>
              <a:t>Human / No detection / Low confidence</a:t>
            </a:r>
            <a:endParaRPr lang="en-US" sz="950" dirty="0"/>
          </a:p>
        </p:txBody>
      </p:sp>
      <p:sp>
        <p:nvSpPr>
          <p:cNvPr id="85" name="Animal branch"/>
          <p:cNvSpPr/>
          <p:nvPr/>
        </p:nvSpPr>
        <p:spPr>
          <a:xfrm>
            <a:off x="6400800" y="4992624"/>
            <a:ext cx="1783080" cy="411480"/>
          </a:xfrm>
          <a:prstGeom prst="roundRect">
            <a:avLst>
              <a:gd name="adj" fmla="val 17778"/>
            </a:avLst>
          </a:prstGeom>
          <a:solidFill>
            <a:srgbClr val="F8E3DF"/>
          </a:solidFill>
          <a:ln w="12700">
            <a:solidFill>
              <a:srgbClr val="E8B5AC"/>
            </a:solidFill>
            <a:prstDash val="solid"/>
          </a:ln>
        </p:spPr>
        <p:txBody>
          <a:bodyPr/>
          <a:lstStyle/>
          <a:p>
            <a:endParaRPr lang="en-IN"/>
          </a:p>
        </p:txBody>
      </p:sp>
      <p:pic>
        <p:nvPicPr>
          <p:cNvPr id="86" name="Image 12" descr="Paw icon"/>
          <p:cNvPicPr>
            <a:picLocks noChangeAspect="1"/>
          </p:cNvPicPr>
          <p:nvPr/>
        </p:nvPicPr>
        <p:blipFill>
          <a:blip r:embed="rId15"/>
          <a:stretch>
            <a:fillRect/>
          </a:stretch>
        </p:blipFill>
        <p:spPr>
          <a:xfrm>
            <a:off x="6464808" y="5065776"/>
            <a:ext cx="237744" cy="237744"/>
          </a:xfrm>
          <a:prstGeom prst="rect">
            <a:avLst/>
          </a:prstGeom>
        </p:spPr>
      </p:pic>
      <p:sp>
        <p:nvSpPr>
          <p:cNvPr id="87" name="Text 72"/>
          <p:cNvSpPr txBox="1"/>
          <p:nvPr/>
        </p:nvSpPr>
        <p:spPr>
          <a:xfrm>
            <a:off x="6766560" y="5010912"/>
            <a:ext cx="1371600" cy="384048"/>
          </a:xfrm>
          <a:prstGeom prst="rect">
            <a:avLst/>
          </a:prstGeom>
          <a:noFill/>
          <a:ln/>
        </p:spPr>
        <p:txBody>
          <a:bodyPr wrap="square" lIns="0" tIns="0" rIns="0" bIns="0" rtlCol="0" anchor="ctr"/>
          <a:lstStyle/>
          <a:p>
            <a:pPr marL="0" indent="0">
              <a:buNone/>
            </a:pPr>
            <a:r>
              <a:rPr lang="en-US" sz="950" b="1" dirty="0">
                <a:solidFill>
                  <a:srgbClr val="1B2A22"/>
                </a:solidFill>
                <a:latin typeface="Calibri" pitchFamily="34" charset="0"/>
                <a:ea typeface="Calibri" pitchFamily="34" charset="-122"/>
                <a:cs typeface="Calibri" pitchFamily="34" charset="-120"/>
              </a:rPr>
              <a:t>Animal detected (sufficient confidence)</a:t>
            </a:r>
            <a:endParaRPr lang="en-US" sz="950" dirty="0"/>
          </a:p>
        </p:txBody>
      </p:sp>
      <p:sp>
        <p:nvSpPr>
          <p:cNvPr id="88" name="Connector"/>
          <p:cNvSpPr/>
          <p:nvPr/>
        </p:nvSpPr>
        <p:spPr>
          <a:xfrm>
            <a:off x="5394960" y="4864608"/>
            <a:ext cx="0" cy="128016"/>
          </a:xfrm>
          <a:prstGeom prst="line">
            <a:avLst/>
          </a:prstGeom>
          <a:noFill/>
          <a:ln w="25400">
            <a:solidFill>
              <a:srgbClr val="2E7D4F"/>
            </a:solidFill>
            <a:prstDash val="dash"/>
            <a:tailEnd type="triangle"/>
          </a:ln>
        </p:spPr>
        <p:txBody>
          <a:bodyPr/>
          <a:lstStyle/>
          <a:p>
            <a:endParaRPr lang="en-IN"/>
          </a:p>
        </p:txBody>
      </p:sp>
      <p:sp>
        <p:nvSpPr>
          <p:cNvPr id="89" name="Connector"/>
          <p:cNvSpPr/>
          <p:nvPr/>
        </p:nvSpPr>
        <p:spPr>
          <a:xfrm>
            <a:off x="7269480" y="4864608"/>
            <a:ext cx="0" cy="128016"/>
          </a:xfrm>
          <a:prstGeom prst="line">
            <a:avLst/>
          </a:prstGeom>
          <a:noFill/>
          <a:ln w="25400">
            <a:solidFill>
              <a:srgbClr val="C0392B"/>
            </a:solidFill>
            <a:prstDash val="dash"/>
            <a:tailEnd type="triangle"/>
          </a:ln>
        </p:spPr>
        <p:txBody>
          <a:bodyPr/>
          <a:lstStyle/>
          <a:p>
            <a:endParaRPr lang="en-IN"/>
          </a:p>
        </p:txBody>
      </p:sp>
      <p:sp>
        <p:nvSpPr>
          <p:cNvPr id="90" name="No deterrence"/>
          <p:cNvSpPr/>
          <p:nvPr/>
        </p:nvSpPr>
        <p:spPr>
          <a:xfrm>
            <a:off x="4526280" y="5486400"/>
            <a:ext cx="1783080" cy="384048"/>
          </a:xfrm>
          <a:prstGeom prst="roundRect">
            <a:avLst>
              <a:gd name="adj" fmla="val 19048"/>
            </a:avLst>
          </a:prstGeom>
          <a:solidFill>
            <a:srgbClr val="FFFFFF"/>
          </a:solidFill>
          <a:ln w="12700">
            <a:solidFill>
              <a:srgbClr val="D9D2BC"/>
            </a:solidFill>
            <a:prstDash val="solid"/>
          </a:ln>
        </p:spPr>
        <p:txBody>
          <a:bodyPr/>
          <a:lstStyle/>
          <a:p>
            <a:endParaRPr lang="en-IN"/>
          </a:p>
        </p:txBody>
      </p:sp>
      <p:sp>
        <p:nvSpPr>
          <p:cNvPr id="91" name="Text 76"/>
          <p:cNvSpPr txBox="1"/>
          <p:nvPr/>
        </p:nvSpPr>
        <p:spPr>
          <a:xfrm>
            <a:off x="4599432" y="5486400"/>
            <a:ext cx="1645920" cy="384048"/>
          </a:xfrm>
          <a:prstGeom prst="rect">
            <a:avLst/>
          </a:prstGeom>
          <a:noFill/>
          <a:ln/>
        </p:spPr>
        <p:txBody>
          <a:bodyPr wrap="square" lIns="0" tIns="0" rIns="0" bIns="0" rtlCol="0" anchor="ctr"/>
          <a:lstStyle/>
          <a:p>
            <a:pPr marL="0" indent="0" algn="ctr">
              <a:buNone/>
            </a:pPr>
            <a:r>
              <a:rPr lang="en-US" sz="1000" b="1" dirty="0">
                <a:solidFill>
                  <a:srgbClr val="1B2A22"/>
                </a:solidFill>
                <a:latin typeface="Calibri" pitchFamily="34" charset="0"/>
                <a:ea typeface="Calibri" pitchFamily="34" charset="-122"/>
                <a:cs typeface="Calibri" pitchFamily="34" charset="-120"/>
              </a:rPr>
              <a:t>No deterrence. Continue monitoring</a:t>
            </a:r>
            <a:endParaRPr lang="en-US" sz="1000" dirty="0"/>
          </a:p>
        </p:txBody>
      </p:sp>
      <p:sp>
        <p:nvSpPr>
          <p:cNvPr id="92" name="Send command"/>
          <p:cNvSpPr/>
          <p:nvPr/>
        </p:nvSpPr>
        <p:spPr>
          <a:xfrm>
            <a:off x="6400800" y="5486400"/>
            <a:ext cx="1783080" cy="384048"/>
          </a:xfrm>
          <a:prstGeom prst="roundRect">
            <a:avLst>
              <a:gd name="adj" fmla="val 19048"/>
            </a:avLst>
          </a:prstGeom>
          <a:solidFill>
            <a:srgbClr val="FFFFFF"/>
          </a:solidFill>
          <a:ln w="12700">
            <a:solidFill>
              <a:srgbClr val="D9D2BC"/>
            </a:solidFill>
            <a:prstDash val="solid"/>
          </a:ln>
        </p:spPr>
        <p:txBody>
          <a:bodyPr/>
          <a:lstStyle/>
          <a:p>
            <a:endParaRPr lang="en-IN"/>
          </a:p>
        </p:txBody>
      </p:sp>
      <p:sp>
        <p:nvSpPr>
          <p:cNvPr id="93" name="Text 78"/>
          <p:cNvSpPr txBox="1"/>
          <p:nvPr/>
        </p:nvSpPr>
        <p:spPr>
          <a:xfrm>
            <a:off x="6446520" y="5486400"/>
            <a:ext cx="1691640" cy="384048"/>
          </a:xfrm>
          <a:prstGeom prst="rect">
            <a:avLst/>
          </a:prstGeom>
          <a:noFill/>
          <a:ln/>
        </p:spPr>
        <p:txBody>
          <a:bodyPr wrap="square" lIns="0" tIns="0" rIns="0" bIns="0" rtlCol="0" anchor="ctr"/>
          <a:lstStyle/>
          <a:p>
            <a:pPr marL="0" indent="0" algn="ctr">
              <a:buNone/>
            </a:pPr>
            <a:r>
              <a:rPr lang="en-US" sz="950" b="1" dirty="0">
                <a:solidFill>
                  <a:srgbClr val="1B2A22"/>
                </a:solidFill>
                <a:latin typeface="Calibri" pitchFamily="34" charset="0"/>
                <a:ea typeface="Calibri" pitchFamily="34" charset="-122"/>
                <a:cs typeface="Calibri" pitchFamily="34" charset="-120"/>
              </a:rPr>
              <a:t>Send command to ESP32 (audio and/or servo)</a:t>
            </a:r>
            <a:endParaRPr lang="en-US" sz="950" dirty="0"/>
          </a:p>
        </p:txBody>
      </p:sp>
      <p:sp>
        <p:nvSpPr>
          <p:cNvPr id="94" name="Connector"/>
          <p:cNvSpPr/>
          <p:nvPr/>
        </p:nvSpPr>
        <p:spPr>
          <a:xfrm>
            <a:off x="5394960" y="5404104"/>
            <a:ext cx="0" cy="82296"/>
          </a:xfrm>
          <a:prstGeom prst="line">
            <a:avLst/>
          </a:prstGeom>
          <a:noFill/>
          <a:ln w="25400">
            <a:solidFill>
              <a:srgbClr val="66756D"/>
            </a:solidFill>
            <a:prstDash val="solid"/>
            <a:tailEnd type="triangle"/>
          </a:ln>
        </p:spPr>
        <p:txBody>
          <a:bodyPr/>
          <a:lstStyle/>
          <a:p>
            <a:endParaRPr lang="en-IN"/>
          </a:p>
        </p:txBody>
      </p:sp>
      <p:sp>
        <p:nvSpPr>
          <p:cNvPr id="95" name="Connector"/>
          <p:cNvSpPr/>
          <p:nvPr/>
        </p:nvSpPr>
        <p:spPr>
          <a:xfrm>
            <a:off x="7269480" y="5404104"/>
            <a:ext cx="0" cy="82296"/>
          </a:xfrm>
          <a:prstGeom prst="line">
            <a:avLst/>
          </a:prstGeom>
          <a:noFill/>
          <a:ln w="25400">
            <a:solidFill>
              <a:srgbClr val="66756D"/>
            </a:solidFill>
            <a:prstDash val="solid"/>
            <a:tailEnd type="triangle"/>
          </a:ln>
        </p:spPr>
        <p:txBody>
          <a:bodyPr/>
          <a:lstStyle/>
          <a:p>
            <a:endParaRPr lang="en-IN"/>
          </a:p>
        </p:txBody>
      </p:sp>
      <p:sp>
        <p:nvSpPr>
          <p:cNvPr id="96" name="Software FastAPI (REST API)"/>
          <p:cNvSpPr/>
          <p:nvPr/>
        </p:nvSpPr>
        <p:spPr>
          <a:xfrm>
            <a:off x="8686800" y="1920240"/>
            <a:ext cx="3090672" cy="914400"/>
          </a:xfrm>
          <a:prstGeom prst="roundRect">
            <a:avLst>
              <a:gd name="adj" fmla="val 8000"/>
            </a:avLst>
          </a:prstGeom>
          <a:solidFill>
            <a:srgbClr val="EAF0FB"/>
          </a:solidFill>
          <a:ln w="12700">
            <a:solidFill>
              <a:srgbClr val="D9D2BC"/>
            </a:solidFill>
            <a:prstDash val="solid"/>
          </a:ln>
        </p:spPr>
        <p:txBody>
          <a:bodyPr/>
          <a:lstStyle/>
          <a:p>
            <a:endParaRPr lang="en-IN"/>
          </a:p>
        </p:txBody>
      </p:sp>
      <p:pic>
        <p:nvPicPr>
          <p:cNvPr id="97" name="Image 13" descr="FastAPI (REST API)"/>
          <p:cNvPicPr>
            <a:picLocks noChangeAspect="1"/>
          </p:cNvPicPr>
          <p:nvPr/>
        </p:nvPicPr>
        <p:blipFill>
          <a:blip r:embed="rId16"/>
          <a:stretch>
            <a:fillRect/>
          </a:stretch>
        </p:blipFill>
        <p:spPr>
          <a:xfrm>
            <a:off x="8778240" y="1993392"/>
            <a:ext cx="274320" cy="274320"/>
          </a:xfrm>
          <a:prstGeom prst="rect">
            <a:avLst/>
          </a:prstGeom>
        </p:spPr>
      </p:pic>
      <p:sp>
        <p:nvSpPr>
          <p:cNvPr id="98" name="Text 82"/>
          <p:cNvSpPr txBox="1"/>
          <p:nvPr/>
        </p:nvSpPr>
        <p:spPr>
          <a:xfrm>
            <a:off x="9144000" y="1993392"/>
            <a:ext cx="1600200" cy="274320"/>
          </a:xfrm>
          <a:prstGeom prst="rect">
            <a:avLst/>
          </a:prstGeom>
          <a:noFill/>
          <a:ln/>
        </p:spPr>
        <p:txBody>
          <a:bodyPr wrap="square" lIns="0" tIns="0" rIns="0" bIns="0" rtlCol="0" anchor="ctr"/>
          <a:lstStyle/>
          <a:p>
            <a:pPr marL="0" indent="0">
              <a:buNone/>
            </a:pPr>
            <a:r>
              <a:rPr lang="en-US" sz="1100" b="1" dirty="0">
                <a:solidFill>
                  <a:srgbClr val="1B2A22"/>
                </a:solidFill>
                <a:latin typeface="Calibri" pitchFamily="34" charset="0"/>
                <a:ea typeface="Calibri" pitchFamily="34" charset="-122"/>
                <a:cs typeface="Calibri" pitchFamily="34" charset="-120"/>
              </a:rPr>
              <a:t>FastAPI (REST API)</a:t>
            </a:r>
            <a:endParaRPr lang="en-US" sz="1100" dirty="0"/>
          </a:p>
        </p:txBody>
      </p:sp>
      <p:sp>
        <p:nvSpPr>
          <p:cNvPr id="99" name="Status IN PROGRESS"/>
          <p:cNvSpPr/>
          <p:nvPr/>
        </p:nvSpPr>
        <p:spPr>
          <a:xfrm>
            <a:off x="10588752" y="2011680"/>
            <a:ext cx="1097280" cy="219456"/>
          </a:xfrm>
          <a:prstGeom prst="roundRect">
            <a:avLst>
              <a:gd name="adj" fmla="val 29167"/>
            </a:avLst>
          </a:prstGeom>
          <a:solidFill>
            <a:srgbClr val="D9B84A"/>
          </a:solidFill>
          <a:ln/>
        </p:spPr>
        <p:txBody>
          <a:bodyPr wrap="square" lIns="0" tIns="0" rIns="0" bIns="0" rtlCol="0" anchor="ctr"/>
          <a:lstStyle/>
          <a:p>
            <a:pPr marL="0" indent="0" algn="ctr">
              <a:buNone/>
            </a:pPr>
            <a:r>
              <a:rPr lang="en-US" sz="1000" b="1" kern="0" spc="50" dirty="0">
                <a:solidFill>
                  <a:srgbClr val="1B2A22"/>
                </a:solidFill>
                <a:latin typeface="Calibri" pitchFamily="34" charset="0"/>
                <a:ea typeface="Calibri" pitchFamily="34" charset="-122"/>
                <a:cs typeface="Calibri" pitchFamily="34" charset="-120"/>
              </a:rPr>
              <a:t>IN PROGRESS</a:t>
            </a:r>
            <a:endParaRPr lang="en-US" sz="1000" dirty="0"/>
          </a:p>
        </p:txBody>
      </p:sp>
      <p:sp>
        <p:nvSpPr>
          <p:cNvPr id="100" name="Text 84"/>
          <p:cNvSpPr txBox="1"/>
          <p:nvPr/>
        </p:nvSpPr>
        <p:spPr>
          <a:xfrm>
            <a:off x="8823960" y="2350008"/>
            <a:ext cx="2862072" cy="457200"/>
          </a:xfrm>
          <a:prstGeom prst="rect">
            <a:avLst/>
          </a:prstGeom>
          <a:noFill/>
          <a:ln/>
        </p:spPr>
        <p:txBody>
          <a:bodyPr wrap="square" lIns="0" tIns="0" rIns="0" bIns="0" rtlCol="0" anchor="t"/>
          <a:lstStyle/>
          <a:p>
            <a:pPr marL="127000" indent="-127000">
              <a:buSzPct val="100000"/>
              <a:buChar char="•"/>
            </a:pPr>
            <a:r>
              <a:rPr lang="en-US" sz="1000" dirty="0">
                <a:solidFill>
                  <a:srgbClr val="1B2A22"/>
                </a:solidFill>
                <a:latin typeface="Calibri" pitchFamily="34" charset="0"/>
                <a:ea typeface="Calibri" pitchFamily="34" charset="-122"/>
                <a:cs typeface="Calibri" pitchFamily="34" charset="-120"/>
              </a:rPr>
              <a:t>Receive events from device</a:t>
            </a:r>
            <a:endParaRPr lang="en-US" sz="1000" dirty="0"/>
          </a:p>
          <a:p>
            <a:pPr marL="127000" indent="-127000">
              <a:buSzPct val="100000"/>
              <a:buChar char="•"/>
            </a:pPr>
            <a:r>
              <a:rPr lang="en-US" sz="1000" dirty="0">
                <a:solidFill>
                  <a:srgbClr val="1B2A22"/>
                </a:solidFill>
                <a:latin typeface="Calibri" pitchFamily="34" charset="0"/>
                <a:ea typeface="Calibri" pitchFamily="34" charset="-122"/>
                <a:cs typeface="Calibri" pitchFamily="34" charset="-120"/>
              </a:rPr>
              <a:t>Store in database</a:t>
            </a:r>
            <a:endParaRPr lang="en-US" sz="1000" dirty="0"/>
          </a:p>
          <a:p>
            <a:pPr marL="127000" indent="-127000">
              <a:buSzPct val="100000"/>
              <a:buChar char="•"/>
            </a:pPr>
            <a:r>
              <a:rPr lang="en-US" sz="1000" dirty="0">
                <a:solidFill>
                  <a:srgbClr val="1B2A22"/>
                </a:solidFill>
                <a:latin typeface="Calibri" pitchFamily="34" charset="0"/>
                <a:ea typeface="Calibri" pitchFamily="34" charset="-122"/>
                <a:cs typeface="Calibri" pitchFamily="34" charset="-120"/>
              </a:rPr>
              <a:t>Provide data to dashboard</a:t>
            </a:r>
            <a:endParaRPr lang="en-US" sz="1000" dirty="0"/>
          </a:p>
        </p:txBody>
      </p:sp>
      <p:sp>
        <p:nvSpPr>
          <p:cNvPr id="101" name="Software PostgreSQL Database"/>
          <p:cNvSpPr/>
          <p:nvPr/>
        </p:nvSpPr>
        <p:spPr>
          <a:xfrm>
            <a:off x="8686800" y="2907792"/>
            <a:ext cx="3090672" cy="914400"/>
          </a:xfrm>
          <a:prstGeom prst="roundRect">
            <a:avLst>
              <a:gd name="adj" fmla="val 8000"/>
            </a:avLst>
          </a:prstGeom>
          <a:solidFill>
            <a:srgbClr val="FBE8E6"/>
          </a:solidFill>
          <a:ln w="12700">
            <a:solidFill>
              <a:srgbClr val="D9D2BC"/>
            </a:solidFill>
            <a:prstDash val="solid"/>
          </a:ln>
        </p:spPr>
        <p:txBody>
          <a:bodyPr/>
          <a:lstStyle/>
          <a:p>
            <a:endParaRPr lang="en-IN"/>
          </a:p>
        </p:txBody>
      </p:sp>
      <p:pic>
        <p:nvPicPr>
          <p:cNvPr id="102" name="Image 14" descr="PostgreSQL Database"/>
          <p:cNvPicPr>
            <a:picLocks noChangeAspect="1"/>
          </p:cNvPicPr>
          <p:nvPr/>
        </p:nvPicPr>
        <p:blipFill>
          <a:blip r:embed="rId17"/>
          <a:stretch>
            <a:fillRect/>
          </a:stretch>
        </p:blipFill>
        <p:spPr>
          <a:xfrm>
            <a:off x="8778240" y="2980944"/>
            <a:ext cx="274320" cy="274320"/>
          </a:xfrm>
          <a:prstGeom prst="rect">
            <a:avLst/>
          </a:prstGeom>
        </p:spPr>
      </p:pic>
      <p:sp>
        <p:nvSpPr>
          <p:cNvPr id="103" name="Text 86"/>
          <p:cNvSpPr txBox="1"/>
          <p:nvPr/>
        </p:nvSpPr>
        <p:spPr>
          <a:xfrm>
            <a:off x="9144000" y="2980944"/>
            <a:ext cx="1600200" cy="274320"/>
          </a:xfrm>
          <a:prstGeom prst="rect">
            <a:avLst/>
          </a:prstGeom>
          <a:noFill/>
          <a:ln/>
        </p:spPr>
        <p:txBody>
          <a:bodyPr wrap="square" lIns="0" tIns="0" rIns="0" bIns="0" rtlCol="0" anchor="ctr"/>
          <a:lstStyle/>
          <a:p>
            <a:pPr marL="0" indent="0">
              <a:buNone/>
            </a:pPr>
            <a:r>
              <a:rPr lang="en-US" sz="1100" b="1" dirty="0">
                <a:solidFill>
                  <a:srgbClr val="1B2A22"/>
                </a:solidFill>
                <a:latin typeface="Calibri" pitchFamily="34" charset="0"/>
                <a:ea typeface="Calibri" pitchFamily="34" charset="-122"/>
                <a:cs typeface="Calibri" pitchFamily="34" charset="-120"/>
              </a:rPr>
              <a:t>PostgreSQL Database</a:t>
            </a:r>
            <a:endParaRPr lang="en-US" sz="1100" dirty="0"/>
          </a:p>
        </p:txBody>
      </p:sp>
      <p:sp>
        <p:nvSpPr>
          <p:cNvPr id="104" name="Status IN PROGRESS"/>
          <p:cNvSpPr/>
          <p:nvPr/>
        </p:nvSpPr>
        <p:spPr>
          <a:xfrm>
            <a:off x="10588752" y="2999232"/>
            <a:ext cx="1097280" cy="219456"/>
          </a:xfrm>
          <a:prstGeom prst="roundRect">
            <a:avLst>
              <a:gd name="adj" fmla="val 29167"/>
            </a:avLst>
          </a:prstGeom>
          <a:solidFill>
            <a:srgbClr val="D9B84A"/>
          </a:solidFill>
          <a:ln/>
        </p:spPr>
        <p:txBody>
          <a:bodyPr wrap="square" lIns="0" tIns="0" rIns="0" bIns="0" rtlCol="0" anchor="ctr"/>
          <a:lstStyle/>
          <a:p>
            <a:pPr marL="0" indent="0" algn="ctr">
              <a:buNone/>
            </a:pPr>
            <a:r>
              <a:rPr lang="en-US" sz="1000" b="1" kern="0" spc="50" dirty="0">
                <a:solidFill>
                  <a:srgbClr val="1B2A22"/>
                </a:solidFill>
                <a:latin typeface="Calibri" pitchFamily="34" charset="0"/>
                <a:ea typeface="Calibri" pitchFamily="34" charset="-122"/>
                <a:cs typeface="Calibri" pitchFamily="34" charset="-120"/>
              </a:rPr>
              <a:t>IN PROGRESS</a:t>
            </a:r>
            <a:endParaRPr lang="en-US" sz="1000" dirty="0"/>
          </a:p>
        </p:txBody>
      </p:sp>
      <p:sp>
        <p:nvSpPr>
          <p:cNvPr id="105" name="Text 88"/>
          <p:cNvSpPr txBox="1"/>
          <p:nvPr/>
        </p:nvSpPr>
        <p:spPr>
          <a:xfrm>
            <a:off x="8823960" y="3337560"/>
            <a:ext cx="2862072" cy="457200"/>
          </a:xfrm>
          <a:prstGeom prst="rect">
            <a:avLst/>
          </a:prstGeom>
          <a:noFill/>
          <a:ln/>
        </p:spPr>
        <p:txBody>
          <a:bodyPr wrap="square" lIns="0" tIns="0" rIns="0" bIns="0" rtlCol="0" anchor="t"/>
          <a:lstStyle/>
          <a:p>
            <a:pPr marL="127000" indent="-127000">
              <a:buSzPct val="100000"/>
              <a:buChar char="•"/>
            </a:pPr>
            <a:r>
              <a:rPr lang="en-US" sz="1000" dirty="0">
                <a:solidFill>
                  <a:srgbClr val="1B2A22"/>
                </a:solidFill>
                <a:latin typeface="Calibri" pitchFamily="34" charset="0"/>
                <a:ea typeface="Calibri" pitchFamily="34" charset="-122"/>
                <a:cs typeface="Calibri" pitchFamily="34" charset="-120"/>
              </a:rPr>
              <a:t>Store event logs (image path, class, time, location)</a:t>
            </a:r>
            <a:endParaRPr lang="en-US" sz="1000" dirty="0"/>
          </a:p>
          <a:p>
            <a:pPr marL="127000" indent="-127000">
              <a:buSzPct val="100000"/>
              <a:buChar char="•"/>
            </a:pPr>
            <a:r>
              <a:rPr lang="en-US" sz="1000" dirty="0">
                <a:solidFill>
                  <a:srgbClr val="1B2A22"/>
                </a:solidFill>
                <a:latin typeface="Calibri" pitchFamily="34" charset="0"/>
                <a:ea typeface="Calibri" pitchFamily="34" charset="-122"/>
                <a:cs typeface="Calibri" pitchFamily="34" charset="-120"/>
              </a:rPr>
              <a:t>Device status and settings</a:t>
            </a:r>
            <a:endParaRPr lang="en-US" sz="1000" dirty="0"/>
          </a:p>
        </p:txBody>
      </p:sp>
      <p:sp>
        <p:nvSpPr>
          <p:cNvPr id="106" name="Software Web Dashboard"/>
          <p:cNvSpPr/>
          <p:nvPr/>
        </p:nvSpPr>
        <p:spPr>
          <a:xfrm>
            <a:off x="8686800" y="3895344"/>
            <a:ext cx="3090672" cy="914400"/>
          </a:xfrm>
          <a:prstGeom prst="roundRect">
            <a:avLst>
              <a:gd name="adj" fmla="val 8000"/>
            </a:avLst>
          </a:prstGeom>
          <a:solidFill>
            <a:srgbClr val="E7F0E4"/>
          </a:solidFill>
          <a:ln w="19050">
            <a:solidFill>
              <a:srgbClr val="D9D2BC"/>
            </a:solidFill>
            <a:prstDash val="dash"/>
          </a:ln>
        </p:spPr>
        <p:txBody>
          <a:bodyPr/>
          <a:lstStyle/>
          <a:p>
            <a:endParaRPr lang="en-IN"/>
          </a:p>
        </p:txBody>
      </p:sp>
      <p:pic>
        <p:nvPicPr>
          <p:cNvPr id="107" name="Image 15" descr="Web Dashboard"/>
          <p:cNvPicPr>
            <a:picLocks noChangeAspect="1"/>
          </p:cNvPicPr>
          <p:nvPr/>
        </p:nvPicPr>
        <p:blipFill>
          <a:blip r:embed="rId18"/>
          <a:stretch>
            <a:fillRect/>
          </a:stretch>
        </p:blipFill>
        <p:spPr>
          <a:xfrm>
            <a:off x="8778240" y="3968496"/>
            <a:ext cx="274320" cy="274320"/>
          </a:xfrm>
          <a:prstGeom prst="rect">
            <a:avLst/>
          </a:prstGeom>
        </p:spPr>
      </p:pic>
      <p:sp>
        <p:nvSpPr>
          <p:cNvPr id="108" name="Text 90"/>
          <p:cNvSpPr txBox="1"/>
          <p:nvPr/>
        </p:nvSpPr>
        <p:spPr>
          <a:xfrm>
            <a:off x="9144000" y="3968496"/>
            <a:ext cx="1600200" cy="274320"/>
          </a:xfrm>
          <a:prstGeom prst="rect">
            <a:avLst/>
          </a:prstGeom>
          <a:noFill/>
          <a:ln/>
        </p:spPr>
        <p:txBody>
          <a:bodyPr wrap="square" lIns="0" tIns="0" rIns="0" bIns="0" rtlCol="0" anchor="ctr"/>
          <a:lstStyle/>
          <a:p>
            <a:pPr marL="0" indent="0">
              <a:buNone/>
            </a:pPr>
            <a:r>
              <a:rPr lang="en-US" sz="1100" b="1" dirty="0">
                <a:solidFill>
                  <a:srgbClr val="1B2A22"/>
                </a:solidFill>
                <a:latin typeface="Calibri" pitchFamily="34" charset="0"/>
                <a:ea typeface="Calibri" pitchFamily="34" charset="-122"/>
                <a:cs typeface="Calibri" pitchFamily="34" charset="-120"/>
              </a:rPr>
              <a:t>Web Dashboard</a:t>
            </a:r>
            <a:endParaRPr lang="en-US" sz="1100" dirty="0"/>
          </a:p>
        </p:txBody>
      </p:sp>
      <p:sp>
        <p:nvSpPr>
          <p:cNvPr id="109" name="Status PLANNED"/>
          <p:cNvSpPr/>
          <p:nvPr/>
        </p:nvSpPr>
        <p:spPr>
          <a:xfrm>
            <a:off x="10817352" y="3986784"/>
            <a:ext cx="868680" cy="219456"/>
          </a:xfrm>
          <a:prstGeom prst="roundRect">
            <a:avLst>
              <a:gd name="adj" fmla="val 29167"/>
            </a:avLst>
          </a:prstGeom>
          <a:solidFill>
            <a:srgbClr val="66756D"/>
          </a:solidFill>
          <a:ln/>
        </p:spPr>
        <p:txBody>
          <a:bodyPr wrap="square" lIns="0" tIns="0" rIns="0" bIns="0" rtlCol="0" anchor="ctr"/>
          <a:lstStyle/>
          <a:p>
            <a:pPr marL="0" indent="0" algn="ctr">
              <a:buNone/>
            </a:pPr>
            <a:r>
              <a:rPr lang="en-US" sz="1000" b="1" kern="0" spc="50" dirty="0">
                <a:solidFill>
                  <a:srgbClr val="FFFFFF"/>
                </a:solidFill>
                <a:latin typeface="Calibri" pitchFamily="34" charset="0"/>
                <a:ea typeface="Calibri" pitchFamily="34" charset="-122"/>
                <a:cs typeface="Calibri" pitchFamily="34" charset="-120"/>
              </a:rPr>
              <a:t>PLANNED</a:t>
            </a:r>
            <a:endParaRPr lang="en-US" sz="1000" dirty="0"/>
          </a:p>
        </p:txBody>
      </p:sp>
      <p:sp>
        <p:nvSpPr>
          <p:cNvPr id="110" name="Text 92"/>
          <p:cNvSpPr txBox="1"/>
          <p:nvPr/>
        </p:nvSpPr>
        <p:spPr>
          <a:xfrm>
            <a:off x="8823960" y="4325112"/>
            <a:ext cx="2862072" cy="457200"/>
          </a:xfrm>
          <a:prstGeom prst="rect">
            <a:avLst/>
          </a:prstGeom>
          <a:noFill/>
          <a:ln/>
        </p:spPr>
        <p:txBody>
          <a:bodyPr wrap="square" lIns="0" tIns="0" rIns="0" bIns="0" rtlCol="0" anchor="t"/>
          <a:lstStyle/>
          <a:p>
            <a:pPr marL="127000" indent="-127000">
              <a:buSzPct val="100000"/>
              <a:buChar char="•"/>
            </a:pPr>
            <a:r>
              <a:rPr lang="en-US" sz="1000" dirty="0">
                <a:solidFill>
                  <a:srgbClr val="1B2A22"/>
                </a:solidFill>
                <a:latin typeface="Calibri" pitchFamily="34" charset="0"/>
                <a:ea typeface="Calibri" pitchFamily="34" charset="-122"/>
                <a:cs typeface="Calibri" pitchFamily="34" charset="-120"/>
              </a:rPr>
              <a:t>View live feed (optional)</a:t>
            </a:r>
            <a:endParaRPr lang="en-US" sz="1000" dirty="0"/>
          </a:p>
          <a:p>
            <a:pPr marL="127000" indent="-127000">
              <a:buSzPct val="100000"/>
              <a:buChar char="•"/>
            </a:pPr>
            <a:r>
              <a:rPr lang="en-US" sz="1000" dirty="0">
                <a:solidFill>
                  <a:srgbClr val="1B2A22"/>
                </a:solidFill>
                <a:latin typeface="Calibri" pitchFamily="34" charset="0"/>
                <a:ea typeface="Calibri" pitchFamily="34" charset="-122"/>
                <a:cs typeface="Calibri" pitchFamily="34" charset="-120"/>
              </a:rPr>
              <a:t>Event history with images</a:t>
            </a:r>
            <a:endParaRPr lang="en-US" sz="1000" dirty="0"/>
          </a:p>
          <a:p>
            <a:pPr marL="127000" indent="-127000">
              <a:buSzPct val="100000"/>
              <a:buChar char="•"/>
            </a:pPr>
            <a:r>
              <a:rPr lang="en-US" sz="1000" dirty="0">
                <a:solidFill>
                  <a:srgbClr val="1B2A22"/>
                </a:solidFill>
                <a:latin typeface="Calibri" pitchFamily="34" charset="0"/>
                <a:ea typeface="Calibri" pitchFamily="34" charset="-122"/>
                <a:cs typeface="Calibri" pitchFamily="34" charset="-120"/>
              </a:rPr>
              <a:t>Device status and configuration</a:t>
            </a:r>
            <a:endParaRPr lang="en-US" sz="1000" dirty="0"/>
          </a:p>
        </p:txBody>
      </p:sp>
      <p:sp>
        <p:nvSpPr>
          <p:cNvPr id="111" name="Software Farmer Alerts"/>
          <p:cNvSpPr/>
          <p:nvPr/>
        </p:nvSpPr>
        <p:spPr>
          <a:xfrm>
            <a:off x="8686800" y="4882896"/>
            <a:ext cx="3090672" cy="777240"/>
          </a:xfrm>
          <a:prstGeom prst="roundRect">
            <a:avLst>
              <a:gd name="adj" fmla="val 9412"/>
            </a:avLst>
          </a:prstGeom>
          <a:solidFill>
            <a:srgbClr val="FBF3D8"/>
          </a:solidFill>
          <a:ln w="19050">
            <a:solidFill>
              <a:srgbClr val="D9D2BC"/>
            </a:solidFill>
            <a:prstDash val="dash"/>
          </a:ln>
        </p:spPr>
        <p:txBody>
          <a:bodyPr/>
          <a:lstStyle/>
          <a:p>
            <a:endParaRPr lang="en-IN"/>
          </a:p>
        </p:txBody>
      </p:sp>
      <p:pic>
        <p:nvPicPr>
          <p:cNvPr id="112" name="Image 16" descr="Farmer Alerts"/>
          <p:cNvPicPr>
            <a:picLocks noChangeAspect="1"/>
          </p:cNvPicPr>
          <p:nvPr/>
        </p:nvPicPr>
        <p:blipFill>
          <a:blip r:embed="rId19"/>
          <a:stretch>
            <a:fillRect/>
          </a:stretch>
        </p:blipFill>
        <p:spPr>
          <a:xfrm>
            <a:off x="8778240" y="4956048"/>
            <a:ext cx="274320" cy="274320"/>
          </a:xfrm>
          <a:prstGeom prst="rect">
            <a:avLst/>
          </a:prstGeom>
        </p:spPr>
      </p:pic>
      <p:sp>
        <p:nvSpPr>
          <p:cNvPr id="113" name="Text 94"/>
          <p:cNvSpPr txBox="1"/>
          <p:nvPr/>
        </p:nvSpPr>
        <p:spPr>
          <a:xfrm>
            <a:off x="9144000" y="4956048"/>
            <a:ext cx="1600200" cy="274320"/>
          </a:xfrm>
          <a:prstGeom prst="rect">
            <a:avLst/>
          </a:prstGeom>
          <a:noFill/>
          <a:ln/>
        </p:spPr>
        <p:txBody>
          <a:bodyPr wrap="square" lIns="0" tIns="0" rIns="0" bIns="0" rtlCol="0" anchor="ctr"/>
          <a:lstStyle/>
          <a:p>
            <a:pPr marL="0" indent="0">
              <a:buNone/>
            </a:pPr>
            <a:r>
              <a:rPr lang="en-US" sz="1100" b="1" dirty="0">
                <a:solidFill>
                  <a:srgbClr val="1B2A22"/>
                </a:solidFill>
                <a:latin typeface="Calibri" pitchFamily="34" charset="0"/>
                <a:ea typeface="Calibri" pitchFamily="34" charset="-122"/>
                <a:cs typeface="Calibri" pitchFamily="34" charset="-120"/>
              </a:rPr>
              <a:t>Farmer Alerts</a:t>
            </a:r>
            <a:endParaRPr lang="en-US" sz="1100" dirty="0"/>
          </a:p>
        </p:txBody>
      </p:sp>
      <p:sp>
        <p:nvSpPr>
          <p:cNvPr id="114" name="Status PLANNED"/>
          <p:cNvSpPr/>
          <p:nvPr/>
        </p:nvSpPr>
        <p:spPr>
          <a:xfrm>
            <a:off x="10817352" y="4974336"/>
            <a:ext cx="868680" cy="219456"/>
          </a:xfrm>
          <a:prstGeom prst="roundRect">
            <a:avLst>
              <a:gd name="adj" fmla="val 29167"/>
            </a:avLst>
          </a:prstGeom>
          <a:solidFill>
            <a:srgbClr val="66756D"/>
          </a:solidFill>
          <a:ln/>
        </p:spPr>
        <p:txBody>
          <a:bodyPr wrap="square" lIns="0" tIns="0" rIns="0" bIns="0" rtlCol="0" anchor="ctr"/>
          <a:lstStyle/>
          <a:p>
            <a:pPr marL="0" indent="0" algn="ctr">
              <a:buNone/>
            </a:pPr>
            <a:r>
              <a:rPr lang="en-US" sz="1000" b="1" kern="0" spc="50" dirty="0">
                <a:solidFill>
                  <a:srgbClr val="FFFFFF"/>
                </a:solidFill>
                <a:latin typeface="Calibri" pitchFamily="34" charset="0"/>
                <a:ea typeface="Calibri" pitchFamily="34" charset="-122"/>
                <a:cs typeface="Calibri" pitchFamily="34" charset="-120"/>
              </a:rPr>
              <a:t>PLANNED</a:t>
            </a:r>
            <a:endParaRPr lang="en-US" sz="1000" dirty="0"/>
          </a:p>
        </p:txBody>
      </p:sp>
      <p:sp>
        <p:nvSpPr>
          <p:cNvPr id="115" name="Text 96"/>
          <p:cNvSpPr txBox="1"/>
          <p:nvPr/>
        </p:nvSpPr>
        <p:spPr>
          <a:xfrm>
            <a:off x="8823960" y="5312664"/>
            <a:ext cx="2862072" cy="320040"/>
          </a:xfrm>
          <a:prstGeom prst="rect">
            <a:avLst/>
          </a:prstGeom>
          <a:noFill/>
          <a:ln/>
        </p:spPr>
        <p:txBody>
          <a:bodyPr wrap="square" lIns="0" tIns="0" rIns="0" bIns="0" rtlCol="0" anchor="t"/>
          <a:lstStyle/>
          <a:p>
            <a:pPr marL="127000" indent="-127000">
              <a:buSzPct val="100000"/>
              <a:buChar char="•"/>
            </a:pPr>
            <a:r>
              <a:rPr lang="en-US" sz="1000" dirty="0">
                <a:solidFill>
                  <a:srgbClr val="1B2A22"/>
                </a:solidFill>
                <a:latin typeface="Calibri" pitchFamily="34" charset="0"/>
                <a:ea typeface="Calibri" pitchFamily="34" charset="-122"/>
                <a:cs typeface="Calibri" pitchFamily="34" charset="-120"/>
              </a:rPr>
              <a:t>Mobile / email notifications</a:t>
            </a:r>
            <a:endParaRPr lang="en-US" sz="1000" dirty="0"/>
          </a:p>
          <a:p>
            <a:pPr marL="127000" indent="-127000">
              <a:buSzPct val="100000"/>
              <a:buChar char="•"/>
            </a:pPr>
            <a:r>
              <a:rPr lang="en-US" sz="1000" dirty="0">
                <a:solidFill>
                  <a:srgbClr val="1B2A22"/>
                </a:solidFill>
                <a:latin typeface="Calibri" pitchFamily="34" charset="0"/>
                <a:ea typeface="Calibri" pitchFamily="34" charset="-122"/>
                <a:cs typeface="Calibri" pitchFamily="34" charset="-120"/>
              </a:rPr>
              <a:t>Configurable alerts</a:t>
            </a:r>
            <a:endParaRPr lang="en-US" sz="1000" dirty="0"/>
          </a:p>
        </p:txBody>
      </p:sp>
      <p:sp>
        <p:nvSpPr>
          <p:cNvPr id="116" name="event data 1"/>
          <p:cNvSpPr/>
          <p:nvPr/>
        </p:nvSpPr>
        <p:spPr>
          <a:xfrm>
            <a:off x="8183880" y="3657600"/>
            <a:ext cx="246888" cy="0"/>
          </a:xfrm>
          <a:prstGeom prst="line">
            <a:avLst/>
          </a:prstGeom>
          <a:noFill/>
          <a:ln w="25400">
            <a:solidFill>
              <a:srgbClr val="2E7D4F"/>
            </a:solidFill>
            <a:prstDash val="dash"/>
          </a:ln>
        </p:spPr>
        <p:txBody>
          <a:bodyPr/>
          <a:lstStyle/>
          <a:p>
            <a:endParaRPr lang="en-IN"/>
          </a:p>
        </p:txBody>
      </p:sp>
      <p:sp>
        <p:nvSpPr>
          <p:cNvPr id="117" name="event data 2"/>
          <p:cNvSpPr/>
          <p:nvPr/>
        </p:nvSpPr>
        <p:spPr>
          <a:xfrm flipV="1">
            <a:off x="8430768" y="2286000"/>
            <a:ext cx="0" cy="1371600"/>
          </a:xfrm>
          <a:prstGeom prst="line">
            <a:avLst/>
          </a:prstGeom>
          <a:noFill/>
          <a:ln w="25400">
            <a:solidFill>
              <a:srgbClr val="2E7D4F"/>
            </a:solidFill>
            <a:prstDash val="dash"/>
          </a:ln>
        </p:spPr>
        <p:txBody>
          <a:bodyPr/>
          <a:lstStyle/>
          <a:p>
            <a:endParaRPr lang="en-IN"/>
          </a:p>
        </p:txBody>
      </p:sp>
      <p:sp>
        <p:nvSpPr>
          <p:cNvPr id="118" name="event data 3"/>
          <p:cNvSpPr/>
          <p:nvPr/>
        </p:nvSpPr>
        <p:spPr>
          <a:xfrm>
            <a:off x="8430768" y="2286000"/>
            <a:ext cx="256032" cy="0"/>
          </a:xfrm>
          <a:prstGeom prst="line">
            <a:avLst/>
          </a:prstGeom>
          <a:noFill/>
          <a:ln w="25400">
            <a:solidFill>
              <a:srgbClr val="2E7D4F"/>
            </a:solidFill>
            <a:prstDash val="dash"/>
            <a:tailEnd type="triangle"/>
          </a:ln>
        </p:spPr>
        <p:txBody>
          <a:bodyPr/>
          <a:lstStyle/>
          <a:p>
            <a:endParaRPr lang="en-IN"/>
          </a:p>
        </p:txBody>
      </p:sp>
      <p:sp>
        <p:nvSpPr>
          <p:cNvPr id="119" name="Text 100"/>
          <p:cNvSpPr txBox="1"/>
          <p:nvPr/>
        </p:nvSpPr>
        <p:spPr>
          <a:xfrm rot="16200000">
            <a:off x="7543800" y="2871216"/>
            <a:ext cx="1463040" cy="201168"/>
          </a:xfrm>
          <a:prstGeom prst="rect">
            <a:avLst/>
          </a:prstGeom>
          <a:noFill/>
          <a:ln/>
        </p:spPr>
        <p:txBody>
          <a:bodyPr wrap="square" lIns="0" tIns="0" rIns="0" bIns="0" rtlCol="0" anchor="ctr"/>
          <a:lstStyle/>
          <a:p>
            <a:pPr marL="0" indent="0" algn="ctr">
              <a:buNone/>
            </a:pPr>
            <a:r>
              <a:rPr lang="en-US" sz="1000" dirty="0">
                <a:solidFill>
                  <a:srgbClr val="2E7D4F"/>
                </a:solidFill>
                <a:latin typeface="Calibri" pitchFamily="34" charset="0"/>
                <a:ea typeface="Calibri" pitchFamily="34" charset="-122"/>
                <a:cs typeface="Calibri" pitchFamily="34" charset="-120"/>
              </a:rPr>
              <a:t>Event data (REST, planned)</a:t>
            </a:r>
            <a:endParaRPr lang="en-US" sz="1000" dirty="0"/>
          </a:p>
        </p:txBody>
      </p:sp>
      <p:sp>
        <p:nvSpPr>
          <p:cNvPr id="120" name="Legend"/>
          <p:cNvSpPr/>
          <p:nvPr/>
        </p:nvSpPr>
        <p:spPr>
          <a:xfrm>
            <a:off x="411480" y="5943600"/>
            <a:ext cx="11365992" cy="411480"/>
          </a:xfrm>
          <a:prstGeom prst="roundRect">
            <a:avLst>
              <a:gd name="adj" fmla="val 17778"/>
            </a:avLst>
          </a:prstGeom>
          <a:solidFill>
            <a:srgbClr val="FFFFFF"/>
          </a:solidFill>
          <a:ln w="12700">
            <a:solidFill>
              <a:srgbClr val="D9D2BC"/>
            </a:solidFill>
            <a:prstDash val="solid"/>
          </a:ln>
        </p:spPr>
        <p:txBody>
          <a:bodyPr/>
          <a:lstStyle/>
          <a:p>
            <a:endParaRPr lang="en-IN"/>
          </a:p>
        </p:txBody>
      </p:sp>
      <p:sp>
        <p:nvSpPr>
          <p:cNvPr id="121" name="Text 102"/>
          <p:cNvSpPr txBox="1"/>
          <p:nvPr/>
        </p:nvSpPr>
        <p:spPr>
          <a:xfrm>
            <a:off x="548640" y="5943600"/>
            <a:ext cx="960120" cy="411480"/>
          </a:xfrm>
          <a:prstGeom prst="rect">
            <a:avLst/>
          </a:prstGeom>
          <a:noFill/>
          <a:ln/>
        </p:spPr>
        <p:txBody>
          <a:bodyPr wrap="square" lIns="0" tIns="0" rIns="0" bIns="0" rtlCol="0" anchor="ctr"/>
          <a:lstStyle/>
          <a:p>
            <a:pPr marL="0" indent="0">
              <a:buNone/>
            </a:pPr>
            <a:r>
              <a:rPr lang="en-US" sz="1100" b="1" dirty="0">
                <a:solidFill>
                  <a:srgbClr val="1B2A22"/>
                </a:solidFill>
                <a:latin typeface="Calibri" pitchFamily="34" charset="0"/>
                <a:ea typeface="Calibri" pitchFamily="34" charset="-122"/>
                <a:cs typeface="Calibri" pitchFamily="34" charset="-120"/>
              </a:rPr>
              <a:t>Arrow meaning:</a:t>
            </a:r>
            <a:endParaRPr lang="en-US" sz="1100" dirty="0"/>
          </a:p>
        </p:txBody>
      </p:sp>
      <p:sp>
        <p:nvSpPr>
          <p:cNvPr id="122" name="Legend arrow"/>
          <p:cNvSpPr/>
          <p:nvPr/>
        </p:nvSpPr>
        <p:spPr>
          <a:xfrm>
            <a:off x="1554480" y="6149340"/>
            <a:ext cx="274320" cy="0"/>
          </a:xfrm>
          <a:prstGeom prst="line">
            <a:avLst/>
          </a:prstGeom>
          <a:noFill/>
          <a:ln w="25400">
            <a:solidFill>
              <a:srgbClr val="2E7D4F"/>
            </a:solidFill>
            <a:prstDash val="solid"/>
            <a:tailEnd type="triangle"/>
          </a:ln>
        </p:spPr>
        <p:txBody>
          <a:bodyPr/>
          <a:lstStyle/>
          <a:p>
            <a:endParaRPr lang="en-IN"/>
          </a:p>
        </p:txBody>
      </p:sp>
      <p:sp>
        <p:nvSpPr>
          <p:cNvPr id="123" name="Text 104"/>
          <p:cNvSpPr txBox="1"/>
          <p:nvPr/>
        </p:nvSpPr>
        <p:spPr>
          <a:xfrm>
            <a:off x="1874520" y="5943600"/>
            <a:ext cx="1005840" cy="411480"/>
          </a:xfrm>
          <a:prstGeom prst="rect">
            <a:avLst/>
          </a:prstGeom>
          <a:noFill/>
          <a:ln/>
        </p:spPr>
        <p:txBody>
          <a:bodyPr wrap="square" lIns="0" tIns="0" rIns="0" bIns="0" rtlCol="0" anchor="ctr"/>
          <a:lstStyle/>
          <a:p>
            <a:pPr marL="0" indent="0">
              <a:buNone/>
            </a:pPr>
            <a:r>
              <a:rPr lang="en-US" sz="1050" dirty="0">
                <a:solidFill>
                  <a:srgbClr val="1B2A22"/>
                </a:solidFill>
                <a:latin typeface="Calibri" pitchFamily="34" charset="0"/>
                <a:ea typeface="Calibri" pitchFamily="34" charset="-122"/>
                <a:cs typeface="Calibri" pitchFamily="34" charset="-120"/>
              </a:rPr>
              <a:t>Image / data flow</a:t>
            </a:r>
            <a:endParaRPr lang="en-US" sz="1050" dirty="0"/>
          </a:p>
        </p:txBody>
      </p:sp>
      <p:sp>
        <p:nvSpPr>
          <p:cNvPr id="124" name="Legend arrow"/>
          <p:cNvSpPr/>
          <p:nvPr/>
        </p:nvSpPr>
        <p:spPr>
          <a:xfrm>
            <a:off x="2926080" y="6149340"/>
            <a:ext cx="274320" cy="0"/>
          </a:xfrm>
          <a:prstGeom prst="line">
            <a:avLst/>
          </a:prstGeom>
          <a:noFill/>
          <a:ln w="25400">
            <a:solidFill>
              <a:srgbClr val="C0392B"/>
            </a:solidFill>
            <a:prstDash val="dash"/>
            <a:tailEnd type="triangle"/>
          </a:ln>
        </p:spPr>
        <p:txBody>
          <a:bodyPr/>
          <a:lstStyle/>
          <a:p>
            <a:endParaRPr lang="en-IN"/>
          </a:p>
        </p:txBody>
      </p:sp>
      <p:sp>
        <p:nvSpPr>
          <p:cNvPr id="125" name="Text 106"/>
          <p:cNvSpPr txBox="1"/>
          <p:nvPr/>
        </p:nvSpPr>
        <p:spPr>
          <a:xfrm>
            <a:off x="3246120" y="5943600"/>
            <a:ext cx="1051560" cy="411480"/>
          </a:xfrm>
          <a:prstGeom prst="rect">
            <a:avLst/>
          </a:prstGeom>
          <a:noFill/>
          <a:ln/>
        </p:spPr>
        <p:txBody>
          <a:bodyPr wrap="square" lIns="0" tIns="0" rIns="0" bIns="0" rtlCol="0" anchor="ctr"/>
          <a:lstStyle/>
          <a:p>
            <a:pPr marL="0" indent="0">
              <a:buNone/>
            </a:pPr>
            <a:r>
              <a:rPr lang="en-US" sz="1050" dirty="0">
                <a:solidFill>
                  <a:srgbClr val="1B2A22"/>
                </a:solidFill>
                <a:latin typeface="Calibri" pitchFamily="34" charset="0"/>
                <a:ea typeface="Calibri" pitchFamily="34" charset="-122"/>
                <a:cs typeface="Calibri" pitchFamily="34" charset="-120"/>
              </a:rPr>
              <a:t>Control command</a:t>
            </a:r>
            <a:endParaRPr lang="en-US" sz="1050" dirty="0"/>
          </a:p>
        </p:txBody>
      </p:sp>
      <p:sp>
        <p:nvSpPr>
          <p:cNvPr id="126" name="Legend arrow"/>
          <p:cNvSpPr/>
          <p:nvPr/>
        </p:nvSpPr>
        <p:spPr>
          <a:xfrm>
            <a:off x="4343400" y="6149340"/>
            <a:ext cx="274320" cy="0"/>
          </a:xfrm>
          <a:prstGeom prst="line">
            <a:avLst/>
          </a:prstGeom>
          <a:noFill/>
          <a:ln w="25400">
            <a:solidFill>
              <a:srgbClr val="3B6FC9"/>
            </a:solidFill>
            <a:prstDash val="dash"/>
            <a:tailEnd type="triangle"/>
          </a:ln>
        </p:spPr>
        <p:txBody>
          <a:bodyPr/>
          <a:lstStyle/>
          <a:p>
            <a:endParaRPr lang="en-IN"/>
          </a:p>
        </p:txBody>
      </p:sp>
      <p:sp>
        <p:nvSpPr>
          <p:cNvPr id="127" name="Text 108"/>
          <p:cNvSpPr txBox="1"/>
          <p:nvPr/>
        </p:nvSpPr>
        <p:spPr>
          <a:xfrm>
            <a:off x="4663440" y="5943600"/>
            <a:ext cx="868680" cy="411480"/>
          </a:xfrm>
          <a:prstGeom prst="rect">
            <a:avLst/>
          </a:prstGeom>
          <a:noFill/>
          <a:ln/>
        </p:spPr>
        <p:txBody>
          <a:bodyPr wrap="square" lIns="0" tIns="0" rIns="0" bIns="0" rtlCol="0" anchor="ctr"/>
          <a:lstStyle/>
          <a:p>
            <a:pPr marL="0" indent="0">
              <a:buNone/>
            </a:pPr>
            <a:r>
              <a:rPr lang="en-US" sz="1050" dirty="0">
                <a:solidFill>
                  <a:srgbClr val="1B2A22"/>
                </a:solidFill>
                <a:latin typeface="Calibri" pitchFamily="34" charset="0"/>
                <a:ea typeface="Calibri" pitchFamily="34" charset="-122"/>
                <a:cs typeface="Calibri" pitchFamily="34" charset="-120"/>
              </a:rPr>
              <a:t>Sensor signal</a:t>
            </a:r>
            <a:endParaRPr lang="en-US" sz="1050" dirty="0"/>
          </a:p>
        </p:txBody>
      </p:sp>
      <p:sp>
        <p:nvSpPr>
          <p:cNvPr id="128" name="Legend arrow"/>
          <p:cNvSpPr/>
          <p:nvPr/>
        </p:nvSpPr>
        <p:spPr>
          <a:xfrm>
            <a:off x="5577840" y="6149340"/>
            <a:ext cx="274320" cy="0"/>
          </a:xfrm>
          <a:prstGeom prst="line">
            <a:avLst/>
          </a:prstGeom>
          <a:noFill/>
          <a:ln w="25400">
            <a:solidFill>
              <a:srgbClr val="66756D"/>
            </a:solidFill>
            <a:prstDash val="dash"/>
            <a:tailEnd type="triangle"/>
          </a:ln>
        </p:spPr>
        <p:txBody>
          <a:bodyPr/>
          <a:lstStyle/>
          <a:p>
            <a:endParaRPr lang="en-IN"/>
          </a:p>
        </p:txBody>
      </p:sp>
      <p:sp>
        <p:nvSpPr>
          <p:cNvPr id="129" name="Text 110"/>
          <p:cNvSpPr txBox="1"/>
          <p:nvPr/>
        </p:nvSpPr>
        <p:spPr>
          <a:xfrm>
            <a:off x="5897880" y="5943600"/>
            <a:ext cx="1097280" cy="411480"/>
          </a:xfrm>
          <a:prstGeom prst="rect">
            <a:avLst/>
          </a:prstGeom>
          <a:noFill/>
          <a:ln/>
        </p:spPr>
        <p:txBody>
          <a:bodyPr wrap="square" lIns="0" tIns="0" rIns="0" bIns="0" rtlCol="0" anchor="ctr"/>
          <a:lstStyle/>
          <a:p>
            <a:pPr marL="0" indent="0">
              <a:buNone/>
            </a:pPr>
            <a:r>
              <a:rPr lang="en-US" sz="1050" dirty="0">
                <a:solidFill>
                  <a:srgbClr val="1B2A22"/>
                </a:solidFill>
                <a:latin typeface="Calibri" pitchFamily="34" charset="0"/>
                <a:ea typeface="Calibri" pitchFamily="34" charset="-122"/>
                <a:cs typeface="Calibri" pitchFamily="34" charset="-120"/>
              </a:rPr>
              <a:t>Planned / optional</a:t>
            </a:r>
            <a:endParaRPr lang="en-US" sz="1050" dirty="0"/>
          </a:p>
        </p:txBody>
      </p:sp>
      <p:sp>
        <p:nvSpPr>
          <p:cNvPr id="130" name="Text 111"/>
          <p:cNvSpPr txBox="1"/>
          <p:nvPr/>
        </p:nvSpPr>
        <p:spPr>
          <a:xfrm>
            <a:off x="7086600" y="5943600"/>
            <a:ext cx="502920" cy="411480"/>
          </a:xfrm>
          <a:prstGeom prst="rect">
            <a:avLst/>
          </a:prstGeom>
          <a:noFill/>
          <a:ln/>
        </p:spPr>
        <p:txBody>
          <a:bodyPr wrap="square" lIns="0" tIns="0" rIns="0" bIns="0" rtlCol="0" anchor="ctr"/>
          <a:lstStyle/>
          <a:p>
            <a:pPr marL="0" indent="0">
              <a:buNone/>
            </a:pPr>
            <a:r>
              <a:rPr lang="en-US" sz="1100" b="1" dirty="0">
                <a:solidFill>
                  <a:srgbClr val="1B2A22"/>
                </a:solidFill>
                <a:latin typeface="Calibri" pitchFamily="34" charset="0"/>
                <a:ea typeface="Calibri" pitchFamily="34" charset="-122"/>
                <a:cs typeface="Calibri" pitchFamily="34" charset="-120"/>
              </a:rPr>
              <a:t>Status:</a:t>
            </a:r>
            <a:endParaRPr lang="en-US" sz="1100" dirty="0"/>
          </a:p>
        </p:txBody>
      </p:sp>
      <p:sp>
        <p:nvSpPr>
          <p:cNvPr id="131" name="Legend WORKING"/>
          <p:cNvSpPr/>
          <p:nvPr/>
        </p:nvSpPr>
        <p:spPr>
          <a:xfrm>
            <a:off x="7635240" y="6035040"/>
            <a:ext cx="914400" cy="219456"/>
          </a:xfrm>
          <a:prstGeom prst="roundRect">
            <a:avLst>
              <a:gd name="adj" fmla="val 29167"/>
            </a:avLst>
          </a:prstGeom>
          <a:solidFill>
            <a:srgbClr val="2E7D4F"/>
          </a:solidFill>
          <a:ln/>
        </p:spPr>
        <p:txBody>
          <a:bodyPr wrap="square" lIns="0" tIns="0" rIns="0" bIns="0" rtlCol="0" anchor="ctr"/>
          <a:lstStyle/>
          <a:p>
            <a:pPr marL="0" indent="0" algn="ctr">
              <a:buNone/>
            </a:pPr>
            <a:r>
              <a:rPr lang="en-US" sz="1000" b="1" kern="0" spc="50" dirty="0">
                <a:solidFill>
                  <a:srgbClr val="FFFFFF"/>
                </a:solidFill>
                <a:latin typeface="Calibri" pitchFamily="34" charset="0"/>
                <a:ea typeface="Calibri" pitchFamily="34" charset="-122"/>
                <a:cs typeface="Calibri" pitchFamily="34" charset="-120"/>
              </a:rPr>
              <a:t>WORKING</a:t>
            </a:r>
            <a:endParaRPr lang="en-US" sz="1000" dirty="0"/>
          </a:p>
        </p:txBody>
      </p:sp>
      <p:sp>
        <p:nvSpPr>
          <p:cNvPr id="132" name="Legend IN PROGRESS"/>
          <p:cNvSpPr/>
          <p:nvPr/>
        </p:nvSpPr>
        <p:spPr>
          <a:xfrm>
            <a:off x="9144000" y="6039612"/>
            <a:ext cx="1097280" cy="219456"/>
          </a:xfrm>
          <a:prstGeom prst="roundRect">
            <a:avLst>
              <a:gd name="adj" fmla="val 29167"/>
            </a:avLst>
          </a:prstGeom>
          <a:solidFill>
            <a:srgbClr val="D9B84A"/>
          </a:solidFill>
          <a:ln/>
        </p:spPr>
        <p:txBody>
          <a:bodyPr wrap="square" lIns="0" tIns="0" rIns="0" bIns="0" rtlCol="0" anchor="ctr"/>
          <a:lstStyle/>
          <a:p>
            <a:pPr marL="0" indent="0" algn="ctr">
              <a:buNone/>
            </a:pPr>
            <a:r>
              <a:rPr lang="en-US" sz="1000" b="1" kern="0" spc="50" dirty="0">
                <a:solidFill>
                  <a:srgbClr val="1B2A22"/>
                </a:solidFill>
                <a:latin typeface="Calibri" pitchFamily="34" charset="0"/>
                <a:ea typeface="Calibri" pitchFamily="34" charset="-122"/>
                <a:cs typeface="Calibri" pitchFamily="34" charset="-120"/>
              </a:rPr>
              <a:t>IN PROGRESS</a:t>
            </a:r>
            <a:endParaRPr lang="en-US" sz="1000" dirty="0"/>
          </a:p>
        </p:txBody>
      </p:sp>
      <p:sp>
        <p:nvSpPr>
          <p:cNvPr id="134" name="Legend PLANNED"/>
          <p:cNvSpPr/>
          <p:nvPr/>
        </p:nvSpPr>
        <p:spPr>
          <a:xfrm>
            <a:off x="10908792" y="6035040"/>
            <a:ext cx="868680" cy="219456"/>
          </a:xfrm>
          <a:prstGeom prst="roundRect">
            <a:avLst>
              <a:gd name="adj" fmla="val 29167"/>
            </a:avLst>
          </a:prstGeom>
          <a:solidFill>
            <a:srgbClr val="66756D"/>
          </a:solidFill>
          <a:ln/>
        </p:spPr>
        <p:txBody>
          <a:bodyPr wrap="square" lIns="0" tIns="0" rIns="0" bIns="0" rtlCol="0" anchor="ctr"/>
          <a:lstStyle/>
          <a:p>
            <a:pPr marL="0" indent="0" algn="ctr">
              <a:buNone/>
            </a:pPr>
            <a:r>
              <a:rPr lang="en-US" sz="1000" b="1" kern="0" spc="50" dirty="0">
                <a:solidFill>
                  <a:srgbClr val="FFFFFF"/>
                </a:solidFill>
                <a:latin typeface="Calibri" pitchFamily="34" charset="0"/>
                <a:ea typeface="Calibri" pitchFamily="34" charset="-122"/>
                <a:cs typeface="Calibri" pitchFamily="34" charset="-120"/>
              </a:rPr>
              <a:t>PLANNED</a:t>
            </a:r>
            <a:endParaRPr lang="en-US" sz="1000" dirty="0"/>
          </a:p>
        </p:txBody>
      </p:sp>
      <p:sp>
        <p:nvSpPr>
          <p:cNvPr id="136" name="Status WORKING">
            <a:extLst>
              <a:ext uri="{FF2B5EF4-FFF2-40B4-BE49-F238E27FC236}">
                <a16:creationId xmlns:a16="http://schemas.microsoft.com/office/drawing/2014/main" id="{0F31703B-D998-C497-3229-9F2B36A1E498}"/>
              </a:ext>
            </a:extLst>
          </p:cNvPr>
          <p:cNvSpPr/>
          <p:nvPr/>
        </p:nvSpPr>
        <p:spPr>
          <a:xfrm>
            <a:off x="1097280" y="2414016"/>
            <a:ext cx="914400" cy="219456"/>
          </a:xfrm>
          <a:prstGeom prst="roundRect">
            <a:avLst>
              <a:gd name="adj" fmla="val 29167"/>
            </a:avLst>
          </a:prstGeom>
          <a:solidFill>
            <a:srgbClr val="2E7D4F"/>
          </a:solidFill>
          <a:ln/>
        </p:spPr>
        <p:txBody>
          <a:bodyPr wrap="square" lIns="0" tIns="0" rIns="0" bIns="0" rtlCol="0" anchor="ctr"/>
          <a:lstStyle/>
          <a:p>
            <a:pPr marL="0" indent="0" algn="ctr">
              <a:buNone/>
            </a:pPr>
            <a:r>
              <a:rPr lang="en-US" sz="1000" b="1" kern="0" spc="50" dirty="0">
                <a:solidFill>
                  <a:srgbClr val="FFFFFF"/>
                </a:solidFill>
                <a:latin typeface="Calibri" pitchFamily="34" charset="0"/>
                <a:ea typeface="Calibri" pitchFamily="34" charset="-122"/>
                <a:cs typeface="Calibri" pitchFamily="34" charset="-120"/>
              </a:rPr>
              <a:t>WORKING</a:t>
            </a:r>
            <a:endParaRPr lang="en-US" sz="1000" dirty="0"/>
          </a:p>
        </p:txBody>
      </p:sp>
      <p:sp>
        <p:nvSpPr>
          <p:cNvPr id="138" name="Status WORKING">
            <a:extLst>
              <a:ext uri="{FF2B5EF4-FFF2-40B4-BE49-F238E27FC236}">
                <a16:creationId xmlns:a16="http://schemas.microsoft.com/office/drawing/2014/main" id="{C6184907-599E-4434-FC5D-67889B76AE92}"/>
              </a:ext>
            </a:extLst>
          </p:cNvPr>
          <p:cNvSpPr/>
          <p:nvPr/>
        </p:nvSpPr>
        <p:spPr>
          <a:xfrm>
            <a:off x="613611" y="4974335"/>
            <a:ext cx="914400" cy="219456"/>
          </a:xfrm>
          <a:prstGeom prst="roundRect">
            <a:avLst>
              <a:gd name="adj" fmla="val 29167"/>
            </a:avLst>
          </a:prstGeom>
          <a:solidFill>
            <a:srgbClr val="2E7D4F"/>
          </a:solidFill>
          <a:ln/>
        </p:spPr>
        <p:txBody>
          <a:bodyPr wrap="square" lIns="0" tIns="0" rIns="0" bIns="0" rtlCol="0" anchor="ctr"/>
          <a:lstStyle/>
          <a:p>
            <a:pPr marL="0" indent="0" algn="ctr">
              <a:buNone/>
            </a:pPr>
            <a:r>
              <a:rPr lang="en-US" sz="1000" b="1" kern="0" spc="50" dirty="0">
                <a:solidFill>
                  <a:srgbClr val="FFFFFF"/>
                </a:solidFill>
                <a:latin typeface="Calibri" pitchFamily="34" charset="0"/>
                <a:ea typeface="Calibri" pitchFamily="34" charset="-122"/>
                <a:cs typeface="Calibri" pitchFamily="34" charset="-120"/>
              </a:rPr>
              <a:t>WORKING</a:t>
            </a:r>
            <a:endParaRPr lang="en-US" sz="1000" dirty="0"/>
          </a:p>
        </p:txBody>
      </p:sp>
      <p:sp>
        <p:nvSpPr>
          <p:cNvPr id="140" name="Status WORKING">
            <a:extLst>
              <a:ext uri="{FF2B5EF4-FFF2-40B4-BE49-F238E27FC236}">
                <a16:creationId xmlns:a16="http://schemas.microsoft.com/office/drawing/2014/main" id="{D300F251-E0DB-04B0-6AE6-57248AEBDD08}"/>
              </a:ext>
            </a:extLst>
          </p:cNvPr>
          <p:cNvSpPr/>
          <p:nvPr/>
        </p:nvSpPr>
        <p:spPr>
          <a:xfrm>
            <a:off x="3218688" y="4096512"/>
            <a:ext cx="914400" cy="219456"/>
          </a:xfrm>
          <a:prstGeom prst="roundRect">
            <a:avLst>
              <a:gd name="adj" fmla="val 29167"/>
            </a:avLst>
          </a:prstGeom>
          <a:solidFill>
            <a:srgbClr val="2E7D4F"/>
          </a:solidFill>
          <a:ln/>
        </p:spPr>
        <p:txBody>
          <a:bodyPr wrap="square" lIns="0" tIns="0" rIns="0" bIns="0" rtlCol="0" anchor="ctr"/>
          <a:lstStyle/>
          <a:p>
            <a:pPr marL="0" indent="0" algn="ctr">
              <a:buNone/>
            </a:pPr>
            <a:r>
              <a:rPr lang="en-US" sz="1000" b="1" kern="0" spc="50" dirty="0">
                <a:solidFill>
                  <a:srgbClr val="FFFFFF"/>
                </a:solidFill>
                <a:latin typeface="Calibri" pitchFamily="34" charset="0"/>
                <a:ea typeface="Calibri" pitchFamily="34" charset="-122"/>
                <a:cs typeface="Calibri" pitchFamily="34" charset="-120"/>
              </a:rPr>
              <a:t>WORKING</a:t>
            </a:r>
            <a:endParaRPr lang="en-US" sz="1000" dirty="0"/>
          </a:p>
        </p:txBody>
      </p:sp>
      <p:sp>
        <p:nvSpPr>
          <p:cNvPr id="142" name="Status WORKING">
            <a:extLst>
              <a:ext uri="{FF2B5EF4-FFF2-40B4-BE49-F238E27FC236}">
                <a16:creationId xmlns:a16="http://schemas.microsoft.com/office/drawing/2014/main" id="{EA5157A7-BC0F-BF3B-1810-11AF8AFBFE6D}"/>
              </a:ext>
            </a:extLst>
          </p:cNvPr>
          <p:cNvSpPr/>
          <p:nvPr/>
        </p:nvSpPr>
        <p:spPr>
          <a:xfrm>
            <a:off x="6995160" y="3762756"/>
            <a:ext cx="914400" cy="219456"/>
          </a:xfrm>
          <a:prstGeom prst="roundRect">
            <a:avLst>
              <a:gd name="adj" fmla="val 29167"/>
            </a:avLst>
          </a:prstGeom>
          <a:solidFill>
            <a:srgbClr val="2E7D4F"/>
          </a:solidFill>
          <a:ln/>
        </p:spPr>
        <p:txBody>
          <a:bodyPr wrap="square" lIns="0" tIns="0" rIns="0" bIns="0" rtlCol="0" anchor="ctr"/>
          <a:lstStyle/>
          <a:p>
            <a:pPr marL="0" indent="0" algn="ctr">
              <a:buNone/>
            </a:pPr>
            <a:r>
              <a:rPr lang="en-US" sz="1000" b="1" kern="0" spc="50" dirty="0">
                <a:solidFill>
                  <a:srgbClr val="FFFFFF"/>
                </a:solidFill>
                <a:latin typeface="Calibri" pitchFamily="34" charset="0"/>
                <a:ea typeface="Calibri" pitchFamily="34" charset="-122"/>
                <a:cs typeface="Calibri" pitchFamily="34" charset="-120"/>
              </a:rPr>
              <a:t>WORKING</a:t>
            </a:r>
            <a:endParaRPr lang="en-US" sz="1000" dirty="0"/>
          </a:p>
        </p:txBody>
      </p:sp>
      <p:sp>
        <p:nvSpPr>
          <p:cNvPr id="144" name="Status WORKING">
            <a:extLst>
              <a:ext uri="{FF2B5EF4-FFF2-40B4-BE49-F238E27FC236}">
                <a16:creationId xmlns:a16="http://schemas.microsoft.com/office/drawing/2014/main" id="{23679988-1694-1F84-FD81-43C05ED46AB7}"/>
              </a:ext>
            </a:extLst>
          </p:cNvPr>
          <p:cNvSpPr/>
          <p:nvPr/>
        </p:nvSpPr>
        <p:spPr>
          <a:xfrm>
            <a:off x="7060131" y="2748253"/>
            <a:ext cx="914400" cy="219456"/>
          </a:xfrm>
          <a:prstGeom prst="roundRect">
            <a:avLst>
              <a:gd name="adj" fmla="val 29167"/>
            </a:avLst>
          </a:prstGeom>
          <a:solidFill>
            <a:srgbClr val="2E7D4F"/>
          </a:solidFill>
          <a:ln/>
        </p:spPr>
        <p:txBody>
          <a:bodyPr wrap="square" lIns="0" tIns="0" rIns="0" bIns="0" rtlCol="0" anchor="ctr"/>
          <a:lstStyle/>
          <a:p>
            <a:pPr marL="0" indent="0" algn="ctr">
              <a:buNone/>
            </a:pPr>
            <a:r>
              <a:rPr lang="en-US" sz="1000" b="1" kern="0" spc="50" dirty="0">
                <a:solidFill>
                  <a:srgbClr val="FFFFFF"/>
                </a:solidFill>
                <a:latin typeface="Calibri" pitchFamily="34" charset="0"/>
                <a:ea typeface="Calibri" pitchFamily="34" charset="-122"/>
                <a:cs typeface="Calibri" pitchFamily="34" charset="-120"/>
              </a:rPr>
              <a:t>WORKING</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Key Features and Innovation">
    <p:spTree>
      <p:nvGrpSpPr>
        <p:cNvPr id="1" name=""/>
        <p:cNvGrpSpPr/>
        <p:nvPr/>
      </p:nvGrpSpPr>
      <p:grpSpPr>
        <a:xfrm>
          <a:off x="0" y="0"/>
          <a:ext cx="0" cy="0"/>
          <a:chOff x="0" y="0"/>
          <a:chExt cx="0" cy="0"/>
        </a:xfrm>
      </p:grpSpPr>
      <p:sp>
        <p:nvSpPr>
          <p:cNvPr id="2" name="Eyebrow"/>
          <p:cNvSpPr txBox="1"/>
          <p:nvPr/>
        </p:nvSpPr>
        <p:spPr>
          <a:xfrm>
            <a:off x="548640" y="310896"/>
            <a:ext cx="7315200" cy="237744"/>
          </a:xfrm>
          <a:prstGeom prst="rect">
            <a:avLst/>
          </a:prstGeom>
          <a:noFill/>
          <a:ln/>
        </p:spPr>
        <p:txBody>
          <a:bodyPr wrap="square" lIns="0" tIns="0" rIns="0" bIns="0" rtlCol="0" anchor="t"/>
          <a:lstStyle/>
          <a:p>
            <a:pPr marL="0" indent="0">
              <a:buNone/>
            </a:pPr>
            <a:r>
              <a:rPr lang="en-US" sz="1600" b="1" kern="0" spc="150" dirty="0">
                <a:solidFill>
                  <a:schemeClr val="accent2"/>
                </a:solidFill>
              </a:rPr>
              <a:t>09  |  KEY FEATURES &amp; INNOVATION</a:t>
            </a:r>
            <a:endParaRPr lang="en-US" sz="1600" dirty="0"/>
          </a:p>
        </p:txBody>
      </p:sp>
      <p:sp>
        <p:nvSpPr>
          <p:cNvPr id="3" name="Text 1"/>
          <p:cNvSpPr>
            <a:spLocks noGrp="1"/>
          </p:cNvSpPr>
          <p:nvPr>
            <p:ph type="title" idx="101" hasCustomPrompt="1"/>
          </p:nvPr>
        </p:nvSpPr>
        <p:spPr>
          <a:xfrm>
            <a:off x="548640" y="566928"/>
            <a:ext cx="11091672" cy="731520"/>
          </a:xfrm>
          <a:prstGeom prst="rect">
            <a:avLst/>
          </a:prstGeom>
          <a:noFill/>
          <a:ln/>
        </p:spPr>
        <p:txBody>
          <a:bodyPr wrap="square" lIns="0" tIns="0" rIns="0" bIns="0" rtlCol="0" anchor="ctr"/>
          <a:lstStyle/>
          <a:p>
            <a:pPr marL="0" indent="0" algn="l">
              <a:buNone/>
            </a:pPr>
            <a:r>
              <a:rPr lang="en-US" sz="2800" b="1" dirty="0">
                <a:solidFill>
                  <a:schemeClr val="tx2"/>
                </a:solidFill>
                <a:latin typeface="Cambria" pitchFamily="34" charset="0"/>
                <a:ea typeface="Cambria" pitchFamily="34" charset="-122"/>
                <a:cs typeface="Cambria" pitchFamily="34" charset="-120"/>
              </a:rPr>
              <a:t>Smarter decisions. Selective deterrence. Sustainable design</a:t>
            </a:r>
            <a:endParaRPr lang="en-US" sz="2800" dirty="0"/>
          </a:p>
        </p:txBody>
      </p:sp>
      <p:sp>
        <p:nvSpPr>
          <p:cNvPr id="4" name="Feature 1"/>
          <p:cNvSpPr/>
          <p:nvPr/>
        </p:nvSpPr>
        <p:spPr>
          <a:xfrm>
            <a:off x="548640" y="1280160"/>
            <a:ext cx="3575304" cy="1645920"/>
          </a:xfrm>
          <a:prstGeom prst="roundRect">
            <a:avLst>
              <a:gd name="adj" fmla="val 5000"/>
            </a:avLst>
          </a:prstGeom>
          <a:solidFill>
            <a:schemeClr val="bg1"/>
          </a:solidFill>
          <a:ln w="12700">
            <a:solidFill>
              <a:srgbClr val="D9D2BC"/>
            </a:solidFill>
          </a:ln>
        </p:spPr>
        <p:txBody>
          <a:bodyPr/>
          <a:lstStyle/>
          <a:p>
            <a:endParaRPr lang="en-US"/>
          </a:p>
        </p:txBody>
      </p:sp>
      <p:sp>
        <p:nvSpPr>
          <p:cNvPr id="5" name="Badge 1"/>
          <p:cNvSpPr/>
          <p:nvPr/>
        </p:nvSpPr>
        <p:spPr>
          <a:xfrm>
            <a:off x="731520" y="1417320"/>
            <a:ext cx="365760" cy="365760"/>
          </a:xfrm>
          <a:prstGeom prst="ellipse">
            <a:avLst/>
          </a:prstGeom>
          <a:solidFill>
            <a:schemeClr val="tx2"/>
          </a:solidFill>
          <a:ln>
            <a:noFill/>
          </a:ln>
        </p:spPr>
        <p:txBody>
          <a:bodyPr wrap="square" lIns="0" tIns="0" rIns="0" bIns="0" rtlCol="0" anchor="ctr"/>
          <a:lstStyle/>
          <a:p>
            <a:pPr marL="0" indent="0" algn="ctr">
              <a:spcAft>
                <a:spcPts val="0"/>
              </a:spcAft>
              <a:buNone/>
            </a:pPr>
            <a:r>
              <a:rPr lang="en-US" sz="1500" b="1" dirty="0">
                <a:solidFill>
                  <a:schemeClr val="accent3"/>
                </a:solidFill>
                <a:latin typeface="Cambria"/>
                <a:ea typeface="Cambria"/>
                <a:cs typeface="Cambria"/>
              </a:rPr>
              <a:t>1</a:t>
            </a:r>
            <a:endParaRPr lang="en-US" sz="1500" dirty="0"/>
          </a:p>
        </p:txBody>
      </p:sp>
      <p:sp>
        <p:nvSpPr>
          <p:cNvPr id="6" name="Feature title 1"/>
          <p:cNvSpPr txBox="1"/>
          <p:nvPr/>
        </p:nvSpPr>
        <p:spPr>
          <a:xfrm>
            <a:off x="1207008" y="1417320"/>
            <a:ext cx="2752344" cy="365760"/>
          </a:xfrm>
          <a:prstGeom prst="rect">
            <a:avLst/>
          </a:prstGeom>
          <a:noFill/>
          <a:ln>
            <a:noFill/>
          </a:ln>
        </p:spPr>
        <p:txBody>
          <a:bodyPr wrap="square" lIns="0" tIns="0" rIns="0" bIns="0" rtlCol="0" anchor="ctr"/>
          <a:lstStyle/>
          <a:p>
            <a:pPr marL="0" indent="0" algn="l">
              <a:spcAft>
                <a:spcPts val="0"/>
              </a:spcAft>
              <a:buNone/>
            </a:pPr>
            <a:r>
              <a:rPr lang="en-US" sz="1600" b="1" dirty="0">
                <a:solidFill>
                  <a:schemeClr val="tx2"/>
                </a:solidFill>
                <a:latin typeface="Cambria"/>
                <a:ea typeface="Cambria"/>
                <a:cs typeface="Cambria"/>
              </a:rPr>
              <a:t>AI-Based Animal Detection</a:t>
            </a:r>
            <a:endParaRPr lang="en-US" sz="1600" dirty="0"/>
          </a:p>
        </p:txBody>
      </p:sp>
      <p:sp>
        <p:nvSpPr>
          <p:cNvPr id="7" name="Feature body 1"/>
          <p:cNvSpPr txBox="1"/>
          <p:nvPr/>
        </p:nvSpPr>
        <p:spPr>
          <a:xfrm>
            <a:off x="731520" y="1901952"/>
            <a:ext cx="3209544" cy="960120"/>
          </a:xfrm>
          <a:prstGeom prst="rect">
            <a:avLst/>
          </a:prstGeom>
          <a:noFill/>
          <a:ln>
            <a:noFill/>
          </a:ln>
        </p:spPr>
        <p:txBody>
          <a:bodyPr wrap="square" lIns="0" tIns="0" rIns="0" bIns="0" rtlCol="0" anchor="t"/>
          <a:lstStyle/>
          <a:p>
            <a:pPr marL="0" indent="0" algn="l">
              <a:spcAft>
                <a:spcPts val="0"/>
              </a:spcAft>
              <a:buNone/>
            </a:pPr>
            <a:r>
              <a:rPr lang="en-US" sz="1400" dirty="0">
                <a:solidFill>
                  <a:schemeClr val="tx1"/>
                </a:solidFill>
              </a:rPr>
              <a:t>YOLOv8 identifies supported object classes and displays bounding boxes with confidence scores.</a:t>
            </a:r>
            <a:endParaRPr lang="en-US" sz="1400" dirty="0"/>
          </a:p>
        </p:txBody>
      </p:sp>
      <p:sp>
        <p:nvSpPr>
          <p:cNvPr id="8" name="Feature 2"/>
          <p:cNvSpPr/>
          <p:nvPr/>
        </p:nvSpPr>
        <p:spPr>
          <a:xfrm>
            <a:off x="4306824" y="1280160"/>
            <a:ext cx="3575304" cy="1645920"/>
          </a:xfrm>
          <a:prstGeom prst="roundRect">
            <a:avLst>
              <a:gd name="adj" fmla="val 5000"/>
            </a:avLst>
          </a:prstGeom>
          <a:solidFill>
            <a:schemeClr val="bg1"/>
          </a:solidFill>
          <a:ln w="12700">
            <a:solidFill>
              <a:srgbClr val="D9D2BC"/>
            </a:solidFill>
          </a:ln>
        </p:spPr>
        <p:txBody>
          <a:bodyPr/>
          <a:lstStyle/>
          <a:p>
            <a:endParaRPr lang="en-US"/>
          </a:p>
        </p:txBody>
      </p:sp>
      <p:sp>
        <p:nvSpPr>
          <p:cNvPr id="9" name="Badge 2"/>
          <p:cNvSpPr/>
          <p:nvPr/>
        </p:nvSpPr>
        <p:spPr>
          <a:xfrm>
            <a:off x="4489704" y="1417320"/>
            <a:ext cx="365760" cy="365760"/>
          </a:xfrm>
          <a:prstGeom prst="ellipse">
            <a:avLst/>
          </a:prstGeom>
          <a:solidFill>
            <a:schemeClr val="tx2"/>
          </a:solidFill>
          <a:ln>
            <a:noFill/>
          </a:ln>
        </p:spPr>
        <p:txBody>
          <a:bodyPr wrap="square" lIns="0" tIns="0" rIns="0" bIns="0" rtlCol="0" anchor="ctr"/>
          <a:lstStyle/>
          <a:p>
            <a:pPr marL="0" indent="0" algn="ctr">
              <a:spcAft>
                <a:spcPts val="0"/>
              </a:spcAft>
              <a:buNone/>
            </a:pPr>
            <a:r>
              <a:rPr lang="en-US" sz="1500" b="1" dirty="0">
                <a:solidFill>
                  <a:schemeClr val="accent3"/>
                </a:solidFill>
                <a:latin typeface="Cambria"/>
                <a:ea typeface="Cambria"/>
                <a:cs typeface="Cambria"/>
              </a:rPr>
              <a:t>2</a:t>
            </a:r>
            <a:endParaRPr lang="en-US" sz="1500" dirty="0"/>
          </a:p>
        </p:txBody>
      </p:sp>
      <p:sp>
        <p:nvSpPr>
          <p:cNvPr id="10" name="Feature title 2"/>
          <p:cNvSpPr txBox="1"/>
          <p:nvPr/>
        </p:nvSpPr>
        <p:spPr>
          <a:xfrm>
            <a:off x="4965192" y="1417320"/>
            <a:ext cx="2752344" cy="365760"/>
          </a:xfrm>
          <a:prstGeom prst="rect">
            <a:avLst/>
          </a:prstGeom>
          <a:noFill/>
          <a:ln>
            <a:noFill/>
          </a:ln>
        </p:spPr>
        <p:txBody>
          <a:bodyPr wrap="square" lIns="0" tIns="0" rIns="0" bIns="0" rtlCol="0" anchor="ctr"/>
          <a:lstStyle/>
          <a:p>
            <a:pPr marL="0" indent="0" algn="l">
              <a:spcAft>
                <a:spcPts val="0"/>
              </a:spcAft>
              <a:buNone/>
            </a:pPr>
            <a:r>
              <a:rPr lang="en-US" sz="1600" b="1" dirty="0">
                <a:solidFill>
                  <a:schemeClr val="tx2"/>
                </a:solidFill>
                <a:latin typeface="Cambria"/>
                <a:ea typeface="Cambria"/>
                <a:cs typeface="Cambria"/>
              </a:rPr>
              <a:t>Human-Aware Response Logic</a:t>
            </a:r>
            <a:endParaRPr lang="en-US" sz="1600" dirty="0"/>
          </a:p>
        </p:txBody>
      </p:sp>
      <p:sp>
        <p:nvSpPr>
          <p:cNvPr id="11" name="Feature body 2"/>
          <p:cNvSpPr txBox="1"/>
          <p:nvPr/>
        </p:nvSpPr>
        <p:spPr>
          <a:xfrm>
            <a:off x="4489704" y="1901952"/>
            <a:ext cx="3209544" cy="960120"/>
          </a:xfrm>
          <a:prstGeom prst="rect">
            <a:avLst/>
          </a:prstGeom>
          <a:noFill/>
          <a:ln>
            <a:noFill/>
          </a:ln>
        </p:spPr>
        <p:txBody>
          <a:bodyPr wrap="square" lIns="0" tIns="0" rIns="0" bIns="0" rtlCol="0" anchor="t"/>
          <a:lstStyle/>
          <a:p>
            <a:pPr marL="0" indent="0" algn="l">
              <a:spcAft>
                <a:spcPts val="0"/>
              </a:spcAft>
              <a:buNone/>
            </a:pPr>
            <a:r>
              <a:rPr lang="en-US" sz="1400" dirty="0">
                <a:solidFill>
                  <a:schemeClr val="tx1"/>
                </a:solidFill>
              </a:rPr>
              <a:t>Designed to activate deterrence for supported animal detections while keeping the response inactive for human detections.</a:t>
            </a:r>
            <a:endParaRPr lang="en-US" sz="1400" dirty="0"/>
          </a:p>
        </p:txBody>
      </p:sp>
      <p:sp>
        <p:nvSpPr>
          <p:cNvPr id="12" name="Feature 3"/>
          <p:cNvSpPr/>
          <p:nvPr/>
        </p:nvSpPr>
        <p:spPr>
          <a:xfrm>
            <a:off x="8065008" y="1280160"/>
            <a:ext cx="3575304" cy="1645920"/>
          </a:xfrm>
          <a:prstGeom prst="roundRect">
            <a:avLst>
              <a:gd name="adj" fmla="val 5000"/>
            </a:avLst>
          </a:prstGeom>
          <a:solidFill>
            <a:schemeClr val="bg1"/>
          </a:solidFill>
          <a:ln w="12700">
            <a:solidFill>
              <a:srgbClr val="D9D2BC"/>
            </a:solidFill>
          </a:ln>
        </p:spPr>
        <p:txBody>
          <a:bodyPr/>
          <a:lstStyle/>
          <a:p>
            <a:endParaRPr lang="en-US"/>
          </a:p>
        </p:txBody>
      </p:sp>
      <p:sp>
        <p:nvSpPr>
          <p:cNvPr id="13" name="Badge 3"/>
          <p:cNvSpPr/>
          <p:nvPr/>
        </p:nvSpPr>
        <p:spPr>
          <a:xfrm>
            <a:off x="8247888" y="1417320"/>
            <a:ext cx="365760" cy="365760"/>
          </a:xfrm>
          <a:prstGeom prst="ellipse">
            <a:avLst/>
          </a:prstGeom>
          <a:solidFill>
            <a:schemeClr val="tx2"/>
          </a:solidFill>
          <a:ln>
            <a:noFill/>
          </a:ln>
        </p:spPr>
        <p:txBody>
          <a:bodyPr wrap="square" lIns="0" tIns="0" rIns="0" bIns="0" rtlCol="0" anchor="ctr"/>
          <a:lstStyle/>
          <a:p>
            <a:pPr marL="0" indent="0" algn="ctr">
              <a:spcAft>
                <a:spcPts val="0"/>
              </a:spcAft>
              <a:buNone/>
            </a:pPr>
            <a:r>
              <a:rPr lang="en-US" sz="1500" b="1" dirty="0">
                <a:solidFill>
                  <a:schemeClr val="accent3"/>
                </a:solidFill>
                <a:latin typeface="Cambria"/>
                <a:ea typeface="Cambria"/>
                <a:cs typeface="Cambria"/>
              </a:rPr>
              <a:t>3</a:t>
            </a:r>
            <a:endParaRPr lang="en-US" sz="1500" dirty="0"/>
          </a:p>
        </p:txBody>
      </p:sp>
      <p:sp>
        <p:nvSpPr>
          <p:cNvPr id="14" name="Feature title 3"/>
          <p:cNvSpPr txBox="1"/>
          <p:nvPr/>
        </p:nvSpPr>
        <p:spPr>
          <a:xfrm>
            <a:off x="8723376" y="1417320"/>
            <a:ext cx="2752344" cy="365760"/>
          </a:xfrm>
          <a:prstGeom prst="rect">
            <a:avLst/>
          </a:prstGeom>
          <a:noFill/>
          <a:ln>
            <a:noFill/>
          </a:ln>
        </p:spPr>
        <p:txBody>
          <a:bodyPr wrap="square" lIns="0" tIns="0" rIns="0" bIns="0" rtlCol="0" anchor="ctr"/>
          <a:lstStyle/>
          <a:p>
            <a:pPr marL="0" indent="0" algn="l">
              <a:spcAft>
                <a:spcPts val="0"/>
              </a:spcAft>
              <a:buNone/>
            </a:pPr>
            <a:r>
              <a:rPr lang="en-US" sz="1600" b="1" dirty="0">
                <a:solidFill>
                  <a:schemeClr val="tx2"/>
                </a:solidFill>
                <a:latin typeface="Cambria"/>
                <a:ea typeface="Cambria"/>
                <a:cs typeface="Cambria"/>
              </a:rPr>
              <a:t>Audio &amp; Motion Deterrence</a:t>
            </a:r>
            <a:endParaRPr lang="en-US" sz="1600" dirty="0"/>
          </a:p>
        </p:txBody>
      </p:sp>
      <p:sp>
        <p:nvSpPr>
          <p:cNvPr id="15" name="Feature body 3"/>
          <p:cNvSpPr txBox="1"/>
          <p:nvPr/>
        </p:nvSpPr>
        <p:spPr>
          <a:xfrm>
            <a:off x="8247888" y="1901952"/>
            <a:ext cx="3209544" cy="960120"/>
          </a:xfrm>
          <a:prstGeom prst="rect">
            <a:avLst/>
          </a:prstGeom>
          <a:noFill/>
          <a:ln>
            <a:noFill/>
          </a:ln>
        </p:spPr>
        <p:txBody>
          <a:bodyPr wrap="square" lIns="0" tIns="0" rIns="0" bIns="0" rtlCol="0" anchor="t"/>
          <a:lstStyle/>
          <a:p>
            <a:pPr marL="0" indent="0" algn="l">
              <a:spcAft>
                <a:spcPts val="0"/>
              </a:spcAft>
              <a:buNone/>
            </a:pPr>
            <a:r>
              <a:rPr lang="en-US" sz="1400" dirty="0">
                <a:solidFill>
                  <a:schemeClr val="tx1"/>
                </a:solidFill>
              </a:rPr>
              <a:t>A pre-recorded voice and servo-driven arm movement provide configurable deterrent responses.</a:t>
            </a:r>
            <a:endParaRPr lang="en-US" sz="1400" dirty="0"/>
          </a:p>
        </p:txBody>
      </p:sp>
      <p:sp>
        <p:nvSpPr>
          <p:cNvPr id="16" name="Feature 4"/>
          <p:cNvSpPr/>
          <p:nvPr/>
        </p:nvSpPr>
        <p:spPr>
          <a:xfrm>
            <a:off x="548640" y="3063240"/>
            <a:ext cx="3575304" cy="1645920"/>
          </a:xfrm>
          <a:prstGeom prst="roundRect">
            <a:avLst>
              <a:gd name="adj" fmla="val 5000"/>
            </a:avLst>
          </a:prstGeom>
          <a:solidFill>
            <a:schemeClr val="bg1"/>
          </a:solidFill>
          <a:ln w="12700">
            <a:solidFill>
              <a:srgbClr val="D9D2BC"/>
            </a:solidFill>
          </a:ln>
        </p:spPr>
        <p:txBody>
          <a:bodyPr/>
          <a:lstStyle/>
          <a:p>
            <a:endParaRPr lang="en-US"/>
          </a:p>
        </p:txBody>
      </p:sp>
      <p:sp>
        <p:nvSpPr>
          <p:cNvPr id="17" name="Badge 4"/>
          <p:cNvSpPr/>
          <p:nvPr/>
        </p:nvSpPr>
        <p:spPr>
          <a:xfrm>
            <a:off x="731520" y="3200400"/>
            <a:ext cx="365760" cy="365760"/>
          </a:xfrm>
          <a:prstGeom prst="ellipse">
            <a:avLst/>
          </a:prstGeom>
          <a:solidFill>
            <a:schemeClr val="tx2"/>
          </a:solidFill>
          <a:ln>
            <a:noFill/>
          </a:ln>
        </p:spPr>
        <p:txBody>
          <a:bodyPr wrap="square" lIns="0" tIns="0" rIns="0" bIns="0" rtlCol="0" anchor="ctr"/>
          <a:lstStyle/>
          <a:p>
            <a:pPr marL="0" indent="0" algn="ctr">
              <a:spcAft>
                <a:spcPts val="0"/>
              </a:spcAft>
              <a:buNone/>
            </a:pPr>
            <a:r>
              <a:rPr lang="en-US" sz="1500" b="1" dirty="0">
                <a:solidFill>
                  <a:schemeClr val="accent3"/>
                </a:solidFill>
                <a:latin typeface="Cambria"/>
                <a:ea typeface="Cambria"/>
                <a:cs typeface="Cambria"/>
              </a:rPr>
              <a:t>4</a:t>
            </a:r>
            <a:endParaRPr lang="en-US" sz="1500" dirty="0"/>
          </a:p>
        </p:txBody>
      </p:sp>
      <p:sp>
        <p:nvSpPr>
          <p:cNvPr id="18" name="Feature title 4"/>
          <p:cNvSpPr txBox="1"/>
          <p:nvPr/>
        </p:nvSpPr>
        <p:spPr>
          <a:xfrm>
            <a:off x="1207008" y="3200400"/>
            <a:ext cx="2752344" cy="365760"/>
          </a:xfrm>
          <a:prstGeom prst="rect">
            <a:avLst/>
          </a:prstGeom>
          <a:noFill/>
          <a:ln>
            <a:noFill/>
          </a:ln>
        </p:spPr>
        <p:txBody>
          <a:bodyPr wrap="square" lIns="0" tIns="0" rIns="0" bIns="0" rtlCol="0" anchor="ctr"/>
          <a:lstStyle/>
          <a:p>
            <a:pPr marL="0" indent="0" algn="l">
              <a:spcAft>
                <a:spcPts val="0"/>
              </a:spcAft>
              <a:buNone/>
            </a:pPr>
            <a:r>
              <a:rPr lang="en-US" sz="1600" b="1" dirty="0">
                <a:solidFill>
                  <a:schemeClr val="tx2"/>
                </a:solidFill>
                <a:latin typeface="Cambria"/>
                <a:ea typeface="Cambria"/>
                <a:cs typeface="Cambria"/>
              </a:rPr>
              <a:t>Dual Detection Modes</a:t>
            </a:r>
            <a:endParaRPr lang="en-US" sz="1600" dirty="0"/>
          </a:p>
        </p:txBody>
      </p:sp>
      <p:sp>
        <p:nvSpPr>
          <p:cNvPr id="19" name="Feature body 4"/>
          <p:cNvSpPr txBox="1"/>
          <p:nvPr/>
        </p:nvSpPr>
        <p:spPr>
          <a:xfrm>
            <a:off x="731520" y="3685032"/>
            <a:ext cx="3209544" cy="960120"/>
          </a:xfrm>
          <a:prstGeom prst="rect">
            <a:avLst/>
          </a:prstGeom>
          <a:noFill/>
          <a:ln>
            <a:noFill/>
          </a:ln>
        </p:spPr>
        <p:txBody>
          <a:bodyPr wrap="square" lIns="0" tIns="0" rIns="0" bIns="0" rtlCol="0" anchor="t"/>
          <a:lstStyle/>
          <a:p>
            <a:pPr marL="164592" indent="-164592" algn="l">
              <a:spcAft>
                <a:spcPts val="300"/>
              </a:spcAft>
              <a:buClr>
                <a:schemeClr val="accent2"/>
              </a:buClr>
              <a:buFont typeface="Arial"/>
              <a:buChar char="•"/>
            </a:pPr>
            <a:r>
              <a:rPr lang="en-US" sz="1400" dirty="0">
                <a:solidFill>
                  <a:schemeClr val="tx1"/>
                </a:solidFill>
              </a:rPr>
              <a:t>Upload an image from the device for analysis.</a:t>
            </a:r>
            <a:endParaRPr lang="en-US" sz="1400" dirty="0"/>
          </a:p>
          <a:p>
            <a:pPr marL="164592" indent="-164592" algn="l">
              <a:spcAft>
                <a:spcPts val="0"/>
              </a:spcAft>
              <a:buClr>
                <a:schemeClr val="accent2"/>
              </a:buClr>
              <a:buFont typeface="Arial"/>
              <a:buChar char="•"/>
            </a:pPr>
            <a:r>
              <a:rPr lang="en-US" sz="1400" dirty="0">
                <a:solidFill>
                  <a:schemeClr val="tx1"/>
                </a:solidFill>
              </a:rPr>
              <a:t>Use a laptop camera for live detection.</a:t>
            </a:r>
            <a:endParaRPr lang="en-US" sz="1400" dirty="0"/>
          </a:p>
        </p:txBody>
      </p:sp>
      <p:sp>
        <p:nvSpPr>
          <p:cNvPr id="20" name="Feature 5"/>
          <p:cNvSpPr/>
          <p:nvPr/>
        </p:nvSpPr>
        <p:spPr>
          <a:xfrm>
            <a:off x="4306824" y="3063240"/>
            <a:ext cx="3575304" cy="1645920"/>
          </a:xfrm>
          <a:prstGeom prst="roundRect">
            <a:avLst>
              <a:gd name="adj" fmla="val 5000"/>
            </a:avLst>
          </a:prstGeom>
          <a:solidFill>
            <a:schemeClr val="bg1"/>
          </a:solidFill>
          <a:ln w="12700">
            <a:solidFill>
              <a:srgbClr val="D9D2BC"/>
            </a:solidFill>
          </a:ln>
        </p:spPr>
        <p:txBody>
          <a:bodyPr/>
          <a:lstStyle/>
          <a:p>
            <a:endParaRPr lang="en-US"/>
          </a:p>
        </p:txBody>
      </p:sp>
      <p:sp>
        <p:nvSpPr>
          <p:cNvPr id="21" name="Badge 5"/>
          <p:cNvSpPr/>
          <p:nvPr/>
        </p:nvSpPr>
        <p:spPr>
          <a:xfrm>
            <a:off x="4489704" y="3200400"/>
            <a:ext cx="365760" cy="365760"/>
          </a:xfrm>
          <a:prstGeom prst="ellipse">
            <a:avLst/>
          </a:prstGeom>
          <a:solidFill>
            <a:schemeClr val="tx2"/>
          </a:solidFill>
          <a:ln>
            <a:noFill/>
          </a:ln>
        </p:spPr>
        <p:txBody>
          <a:bodyPr wrap="square" lIns="0" tIns="0" rIns="0" bIns="0" rtlCol="0" anchor="ctr"/>
          <a:lstStyle/>
          <a:p>
            <a:pPr marL="0" indent="0" algn="ctr">
              <a:spcAft>
                <a:spcPts val="0"/>
              </a:spcAft>
              <a:buNone/>
            </a:pPr>
            <a:r>
              <a:rPr lang="en-US" sz="1500" b="1" dirty="0">
                <a:solidFill>
                  <a:schemeClr val="accent3"/>
                </a:solidFill>
                <a:latin typeface="Cambria"/>
                <a:ea typeface="Cambria"/>
                <a:cs typeface="Cambria"/>
              </a:rPr>
              <a:t>5</a:t>
            </a:r>
            <a:endParaRPr lang="en-US" sz="1500" dirty="0"/>
          </a:p>
        </p:txBody>
      </p:sp>
      <p:sp>
        <p:nvSpPr>
          <p:cNvPr id="22" name="Feature title 5"/>
          <p:cNvSpPr txBox="1"/>
          <p:nvPr/>
        </p:nvSpPr>
        <p:spPr>
          <a:xfrm>
            <a:off x="4965192" y="3200400"/>
            <a:ext cx="2752344" cy="365760"/>
          </a:xfrm>
          <a:prstGeom prst="rect">
            <a:avLst/>
          </a:prstGeom>
          <a:noFill/>
          <a:ln>
            <a:noFill/>
          </a:ln>
        </p:spPr>
        <p:txBody>
          <a:bodyPr wrap="square" lIns="0" tIns="0" rIns="0" bIns="0" rtlCol="0" anchor="ctr"/>
          <a:lstStyle/>
          <a:p>
            <a:pPr marL="0" indent="0" algn="l">
              <a:spcAft>
                <a:spcPts val="0"/>
              </a:spcAft>
              <a:buNone/>
            </a:pPr>
            <a:r>
              <a:rPr lang="en-US" sz="1600" b="1" dirty="0">
                <a:solidFill>
                  <a:schemeClr val="tx2"/>
                </a:solidFill>
                <a:latin typeface="Cambria"/>
                <a:ea typeface="Cambria"/>
                <a:cs typeface="Cambria"/>
              </a:rPr>
              <a:t>Modular IoT Architecture</a:t>
            </a:r>
            <a:endParaRPr lang="en-US" sz="1600" dirty="0"/>
          </a:p>
        </p:txBody>
      </p:sp>
      <p:sp>
        <p:nvSpPr>
          <p:cNvPr id="23" name="Feature body 5"/>
          <p:cNvSpPr txBox="1"/>
          <p:nvPr/>
        </p:nvSpPr>
        <p:spPr>
          <a:xfrm>
            <a:off x="4489704" y="3685032"/>
            <a:ext cx="3209544" cy="960120"/>
          </a:xfrm>
          <a:prstGeom prst="rect">
            <a:avLst/>
          </a:prstGeom>
          <a:noFill/>
          <a:ln>
            <a:noFill/>
          </a:ln>
        </p:spPr>
        <p:txBody>
          <a:bodyPr wrap="square" lIns="0" tIns="0" rIns="0" bIns="0" rtlCol="0" anchor="t"/>
          <a:lstStyle/>
          <a:p>
            <a:pPr marL="0" indent="0" algn="l">
              <a:spcAft>
                <a:spcPts val="0"/>
              </a:spcAft>
              <a:buNone/>
            </a:pPr>
            <a:r>
              <a:rPr lang="en-US" sz="1400" dirty="0">
                <a:solidFill>
                  <a:schemeClr val="tx1"/>
                </a:solidFill>
              </a:rPr>
              <a:t>Designed for future event logging, device monitoring and remote notifications.</a:t>
            </a:r>
            <a:endParaRPr lang="en-US" sz="1400" dirty="0"/>
          </a:p>
        </p:txBody>
      </p:sp>
      <p:sp>
        <p:nvSpPr>
          <p:cNvPr id="24" name="Feature 6"/>
          <p:cNvSpPr/>
          <p:nvPr/>
        </p:nvSpPr>
        <p:spPr>
          <a:xfrm>
            <a:off x="8065008" y="3063240"/>
            <a:ext cx="3575304" cy="1645920"/>
          </a:xfrm>
          <a:prstGeom prst="roundRect">
            <a:avLst>
              <a:gd name="adj" fmla="val 5000"/>
            </a:avLst>
          </a:prstGeom>
          <a:solidFill>
            <a:schemeClr val="bg1"/>
          </a:solidFill>
          <a:ln w="12700">
            <a:solidFill>
              <a:srgbClr val="D9D2BC"/>
            </a:solidFill>
          </a:ln>
        </p:spPr>
        <p:txBody>
          <a:bodyPr/>
          <a:lstStyle/>
          <a:p>
            <a:endParaRPr lang="en-US"/>
          </a:p>
        </p:txBody>
      </p:sp>
      <p:sp>
        <p:nvSpPr>
          <p:cNvPr id="25" name="Badge 6"/>
          <p:cNvSpPr/>
          <p:nvPr/>
        </p:nvSpPr>
        <p:spPr>
          <a:xfrm>
            <a:off x="8247888" y="3200400"/>
            <a:ext cx="365760" cy="365760"/>
          </a:xfrm>
          <a:prstGeom prst="ellipse">
            <a:avLst/>
          </a:prstGeom>
          <a:solidFill>
            <a:schemeClr val="tx2"/>
          </a:solidFill>
          <a:ln>
            <a:noFill/>
          </a:ln>
        </p:spPr>
        <p:txBody>
          <a:bodyPr wrap="square" lIns="0" tIns="0" rIns="0" bIns="0" rtlCol="0" anchor="ctr"/>
          <a:lstStyle/>
          <a:p>
            <a:pPr marL="0" indent="0" algn="ctr">
              <a:spcAft>
                <a:spcPts val="0"/>
              </a:spcAft>
              <a:buNone/>
            </a:pPr>
            <a:r>
              <a:rPr lang="en-US" sz="1500" b="1" dirty="0">
                <a:solidFill>
                  <a:schemeClr val="accent3"/>
                </a:solidFill>
                <a:latin typeface="Cambria"/>
                <a:ea typeface="Cambria"/>
                <a:cs typeface="Cambria"/>
              </a:rPr>
              <a:t>6</a:t>
            </a:r>
            <a:endParaRPr lang="en-US" sz="1500" dirty="0"/>
          </a:p>
        </p:txBody>
      </p:sp>
      <p:sp>
        <p:nvSpPr>
          <p:cNvPr id="26" name="Feature title 6"/>
          <p:cNvSpPr txBox="1"/>
          <p:nvPr/>
        </p:nvSpPr>
        <p:spPr>
          <a:xfrm>
            <a:off x="8723376" y="3200400"/>
            <a:ext cx="2752344" cy="365760"/>
          </a:xfrm>
          <a:prstGeom prst="rect">
            <a:avLst/>
          </a:prstGeom>
          <a:noFill/>
          <a:ln>
            <a:noFill/>
          </a:ln>
        </p:spPr>
        <p:txBody>
          <a:bodyPr wrap="square" lIns="0" tIns="0" rIns="0" bIns="0" rtlCol="0" anchor="ctr"/>
          <a:lstStyle/>
          <a:p>
            <a:pPr marL="0" indent="0" algn="l">
              <a:spcAft>
                <a:spcPts val="0"/>
              </a:spcAft>
              <a:buNone/>
            </a:pPr>
            <a:r>
              <a:rPr lang="en-US" sz="1600" b="1" dirty="0">
                <a:solidFill>
                  <a:schemeClr val="tx2"/>
                </a:solidFill>
                <a:latin typeface="Cambria"/>
                <a:ea typeface="Cambria"/>
                <a:cs typeface="Cambria"/>
              </a:rPr>
              <a:t>Solar-Compatible Design</a:t>
            </a:r>
            <a:endParaRPr lang="en-US" sz="1600" dirty="0"/>
          </a:p>
        </p:txBody>
      </p:sp>
      <p:sp>
        <p:nvSpPr>
          <p:cNvPr id="27" name="Feature body 6"/>
          <p:cNvSpPr txBox="1"/>
          <p:nvPr/>
        </p:nvSpPr>
        <p:spPr>
          <a:xfrm>
            <a:off x="8247888" y="3685032"/>
            <a:ext cx="3209544" cy="960120"/>
          </a:xfrm>
          <a:prstGeom prst="rect">
            <a:avLst/>
          </a:prstGeom>
          <a:noFill/>
          <a:ln>
            <a:noFill/>
          </a:ln>
        </p:spPr>
        <p:txBody>
          <a:bodyPr wrap="square" lIns="0" tIns="0" rIns="0" bIns="0" rtlCol="0" anchor="t"/>
          <a:lstStyle/>
          <a:p>
            <a:pPr marL="0" indent="0" algn="l">
              <a:spcAft>
                <a:spcPts val="0"/>
              </a:spcAft>
              <a:buNone/>
            </a:pPr>
            <a:r>
              <a:rPr lang="en-US" sz="1400" dirty="0">
                <a:solidFill>
                  <a:schemeClr val="tx1"/>
                </a:solidFill>
              </a:rPr>
              <a:t>Solar charging and battery operation are part of the intended field deployment architecture; power autonomy is yet to be measured.</a:t>
            </a:r>
            <a:endParaRPr lang="en-US" sz="1400" dirty="0"/>
          </a:p>
        </p:txBody>
      </p:sp>
      <p:sp>
        <p:nvSpPr>
          <p:cNvPr id="28" name="Difference banner"/>
          <p:cNvSpPr/>
          <p:nvPr/>
        </p:nvSpPr>
        <p:spPr>
          <a:xfrm>
            <a:off x="548640" y="4846320"/>
            <a:ext cx="11091672" cy="1280160"/>
          </a:xfrm>
          <a:prstGeom prst="roundRect">
            <a:avLst>
              <a:gd name="adj" fmla="val 6428"/>
            </a:avLst>
          </a:prstGeom>
          <a:solidFill>
            <a:schemeClr val="tx2"/>
          </a:solidFill>
          <a:ln>
            <a:noFill/>
          </a:ln>
        </p:spPr>
        <p:txBody>
          <a:bodyPr/>
          <a:lstStyle/>
          <a:p>
            <a:endParaRPr lang="en-US"/>
          </a:p>
        </p:txBody>
      </p:sp>
      <p:sp>
        <p:nvSpPr>
          <p:cNvPr id="29" name="Difference text"/>
          <p:cNvSpPr txBox="1"/>
          <p:nvPr/>
        </p:nvSpPr>
        <p:spPr>
          <a:xfrm>
            <a:off x="822960" y="4983480"/>
            <a:ext cx="6583680" cy="1005840"/>
          </a:xfrm>
          <a:prstGeom prst="rect">
            <a:avLst/>
          </a:prstGeom>
          <a:noFill/>
          <a:ln>
            <a:noFill/>
          </a:ln>
        </p:spPr>
        <p:txBody>
          <a:bodyPr wrap="square" lIns="0" tIns="0" rIns="0" bIns="0" rtlCol="0" anchor="ctr"/>
          <a:lstStyle/>
          <a:p>
            <a:pPr marL="0" indent="0" algn="l">
              <a:spcAft>
                <a:spcPts val="400"/>
              </a:spcAft>
              <a:buNone/>
            </a:pPr>
            <a:r>
              <a:rPr lang="en-US" sz="1100" b="1" kern="0" spc="150" dirty="0">
                <a:solidFill>
                  <a:schemeClr val="accent3"/>
                </a:solidFill>
              </a:rPr>
              <a:t>WHAT MAKES SMART BIJUKA DIFFERENT?</a:t>
            </a:r>
            <a:endParaRPr lang="en-US" sz="1100" dirty="0"/>
          </a:p>
          <a:p>
            <a:pPr marL="0" indent="0" algn="l">
              <a:spcAft>
                <a:spcPts val="0"/>
              </a:spcAft>
              <a:buNone/>
            </a:pPr>
            <a:r>
              <a:rPr lang="en-US" sz="1600" dirty="0">
                <a:solidFill>
                  <a:schemeClr val="bg1"/>
                </a:solidFill>
              </a:rPr>
              <a:t>It combines visual classification with a class-dependent response policy instead of relying solely on a static scarecrow or a generic motion alarm.</a:t>
            </a:r>
            <a:endParaRPr lang="en-US" sz="1600" dirty="0"/>
          </a:p>
        </p:txBody>
      </p:sp>
      <p:sp>
        <p:nvSpPr>
          <p:cNvPr id="30" name="Focus panel"/>
          <p:cNvSpPr/>
          <p:nvPr/>
        </p:nvSpPr>
        <p:spPr>
          <a:xfrm>
            <a:off x="7589520" y="4983480"/>
            <a:ext cx="3776472" cy="1005840"/>
          </a:xfrm>
          <a:prstGeom prst="roundRect">
            <a:avLst>
              <a:gd name="adj" fmla="val 6363"/>
            </a:avLst>
          </a:prstGeom>
          <a:solidFill>
            <a:srgbClr val="1B3F2C"/>
          </a:solidFill>
          <a:ln>
            <a:noFill/>
          </a:ln>
        </p:spPr>
        <p:txBody>
          <a:bodyPr/>
          <a:lstStyle/>
          <a:p>
            <a:endParaRPr lang="en-US"/>
          </a:p>
        </p:txBody>
      </p:sp>
      <p:sp>
        <p:nvSpPr>
          <p:cNvPr id="31" name="Focus text"/>
          <p:cNvSpPr txBox="1"/>
          <p:nvPr/>
        </p:nvSpPr>
        <p:spPr>
          <a:xfrm>
            <a:off x="7818120" y="5074920"/>
            <a:ext cx="3319272" cy="822960"/>
          </a:xfrm>
          <a:prstGeom prst="rect">
            <a:avLst/>
          </a:prstGeom>
          <a:noFill/>
          <a:ln>
            <a:noFill/>
          </a:ln>
        </p:spPr>
        <p:txBody>
          <a:bodyPr wrap="square" lIns="0" tIns="0" rIns="0" bIns="0" rtlCol="0" anchor="ctr"/>
          <a:lstStyle/>
          <a:p>
            <a:pPr marL="0" indent="0" algn="l">
              <a:spcAft>
                <a:spcPts val="300"/>
              </a:spcAft>
              <a:buNone/>
            </a:pPr>
            <a:r>
              <a:rPr lang="en-US" sz="1000" b="1" kern="0" spc="150" dirty="0">
                <a:solidFill>
                  <a:schemeClr val="accent3"/>
                </a:solidFill>
              </a:rPr>
              <a:t>DEVELOPMENT FOCUS</a:t>
            </a:r>
            <a:endParaRPr lang="en-US" sz="1000" dirty="0"/>
          </a:p>
          <a:p>
            <a:pPr marL="0" indent="0" algn="l">
              <a:spcAft>
                <a:spcPts val="0"/>
              </a:spcAft>
              <a:buNone/>
            </a:pPr>
            <a:r>
              <a:rPr lang="en-US" sz="1400" dirty="0">
                <a:solidFill>
                  <a:schemeClr val="bg1"/>
                </a:solidFill>
              </a:rPr>
              <a:t>Reliable detection, safe selective response, low-power operation and field validation.</a:t>
            </a:r>
            <a:endParaRPr lang="en-US" sz="1400" dirty="0"/>
          </a:p>
        </p:txBody>
      </p:sp>
      <p:sp>
        <p:nvSpPr>
          <p:cNvPr id="32" name="Slide Number Placeholder 0"/>
          <p:cNvSpPr>
            <a:spLocks noGrp="1"/>
          </p:cNvSpPr>
          <p:nvPr>
            <p:ph type="sldNum" sz="quarter" idx="4294967295"/>
          </p:nvPr>
        </p:nvSpPr>
        <p:spPr>
          <a:xfrm>
            <a:off x="10725912" y="6419088"/>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Conclusion">
    <p:spTree>
      <p:nvGrpSpPr>
        <p:cNvPr id="1" name=""/>
        <p:cNvGrpSpPr/>
        <p:nvPr/>
      </p:nvGrpSpPr>
      <p:grpSpPr>
        <a:xfrm>
          <a:off x="0" y="0"/>
          <a:ext cx="0" cy="0"/>
          <a:chOff x="0" y="0"/>
          <a:chExt cx="0" cy="0"/>
        </a:xfrm>
      </p:grpSpPr>
      <p:sp>
        <p:nvSpPr>
          <p:cNvPr id="2" name="Eyebrow"/>
          <p:cNvSpPr txBox="1"/>
          <p:nvPr/>
        </p:nvSpPr>
        <p:spPr>
          <a:xfrm>
            <a:off x="548640" y="310896"/>
            <a:ext cx="7315200" cy="237744"/>
          </a:xfrm>
          <a:prstGeom prst="rect">
            <a:avLst/>
          </a:prstGeom>
          <a:noFill/>
          <a:ln/>
        </p:spPr>
        <p:txBody>
          <a:bodyPr wrap="square" lIns="0" tIns="0" rIns="0" bIns="0" rtlCol="0" anchor="t"/>
          <a:lstStyle/>
          <a:p>
            <a:pPr marL="0" indent="0">
              <a:buNone/>
            </a:pPr>
            <a:r>
              <a:rPr lang="en-US" sz="1600" b="1" kern="0" spc="150" dirty="0">
                <a:solidFill>
                  <a:schemeClr val="accent2"/>
                </a:solidFill>
              </a:rPr>
              <a:t>12  |  CONCLUSION</a:t>
            </a:r>
            <a:endParaRPr lang="en-US" sz="1600" dirty="0"/>
          </a:p>
        </p:txBody>
      </p:sp>
      <p:sp>
        <p:nvSpPr>
          <p:cNvPr id="3" name="Text 1"/>
          <p:cNvSpPr>
            <a:spLocks noGrp="1"/>
          </p:cNvSpPr>
          <p:nvPr>
            <p:ph type="title" idx="101" hasCustomPrompt="1"/>
          </p:nvPr>
        </p:nvSpPr>
        <p:spPr>
          <a:xfrm>
            <a:off x="548640" y="566928"/>
            <a:ext cx="11091672" cy="731520"/>
          </a:xfrm>
          <a:prstGeom prst="rect">
            <a:avLst/>
          </a:prstGeom>
          <a:noFill/>
          <a:ln/>
        </p:spPr>
        <p:txBody>
          <a:bodyPr wrap="square" lIns="0" tIns="0" rIns="0" bIns="0" rtlCol="0" anchor="ctr"/>
          <a:lstStyle/>
          <a:p>
            <a:pPr marL="0" indent="0" algn="l">
              <a:buNone/>
            </a:pPr>
            <a:r>
              <a:rPr lang="en-US" sz="2800" b="1" dirty="0">
                <a:solidFill>
                  <a:schemeClr val="tx2"/>
                </a:solidFill>
                <a:latin typeface="Cambria" pitchFamily="34" charset="0"/>
                <a:ea typeface="Cambria" pitchFamily="34" charset="-122"/>
                <a:cs typeface="Cambria" pitchFamily="34" charset="-120"/>
              </a:rPr>
              <a:t>From a traditional scarecrow to intelligent crop protection</a:t>
            </a:r>
            <a:endParaRPr lang="en-US" sz="2800" dirty="0"/>
          </a:p>
        </p:txBody>
      </p:sp>
      <p:sp>
        <p:nvSpPr>
          <p:cNvPr id="4" name="Lead"/>
          <p:cNvSpPr txBox="1"/>
          <p:nvPr/>
        </p:nvSpPr>
        <p:spPr>
          <a:xfrm>
            <a:off x="548640" y="1280160"/>
            <a:ext cx="11091672" cy="566928"/>
          </a:xfrm>
          <a:prstGeom prst="rect">
            <a:avLst/>
          </a:prstGeom>
          <a:noFill/>
          <a:ln>
            <a:noFill/>
          </a:ln>
        </p:spPr>
        <p:txBody>
          <a:bodyPr wrap="square" lIns="0" tIns="0" rIns="0" bIns="0" rtlCol="0" anchor="t"/>
          <a:lstStyle/>
          <a:p>
            <a:pPr marL="0" indent="0" algn="l">
              <a:spcAft>
                <a:spcPts val="0"/>
              </a:spcAft>
              <a:buNone/>
            </a:pPr>
            <a:r>
              <a:rPr lang="en-US" sz="1600" dirty="0">
                <a:solidFill>
                  <a:schemeClr val="tx1"/>
                </a:solidFill>
              </a:rPr>
              <a:t>Smart Bijuka is a student-built prototype exploring how AI-based visual detection, selective deterrence and renewable-energy-compatible hardware can support crop protection.</a:t>
            </a:r>
            <a:endParaRPr lang="en-US" sz="1600" dirty="0"/>
          </a:p>
        </p:txBody>
      </p:sp>
      <p:sp>
        <p:nvSpPr>
          <p:cNvPr id="5" name="Demonstrated card"/>
          <p:cNvSpPr/>
          <p:nvPr/>
        </p:nvSpPr>
        <p:spPr>
          <a:xfrm>
            <a:off x="548640" y="2011680"/>
            <a:ext cx="5303520" cy="1645920"/>
          </a:xfrm>
          <a:prstGeom prst="roundRect">
            <a:avLst>
              <a:gd name="adj" fmla="val 5000"/>
            </a:avLst>
          </a:prstGeom>
          <a:solidFill>
            <a:schemeClr val="bg1"/>
          </a:solidFill>
          <a:ln w="12700">
            <a:solidFill>
              <a:srgbClr val="D9D2BC"/>
            </a:solidFill>
          </a:ln>
        </p:spPr>
        <p:txBody>
          <a:bodyPr/>
          <a:lstStyle/>
          <a:p>
            <a:endParaRPr lang="en-US"/>
          </a:p>
        </p:txBody>
      </p:sp>
      <p:sp>
        <p:nvSpPr>
          <p:cNvPr id="6" name="Badge √"/>
          <p:cNvSpPr/>
          <p:nvPr/>
        </p:nvSpPr>
        <p:spPr>
          <a:xfrm>
            <a:off x="731520" y="2139696"/>
            <a:ext cx="329184" cy="329184"/>
          </a:xfrm>
          <a:prstGeom prst="ellipse">
            <a:avLst/>
          </a:prstGeom>
          <a:solidFill>
            <a:schemeClr val="tx2"/>
          </a:solidFill>
          <a:ln>
            <a:noFill/>
          </a:ln>
        </p:spPr>
        <p:txBody>
          <a:bodyPr wrap="square" lIns="0" tIns="0" rIns="0" bIns="0" rtlCol="0" anchor="ctr"/>
          <a:lstStyle/>
          <a:p>
            <a:pPr marL="0" indent="0" algn="ctr">
              <a:spcAft>
                <a:spcPts val="0"/>
              </a:spcAft>
              <a:buNone/>
            </a:pPr>
            <a:r>
              <a:rPr lang="en-US" sz="1400" b="1" dirty="0">
                <a:solidFill>
                  <a:schemeClr val="accent3"/>
                </a:solidFill>
                <a:latin typeface="Cambria"/>
                <a:ea typeface="Cambria"/>
                <a:cs typeface="Cambria"/>
              </a:rPr>
              <a:t>√</a:t>
            </a:r>
            <a:endParaRPr lang="en-US" sz="1400" dirty="0"/>
          </a:p>
        </p:txBody>
      </p:sp>
      <p:sp>
        <p:nvSpPr>
          <p:cNvPr id="7" name="Demonstrated title"/>
          <p:cNvSpPr txBox="1"/>
          <p:nvPr/>
        </p:nvSpPr>
        <p:spPr>
          <a:xfrm>
            <a:off x="1170432" y="2139696"/>
            <a:ext cx="4480560" cy="329184"/>
          </a:xfrm>
          <a:prstGeom prst="rect">
            <a:avLst/>
          </a:prstGeom>
          <a:noFill/>
          <a:ln>
            <a:noFill/>
          </a:ln>
        </p:spPr>
        <p:txBody>
          <a:bodyPr wrap="square" lIns="0" tIns="0" rIns="0" bIns="0" rtlCol="0" anchor="ctr"/>
          <a:lstStyle/>
          <a:p>
            <a:pPr marL="0" indent="0" algn="l">
              <a:spcAft>
                <a:spcPts val="0"/>
              </a:spcAft>
              <a:buNone/>
            </a:pPr>
            <a:r>
              <a:rPr lang="en-US" sz="1600" b="1" dirty="0">
                <a:solidFill>
                  <a:schemeClr val="tx2"/>
                </a:solidFill>
                <a:latin typeface="Cambria"/>
                <a:ea typeface="Cambria"/>
                <a:cs typeface="Cambria"/>
              </a:rPr>
              <a:t>What has been demonstrated</a:t>
            </a:r>
            <a:endParaRPr lang="en-US" sz="1600" dirty="0"/>
          </a:p>
        </p:txBody>
      </p:sp>
      <p:sp>
        <p:nvSpPr>
          <p:cNvPr id="8" name="Demonstrated body"/>
          <p:cNvSpPr txBox="1"/>
          <p:nvPr/>
        </p:nvSpPr>
        <p:spPr>
          <a:xfrm>
            <a:off x="777240" y="2578608"/>
            <a:ext cx="4846320" cy="1024128"/>
          </a:xfrm>
          <a:prstGeom prst="rect">
            <a:avLst/>
          </a:prstGeom>
          <a:noFill/>
          <a:ln>
            <a:noFill/>
          </a:ln>
        </p:spPr>
        <p:txBody>
          <a:bodyPr wrap="square" lIns="0" tIns="0" rIns="0" bIns="0" rtlCol="0" anchor="t"/>
          <a:lstStyle/>
          <a:p>
            <a:pPr marL="164592" indent="-164592" algn="l">
              <a:spcAft>
                <a:spcPts val="300"/>
              </a:spcAft>
              <a:buClr>
                <a:schemeClr val="accent2"/>
              </a:buClr>
              <a:buFont typeface="Arial"/>
              <a:buChar char="•"/>
            </a:pPr>
            <a:r>
              <a:rPr lang="en-US" sz="1400" dirty="0">
                <a:solidFill>
                  <a:schemeClr val="tx1"/>
                </a:solidFill>
              </a:rPr>
              <a:t>A physical Smart Bijuka prototype.</a:t>
            </a:r>
            <a:endParaRPr lang="en-US" sz="1400" dirty="0"/>
          </a:p>
          <a:p>
            <a:pPr marL="164592" indent="-164592" algn="l">
              <a:spcAft>
                <a:spcPts val="300"/>
              </a:spcAft>
              <a:buClr>
                <a:schemeClr val="accent2"/>
              </a:buClr>
              <a:buFont typeface="Arial"/>
              <a:buChar char="•"/>
            </a:pPr>
            <a:r>
              <a:rPr lang="en-US" sz="1400" dirty="0">
                <a:solidFill>
                  <a:schemeClr val="tx1"/>
                </a:solidFill>
              </a:rPr>
              <a:t>Individual hardware component tests.</a:t>
            </a:r>
            <a:endParaRPr lang="en-US" sz="1400" dirty="0"/>
          </a:p>
          <a:p>
            <a:pPr marL="164592" indent="-164592" algn="l">
              <a:spcAft>
                <a:spcPts val="0"/>
              </a:spcAft>
              <a:buClr>
                <a:schemeClr val="accent2"/>
              </a:buClr>
              <a:buFont typeface="Arial"/>
              <a:buChar char="•"/>
            </a:pPr>
            <a:r>
              <a:rPr lang="en-US" sz="1400" dirty="0">
                <a:solidFill>
                  <a:schemeClr val="tx1"/>
                </a:solidFill>
              </a:rPr>
              <a:t>A software interface demonstrating sample animal detection and bounding-box visualisation.</a:t>
            </a:r>
            <a:endParaRPr lang="en-US" sz="1400" dirty="0"/>
          </a:p>
        </p:txBody>
      </p:sp>
      <p:sp>
        <p:nvSpPr>
          <p:cNvPr id="9" name="Seeking card"/>
          <p:cNvSpPr/>
          <p:nvPr/>
        </p:nvSpPr>
        <p:spPr>
          <a:xfrm>
            <a:off x="548640" y="3794760"/>
            <a:ext cx="5303520" cy="1463040"/>
          </a:xfrm>
          <a:prstGeom prst="roundRect">
            <a:avLst>
              <a:gd name="adj" fmla="val 5624"/>
            </a:avLst>
          </a:prstGeom>
          <a:solidFill>
            <a:schemeClr val="bg1"/>
          </a:solidFill>
          <a:ln w="12700">
            <a:solidFill>
              <a:srgbClr val="D9D2BC"/>
            </a:solidFill>
          </a:ln>
        </p:spPr>
        <p:txBody>
          <a:bodyPr/>
          <a:lstStyle/>
          <a:p>
            <a:endParaRPr lang="en-US"/>
          </a:p>
        </p:txBody>
      </p:sp>
      <p:sp>
        <p:nvSpPr>
          <p:cNvPr id="10" name="Badge +"/>
          <p:cNvSpPr/>
          <p:nvPr/>
        </p:nvSpPr>
        <p:spPr>
          <a:xfrm>
            <a:off x="731520" y="3922776"/>
            <a:ext cx="329184" cy="329184"/>
          </a:xfrm>
          <a:prstGeom prst="ellipse">
            <a:avLst/>
          </a:prstGeom>
          <a:solidFill>
            <a:schemeClr val="tx2"/>
          </a:solidFill>
          <a:ln>
            <a:noFill/>
          </a:ln>
        </p:spPr>
        <p:txBody>
          <a:bodyPr wrap="square" lIns="0" tIns="0" rIns="0" bIns="0" rtlCol="0" anchor="ctr"/>
          <a:lstStyle/>
          <a:p>
            <a:pPr marL="0" indent="0" algn="ctr">
              <a:spcAft>
                <a:spcPts val="0"/>
              </a:spcAft>
              <a:buNone/>
            </a:pPr>
            <a:r>
              <a:rPr lang="en-US" sz="1600" b="1" dirty="0">
                <a:solidFill>
                  <a:schemeClr val="accent3"/>
                </a:solidFill>
                <a:latin typeface="Cambria"/>
                <a:ea typeface="Cambria"/>
                <a:cs typeface="Cambria"/>
              </a:rPr>
              <a:t>+</a:t>
            </a:r>
            <a:endParaRPr lang="en-US" sz="1600" dirty="0"/>
          </a:p>
        </p:txBody>
      </p:sp>
      <p:sp>
        <p:nvSpPr>
          <p:cNvPr id="11" name="Seeking title"/>
          <p:cNvSpPr txBox="1"/>
          <p:nvPr/>
        </p:nvSpPr>
        <p:spPr>
          <a:xfrm>
            <a:off x="1170432" y="3922776"/>
            <a:ext cx="4480560" cy="329184"/>
          </a:xfrm>
          <a:prstGeom prst="rect">
            <a:avLst/>
          </a:prstGeom>
          <a:noFill/>
          <a:ln>
            <a:noFill/>
          </a:ln>
        </p:spPr>
        <p:txBody>
          <a:bodyPr wrap="square" lIns="0" tIns="0" rIns="0" bIns="0" rtlCol="0" anchor="ctr"/>
          <a:lstStyle/>
          <a:p>
            <a:pPr marL="0" indent="0" algn="l">
              <a:spcAft>
                <a:spcPts val="0"/>
              </a:spcAft>
              <a:buNone/>
            </a:pPr>
            <a:r>
              <a:rPr lang="en-US" sz="1600" b="1" dirty="0">
                <a:solidFill>
                  <a:schemeClr val="tx2"/>
                </a:solidFill>
                <a:latin typeface="Cambria"/>
                <a:ea typeface="Cambria"/>
                <a:cs typeface="Cambria"/>
              </a:rPr>
              <a:t>We are seeking</a:t>
            </a:r>
            <a:endParaRPr lang="en-US" sz="1600" dirty="0"/>
          </a:p>
        </p:txBody>
      </p:sp>
      <p:sp>
        <p:nvSpPr>
          <p:cNvPr id="12" name="Seeking body"/>
          <p:cNvSpPr txBox="1"/>
          <p:nvPr/>
        </p:nvSpPr>
        <p:spPr>
          <a:xfrm>
            <a:off x="777240" y="4361688"/>
            <a:ext cx="4846320" cy="841248"/>
          </a:xfrm>
          <a:prstGeom prst="rect">
            <a:avLst/>
          </a:prstGeom>
          <a:noFill/>
          <a:ln>
            <a:noFill/>
          </a:ln>
        </p:spPr>
        <p:txBody>
          <a:bodyPr wrap="square" lIns="0" tIns="0" rIns="0" bIns="0" rtlCol="0" anchor="t"/>
          <a:lstStyle/>
          <a:p>
            <a:pPr marL="164592" indent="-164592" algn="l">
              <a:spcAft>
                <a:spcPts val="300"/>
              </a:spcAft>
              <a:buClr>
                <a:schemeClr val="accent2"/>
              </a:buClr>
              <a:buFont typeface="Arial"/>
              <a:buChar char="•"/>
            </a:pPr>
            <a:r>
              <a:rPr lang="en-US" sz="1400" dirty="0">
                <a:solidFill>
                  <a:schemeClr val="tx1"/>
                </a:solidFill>
              </a:rPr>
              <a:t>Mentorship in computer vision and agri-tech.</a:t>
            </a:r>
            <a:endParaRPr lang="en-US" sz="1400" dirty="0"/>
          </a:p>
          <a:p>
            <a:pPr marL="164592" indent="-164592" algn="l">
              <a:spcAft>
                <a:spcPts val="300"/>
              </a:spcAft>
              <a:buClr>
                <a:schemeClr val="accent2"/>
              </a:buClr>
              <a:buFont typeface="Arial"/>
              <a:buChar char="•"/>
            </a:pPr>
            <a:r>
              <a:rPr lang="en-US" sz="1400" dirty="0">
                <a:solidFill>
                  <a:schemeClr val="tx1"/>
                </a:solidFill>
              </a:rPr>
              <a:t>Access to a controlled field-testing site.</a:t>
            </a:r>
            <a:endParaRPr lang="en-US" sz="1400" dirty="0"/>
          </a:p>
          <a:p>
            <a:pPr marL="164592" indent="-164592" algn="l">
              <a:spcAft>
                <a:spcPts val="0"/>
              </a:spcAft>
              <a:buClr>
                <a:schemeClr val="accent2"/>
              </a:buClr>
              <a:buFont typeface="Arial"/>
              <a:buChar char="•"/>
            </a:pPr>
            <a:r>
              <a:rPr lang="en-US" sz="1400" dirty="0">
                <a:solidFill>
                  <a:schemeClr val="tx1"/>
                </a:solidFill>
              </a:rPr>
              <a:t>Feedback from farmers and agricultural experts.</a:t>
            </a:r>
            <a:endParaRPr lang="en-US" sz="1400" dirty="0"/>
          </a:p>
        </p:txBody>
      </p:sp>
      <p:sp>
        <p:nvSpPr>
          <p:cNvPr id="13" name="Next card"/>
          <p:cNvSpPr/>
          <p:nvPr/>
        </p:nvSpPr>
        <p:spPr>
          <a:xfrm>
            <a:off x="6035040" y="2011680"/>
            <a:ext cx="5605272" cy="3246120"/>
          </a:xfrm>
          <a:prstGeom prst="roundRect">
            <a:avLst>
              <a:gd name="adj" fmla="val 2535"/>
            </a:avLst>
          </a:prstGeom>
          <a:solidFill>
            <a:schemeClr val="tx2"/>
          </a:solidFill>
          <a:ln>
            <a:noFill/>
          </a:ln>
        </p:spPr>
        <p:txBody>
          <a:bodyPr/>
          <a:lstStyle/>
          <a:p>
            <a:endParaRPr lang="en-US"/>
          </a:p>
        </p:txBody>
      </p:sp>
      <p:sp>
        <p:nvSpPr>
          <p:cNvPr id="14" name="Badge →"/>
          <p:cNvSpPr/>
          <p:nvPr/>
        </p:nvSpPr>
        <p:spPr>
          <a:xfrm>
            <a:off x="6263640" y="2139696"/>
            <a:ext cx="329184" cy="329184"/>
          </a:xfrm>
          <a:prstGeom prst="ellipse">
            <a:avLst/>
          </a:prstGeom>
          <a:solidFill>
            <a:schemeClr val="accent3"/>
          </a:solidFill>
          <a:ln>
            <a:noFill/>
          </a:ln>
        </p:spPr>
        <p:txBody>
          <a:bodyPr wrap="square" lIns="0" tIns="0" rIns="0" bIns="0" rtlCol="0" anchor="ctr"/>
          <a:lstStyle/>
          <a:p>
            <a:pPr marL="0" indent="0" algn="ctr">
              <a:spcAft>
                <a:spcPts val="0"/>
              </a:spcAft>
              <a:buNone/>
            </a:pPr>
            <a:r>
              <a:rPr lang="en-US" sz="1600" b="1" dirty="0">
                <a:solidFill>
                  <a:schemeClr val="tx2"/>
                </a:solidFill>
                <a:latin typeface="Arial"/>
                <a:ea typeface="Arial"/>
                <a:cs typeface="Arial"/>
              </a:rPr>
              <a:t>→</a:t>
            </a:r>
            <a:endParaRPr lang="en-US" sz="1600" dirty="0"/>
          </a:p>
        </p:txBody>
      </p:sp>
      <p:sp>
        <p:nvSpPr>
          <p:cNvPr id="15" name="Next title"/>
          <p:cNvSpPr txBox="1"/>
          <p:nvPr/>
        </p:nvSpPr>
        <p:spPr>
          <a:xfrm>
            <a:off x="6702552" y="2139696"/>
            <a:ext cx="4690872" cy="329184"/>
          </a:xfrm>
          <a:prstGeom prst="rect">
            <a:avLst/>
          </a:prstGeom>
          <a:noFill/>
          <a:ln>
            <a:noFill/>
          </a:ln>
        </p:spPr>
        <p:txBody>
          <a:bodyPr wrap="square" lIns="0" tIns="0" rIns="0" bIns="0" rtlCol="0" anchor="ctr"/>
          <a:lstStyle/>
          <a:p>
            <a:pPr marL="0" indent="0" algn="l">
              <a:spcAft>
                <a:spcPts val="0"/>
              </a:spcAft>
              <a:buNone/>
            </a:pPr>
            <a:r>
              <a:rPr lang="en-US" sz="1600" b="1" dirty="0">
                <a:solidFill>
                  <a:schemeClr val="bg1"/>
                </a:solidFill>
                <a:latin typeface="Cambria"/>
                <a:ea typeface="Cambria"/>
                <a:cs typeface="Cambria"/>
              </a:rPr>
              <a:t>What comes next</a:t>
            </a:r>
            <a:endParaRPr lang="en-US" sz="1600" dirty="0"/>
          </a:p>
        </p:txBody>
      </p:sp>
      <p:sp>
        <p:nvSpPr>
          <p:cNvPr id="16" name="Next body"/>
          <p:cNvSpPr txBox="1"/>
          <p:nvPr/>
        </p:nvSpPr>
        <p:spPr>
          <a:xfrm>
            <a:off x="6309360" y="2633472"/>
            <a:ext cx="5056632" cy="2514600"/>
          </a:xfrm>
          <a:prstGeom prst="rect">
            <a:avLst/>
          </a:prstGeom>
          <a:noFill/>
          <a:ln>
            <a:noFill/>
          </a:ln>
        </p:spPr>
        <p:txBody>
          <a:bodyPr wrap="square" lIns="0" tIns="0" rIns="0" bIns="0" rtlCol="0" anchor="t"/>
          <a:lstStyle/>
          <a:p>
            <a:pPr marL="201168" indent="-201168" algn="l">
              <a:spcAft>
                <a:spcPts val="1100"/>
              </a:spcAft>
              <a:buClr>
                <a:schemeClr val="accent3"/>
              </a:buClr>
              <a:buFont typeface="+mj-lt"/>
              <a:buAutoNum type="arabicPeriod"/>
            </a:pPr>
            <a:r>
              <a:rPr lang="en-US" sz="1400" dirty="0">
                <a:solidFill>
                  <a:schemeClr val="bg1"/>
                </a:solidFill>
              </a:rPr>
              <a:t>Complete camera-to-AI-to-ESP32 integration.</a:t>
            </a:r>
            <a:endParaRPr lang="en-US" sz="1400" dirty="0"/>
          </a:p>
          <a:p>
            <a:pPr marL="201168" indent="-201168" algn="l">
              <a:spcAft>
                <a:spcPts val="1100"/>
              </a:spcAft>
              <a:buClr>
                <a:schemeClr val="accent3"/>
              </a:buClr>
              <a:buFont typeface="+mj-lt"/>
              <a:buAutoNum type="arabicPeriod"/>
            </a:pPr>
            <a:r>
              <a:rPr lang="en-US" sz="1400" dirty="0">
                <a:solidFill>
                  <a:schemeClr val="bg1"/>
                </a:solidFill>
              </a:rPr>
              <a:t>Verify that animal detections trigger the intended response and human detections trigger none.</a:t>
            </a:r>
            <a:endParaRPr lang="en-US" sz="1400" dirty="0"/>
          </a:p>
          <a:p>
            <a:pPr marL="201168" indent="-201168" algn="l">
              <a:spcAft>
                <a:spcPts val="1100"/>
              </a:spcAft>
              <a:buClr>
                <a:schemeClr val="accent3"/>
              </a:buClr>
              <a:buFont typeface="+mj-lt"/>
              <a:buAutoNum type="arabicPeriod"/>
            </a:pPr>
            <a:r>
              <a:rPr lang="en-US" sz="1400" dirty="0">
                <a:solidFill>
                  <a:schemeClr val="bg1"/>
                </a:solidFill>
              </a:rPr>
              <a:t>Measure detection quality, response latency and hardware reliability.</a:t>
            </a:r>
            <a:endParaRPr lang="en-US" sz="1400" dirty="0"/>
          </a:p>
          <a:p>
            <a:pPr marL="201168" indent="-201168" algn="l">
              <a:spcAft>
                <a:spcPts val="1100"/>
              </a:spcAft>
              <a:buClr>
                <a:schemeClr val="accent3"/>
              </a:buClr>
              <a:buFont typeface="+mj-lt"/>
              <a:buAutoNum type="arabicPeriod"/>
            </a:pPr>
            <a:r>
              <a:rPr lang="en-US" sz="1400" dirty="0">
                <a:solidFill>
                  <a:schemeClr val="bg1"/>
                </a:solidFill>
              </a:rPr>
              <a:t>Test power consumption, battery runtime and field suitability.</a:t>
            </a:r>
            <a:endParaRPr lang="en-US" sz="1400" dirty="0"/>
          </a:p>
          <a:p>
            <a:pPr marL="201168" indent="-201168" algn="l">
              <a:spcAft>
                <a:spcPts val="1100"/>
              </a:spcAft>
              <a:buClr>
                <a:schemeClr val="accent3"/>
              </a:buClr>
              <a:buFont typeface="+mj-lt"/>
              <a:buAutoNum type="arabicPeriod"/>
            </a:pPr>
            <a:r>
              <a:rPr lang="en-US" sz="1400" dirty="0">
                <a:solidFill>
                  <a:schemeClr val="bg1"/>
                </a:solidFill>
              </a:rPr>
              <a:t>Gather feedback through controlled testing with agricultural stakeholders.</a:t>
            </a:r>
            <a:endParaRPr lang="en-US" sz="1400" dirty="0"/>
          </a:p>
        </p:txBody>
      </p:sp>
      <p:sp>
        <p:nvSpPr>
          <p:cNvPr id="17" name="Goal banner"/>
          <p:cNvSpPr/>
          <p:nvPr/>
        </p:nvSpPr>
        <p:spPr>
          <a:xfrm>
            <a:off x="548640" y="5394960"/>
            <a:ext cx="11091672" cy="685800"/>
          </a:xfrm>
          <a:prstGeom prst="roundRect">
            <a:avLst>
              <a:gd name="adj" fmla="val 12000"/>
            </a:avLst>
          </a:prstGeom>
          <a:solidFill>
            <a:schemeClr val="accent6"/>
          </a:solidFill>
          <a:ln w="12700">
            <a:solidFill>
              <a:srgbClr val="B9D2BE"/>
            </a:solidFill>
          </a:ln>
        </p:spPr>
        <p:txBody>
          <a:bodyPr/>
          <a:lstStyle/>
          <a:p>
            <a:endParaRPr lang="en-US"/>
          </a:p>
        </p:txBody>
      </p:sp>
      <p:sp>
        <p:nvSpPr>
          <p:cNvPr id="18" name="Goal label"/>
          <p:cNvSpPr txBox="1"/>
          <p:nvPr/>
        </p:nvSpPr>
        <p:spPr>
          <a:xfrm>
            <a:off x="822960" y="5394960"/>
            <a:ext cx="1097280" cy="685800"/>
          </a:xfrm>
          <a:prstGeom prst="rect">
            <a:avLst/>
          </a:prstGeom>
          <a:noFill/>
          <a:ln>
            <a:noFill/>
          </a:ln>
        </p:spPr>
        <p:txBody>
          <a:bodyPr wrap="square" lIns="0" tIns="0" rIns="0" bIns="0" rtlCol="0" anchor="ctr"/>
          <a:lstStyle/>
          <a:p>
            <a:pPr marL="0" indent="0" algn="l">
              <a:spcAft>
                <a:spcPts val="0"/>
              </a:spcAft>
              <a:buNone/>
            </a:pPr>
            <a:r>
              <a:rPr lang="en-US" sz="1100" b="1" kern="0" spc="150" dirty="0">
                <a:solidFill>
                  <a:schemeClr val="accent2"/>
                </a:solidFill>
              </a:rPr>
              <a:t>OUR GOAL</a:t>
            </a:r>
            <a:endParaRPr lang="en-US" sz="1100" dirty="0"/>
          </a:p>
        </p:txBody>
      </p:sp>
      <p:sp>
        <p:nvSpPr>
          <p:cNvPr id="19" name="Goal text"/>
          <p:cNvSpPr txBox="1"/>
          <p:nvPr/>
        </p:nvSpPr>
        <p:spPr>
          <a:xfrm>
            <a:off x="2011680" y="5440680"/>
            <a:ext cx="9354312" cy="594360"/>
          </a:xfrm>
          <a:prstGeom prst="rect">
            <a:avLst/>
          </a:prstGeom>
          <a:noFill/>
          <a:ln>
            <a:noFill/>
          </a:ln>
        </p:spPr>
        <p:txBody>
          <a:bodyPr wrap="square" lIns="0" tIns="0" rIns="0" bIns="0" rtlCol="0" anchor="ctr"/>
          <a:lstStyle/>
          <a:p>
            <a:pPr marL="0" indent="0" algn="l">
              <a:spcAft>
                <a:spcPts val="0"/>
              </a:spcAft>
              <a:buNone/>
            </a:pPr>
            <a:r>
              <a:rPr lang="en-US" sz="1500" b="1" dirty="0">
                <a:solidFill>
                  <a:schemeClr val="tx2"/>
                </a:solidFill>
              </a:rPr>
              <a:t>Develop a practical, testable and sustainable approach to reducing crop damage, rather than claiming field effectiveness before it is measured.</a:t>
            </a:r>
            <a:endParaRPr lang="en-US" sz="1500" dirty="0"/>
          </a:p>
        </p:txBody>
      </p:sp>
      <p:sp>
        <p:nvSpPr>
          <p:cNvPr id="20" name="Slide Number Placeholder 0"/>
          <p:cNvSpPr>
            <a:spLocks noGrp="1"/>
          </p:cNvSpPr>
          <p:nvPr>
            <p:ph type="sldNum" sz="quarter" idx="4294967295"/>
          </p:nvPr>
        </p:nvSpPr>
        <p:spPr>
          <a:xfrm>
            <a:off x="10725912" y="6419088"/>
            <a:ext cx="9144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1E3"/>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5486400" cy="274320"/>
          </a:xfrm>
          <a:prstGeom prst="rect">
            <a:avLst/>
          </a:prstGeom>
          <a:noFill/>
          <a:ln/>
        </p:spPr>
        <p:txBody>
          <a:bodyPr wrap="square" lIns="0" tIns="0" rIns="0" bIns="0" rtlCol="0" anchor="t"/>
          <a:lstStyle/>
          <a:p>
            <a:pPr marL="0" indent="0">
              <a:buNone/>
            </a:pPr>
            <a:r>
              <a:rPr lang="en-US" sz="1300" b="1" kern="0" spc="200" dirty="0">
                <a:solidFill>
                  <a:srgbClr val="66756D"/>
                </a:solidFill>
                <a:latin typeface="Calibri" pitchFamily="34" charset="0"/>
                <a:ea typeface="Calibri" pitchFamily="34" charset="-122"/>
                <a:cs typeface="Calibri" pitchFamily="34" charset="-120"/>
              </a:rPr>
              <a:t>SMART BIJUKA  |  HACKCULT ’26</a:t>
            </a:r>
            <a:endParaRPr lang="en-US" sz="1300" b="1" dirty="0"/>
          </a:p>
        </p:txBody>
      </p:sp>
      <p:sp>
        <p:nvSpPr>
          <p:cNvPr id="3" name="Text 1"/>
          <p:cNvSpPr txBox="1"/>
          <p:nvPr/>
        </p:nvSpPr>
        <p:spPr>
          <a:xfrm>
            <a:off x="548640" y="777240"/>
            <a:ext cx="6776805" cy="1100718"/>
          </a:xfrm>
          <a:prstGeom prst="rect">
            <a:avLst/>
          </a:prstGeom>
          <a:noFill/>
          <a:ln/>
        </p:spPr>
        <p:txBody>
          <a:bodyPr wrap="square" lIns="0" tIns="0" rIns="0" bIns="0" rtlCol="0" anchor="t"/>
          <a:lstStyle/>
          <a:p>
            <a:pPr marL="0" indent="0">
              <a:buNone/>
            </a:pPr>
            <a:r>
              <a:rPr lang="en-US" sz="3000" b="1" dirty="0">
                <a:solidFill>
                  <a:srgbClr val="1F4D36"/>
                </a:solidFill>
                <a:latin typeface="Cambria" pitchFamily="34" charset="0"/>
                <a:ea typeface="Cambria" pitchFamily="34" charset="-122"/>
                <a:cs typeface="Cambria" pitchFamily="34" charset="-120"/>
              </a:rPr>
              <a:t>From a static scarecrow to intelligent, selective crop protection.</a:t>
            </a:r>
            <a:endParaRPr lang="en-US" sz="3000" dirty="0"/>
          </a:p>
        </p:txBody>
      </p:sp>
      <p:sp>
        <p:nvSpPr>
          <p:cNvPr id="4" name="Text 2"/>
          <p:cNvSpPr txBox="1"/>
          <p:nvPr/>
        </p:nvSpPr>
        <p:spPr>
          <a:xfrm>
            <a:off x="145698" y="2542260"/>
            <a:ext cx="2844389" cy="963424"/>
          </a:xfrm>
          <a:prstGeom prst="rect">
            <a:avLst/>
          </a:prstGeom>
          <a:noFill/>
          <a:ln/>
        </p:spPr>
        <p:txBody>
          <a:bodyPr wrap="square" lIns="0" tIns="0" rIns="0" bIns="0" rtlCol="0" anchor="t"/>
          <a:lstStyle/>
          <a:p>
            <a:pPr marL="0" indent="0">
              <a:buNone/>
            </a:pPr>
            <a:r>
              <a:rPr lang="en-US" sz="1600" b="1" dirty="0">
                <a:solidFill>
                  <a:srgbClr val="1B2A22"/>
                </a:solidFill>
                <a:latin typeface="Calibri" pitchFamily="34" charset="0"/>
                <a:ea typeface="Calibri" pitchFamily="34" charset="-122"/>
                <a:cs typeface="Calibri" pitchFamily="34" charset="-120"/>
              </a:rPr>
              <a:t>A student-built, AI-assisted solution inspired by a real farming problem and now recognized by local media.</a:t>
            </a:r>
            <a:endParaRPr lang="en-US" sz="1600" b="1" dirty="0"/>
          </a:p>
        </p:txBody>
      </p:sp>
      <p:pic>
        <p:nvPicPr>
          <p:cNvPr id="19" name="Image 5" descr="Dainik Bhaskar newspaper feature on Smart Bijuka, 15 August 2025"/>
          <p:cNvPicPr>
            <a:picLocks noChangeAspect="1"/>
          </p:cNvPicPr>
          <p:nvPr/>
        </p:nvPicPr>
        <p:blipFill>
          <a:blip r:embed="rId3"/>
          <a:srcRect r="3538" b="6500"/>
          <a:stretch>
            <a:fillRect/>
          </a:stretch>
        </p:blipFill>
        <p:spPr>
          <a:xfrm>
            <a:off x="2999232" y="2330013"/>
            <a:ext cx="5188945" cy="3101523"/>
          </a:xfrm>
          <a:prstGeom prst="rect">
            <a:avLst/>
          </a:prstGeom>
        </p:spPr>
      </p:pic>
      <p:sp>
        <p:nvSpPr>
          <p:cNvPr id="20" name="Text 12"/>
          <p:cNvSpPr txBox="1"/>
          <p:nvPr/>
        </p:nvSpPr>
        <p:spPr>
          <a:xfrm>
            <a:off x="3848522" y="5507898"/>
            <a:ext cx="3476923" cy="457200"/>
          </a:xfrm>
          <a:prstGeom prst="rect">
            <a:avLst/>
          </a:prstGeom>
          <a:noFill/>
          <a:ln/>
        </p:spPr>
        <p:txBody>
          <a:bodyPr wrap="square" lIns="0" tIns="0" rIns="0" bIns="0" rtlCol="0" anchor="t"/>
          <a:lstStyle/>
          <a:p>
            <a:pPr marL="0" indent="0">
              <a:buNone/>
            </a:pPr>
            <a:r>
              <a:rPr lang="en-US" sz="1200" b="1" i="1" dirty="0">
                <a:solidFill>
                  <a:srgbClr val="1F4D36"/>
                </a:solidFill>
                <a:latin typeface="Calibri" pitchFamily="34" charset="0"/>
                <a:ea typeface="Calibri" pitchFamily="34" charset="-122"/>
                <a:cs typeface="Calibri" pitchFamily="34" charset="-120"/>
              </a:rPr>
              <a:t>Featured in Dainik Bhaskar, 15 August 2025, Gwalior</a:t>
            </a:r>
            <a:endParaRPr lang="en-US" sz="1200" b="1" i="1" dirty="0"/>
          </a:p>
        </p:txBody>
      </p:sp>
      <p:sp>
        <p:nvSpPr>
          <p:cNvPr id="21" name="Photo frame"/>
          <p:cNvSpPr/>
          <p:nvPr/>
        </p:nvSpPr>
        <p:spPr>
          <a:xfrm>
            <a:off x="8915400" y="411480"/>
            <a:ext cx="2880360" cy="4343400"/>
          </a:xfrm>
          <a:prstGeom prst="rect">
            <a:avLst/>
          </a:prstGeom>
          <a:solidFill>
            <a:srgbClr val="FFFFFF"/>
          </a:solidFill>
          <a:ln w="12700">
            <a:solidFill>
              <a:srgbClr val="D9D2BC"/>
            </a:solidFill>
            <a:prstDash val="solid"/>
          </a:ln>
        </p:spPr>
        <p:txBody>
          <a:bodyPr/>
          <a:lstStyle/>
          <a:p>
            <a:endParaRPr lang="en-IN"/>
          </a:p>
        </p:txBody>
      </p:sp>
      <p:pic>
        <p:nvPicPr>
          <p:cNvPr id="22" name="Image 6" descr="Smart Bijuka prototype with camera and solar panel"/>
          <p:cNvPicPr>
            <a:picLocks noChangeAspect="1"/>
          </p:cNvPicPr>
          <p:nvPr/>
        </p:nvPicPr>
        <p:blipFill>
          <a:blip r:embed="rId4"/>
          <a:stretch>
            <a:fillRect/>
          </a:stretch>
        </p:blipFill>
        <p:spPr>
          <a:xfrm>
            <a:off x="8924544" y="329641"/>
            <a:ext cx="2880360" cy="4425239"/>
          </a:xfrm>
          <a:prstGeom prst="rect">
            <a:avLst/>
          </a:prstGeom>
        </p:spPr>
      </p:pic>
      <p:sp>
        <p:nvSpPr>
          <p:cNvPr id="23" name="Text 14"/>
          <p:cNvSpPr txBox="1"/>
          <p:nvPr/>
        </p:nvSpPr>
        <p:spPr>
          <a:xfrm>
            <a:off x="9052560" y="4809744"/>
            <a:ext cx="2743200" cy="201168"/>
          </a:xfrm>
          <a:prstGeom prst="rect">
            <a:avLst/>
          </a:prstGeom>
          <a:noFill/>
          <a:ln/>
        </p:spPr>
        <p:txBody>
          <a:bodyPr wrap="square" lIns="0" tIns="0" rIns="0" bIns="0" rtlCol="0" anchor="t"/>
          <a:lstStyle/>
          <a:p>
            <a:pPr marL="0" indent="0" algn="ctr">
              <a:buNone/>
            </a:pPr>
            <a:r>
              <a:rPr lang="en-US" sz="1600" b="1" dirty="0">
                <a:latin typeface="Calibri" pitchFamily="34" charset="0"/>
                <a:ea typeface="Calibri" pitchFamily="34" charset="-122"/>
                <a:cs typeface="Calibri" pitchFamily="34" charset="-120"/>
              </a:rPr>
              <a:t>Actual prototype</a:t>
            </a:r>
            <a:endParaRPr lang="en-US" sz="1600" b="1" dirty="0"/>
          </a:p>
        </p:txBody>
      </p:sp>
      <p:sp>
        <p:nvSpPr>
          <p:cNvPr id="24" name="Contact bar"/>
          <p:cNvSpPr/>
          <p:nvPr/>
        </p:nvSpPr>
        <p:spPr>
          <a:xfrm>
            <a:off x="411480" y="5760720"/>
            <a:ext cx="11365992" cy="868680"/>
          </a:xfrm>
          <a:prstGeom prst="roundRect">
            <a:avLst>
              <a:gd name="adj" fmla="val 10526"/>
            </a:avLst>
          </a:prstGeom>
          <a:solidFill>
            <a:srgbClr val="1F4D36"/>
          </a:solidFill>
          <a:ln w="12700">
            <a:solidFill>
              <a:srgbClr val="1F4D36"/>
            </a:solidFill>
            <a:prstDash val="solid"/>
          </a:ln>
        </p:spPr>
        <p:txBody>
          <a:bodyPr/>
          <a:lstStyle/>
          <a:p>
            <a:endParaRPr lang="en-IN"/>
          </a:p>
        </p:txBody>
      </p:sp>
      <p:sp>
        <p:nvSpPr>
          <p:cNvPr id="26" name="Text 16"/>
          <p:cNvSpPr txBox="1"/>
          <p:nvPr/>
        </p:nvSpPr>
        <p:spPr>
          <a:xfrm>
            <a:off x="1051560" y="5760720"/>
            <a:ext cx="1554480" cy="86868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Pravash Singh</a:t>
            </a:r>
            <a:endParaRPr lang="en-US" sz="1500" dirty="0"/>
          </a:p>
        </p:txBody>
      </p:sp>
      <p:pic>
        <p:nvPicPr>
          <p:cNvPr id="27" name="Image 8" descr="Email icon"/>
          <p:cNvPicPr>
            <a:picLocks noChangeAspect="1"/>
          </p:cNvPicPr>
          <p:nvPr/>
        </p:nvPicPr>
        <p:blipFill>
          <a:blip r:embed="rId5"/>
          <a:stretch>
            <a:fillRect/>
          </a:stretch>
        </p:blipFill>
        <p:spPr>
          <a:xfrm>
            <a:off x="2743200" y="6089904"/>
            <a:ext cx="256032" cy="256032"/>
          </a:xfrm>
          <a:prstGeom prst="rect">
            <a:avLst/>
          </a:prstGeom>
        </p:spPr>
      </p:pic>
      <p:sp>
        <p:nvSpPr>
          <p:cNvPr id="28" name="Text 17"/>
          <p:cNvSpPr txBox="1"/>
          <p:nvPr/>
        </p:nvSpPr>
        <p:spPr>
          <a:xfrm>
            <a:off x="3090672" y="5760720"/>
            <a:ext cx="2103120" cy="86868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Pravashs775@gmail.com</a:t>
            </a:r>
            <a:endParaRPr lang="en-US" sz="1300" dirty="0"/>
          </a:p>
        </p:txBody>
      </p:sp>
      <p:pic>
        <p:nvPicPr>
          <p:cNvPr id="29" name="Image 9" descr="GitHub icon"/>
          <p:cNvPicPr>
            <a:picLocks noChangeAspect="1"/>
          </p:cNvPicPr>
          <p:nvPr/>
        </p:nvPicPr>
        <p:blipFill>
          <a:blip r:embed="rId6"/>
          <a:stretch>
            <a:fillRect/>
          </a:stretch>
        </p:blipFill>
        <p:spPr>
          <a:xfrm>
            <a:off x="5349240" y="6089904"/>
            <a:ext cx="256032" cy="256032"/>
          </a:xfrm>
          <a:prstGeom prst="rect">
            <a:avLst/>
          </a:prstGeom>
        </p:spPr>
      </p:pic>
      <p:sp>
        <p:nvSpPr>
          <p:cNvPr id="30" name="Text 18"/>
          <p:cNvSpPr txBox="1"/>
          <p:nvPr/>
        </p:nvSpPr>
        <p:spPr>
          <a:xfrm>
            <a:off x="5696712" y="5760720"/>
            <a:ext cx="1828800" cy="86868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GitHub: []</a:t>
            </a:r>
            <a:endParaRPr lang="en-US" sz="1300" dirty="0"/>
          </a:p>
        </p:txBody>
      </p:sp>
      <p:pic>
        <p:nvPicPr>
          <p:cNvPr id="31" name="Image 10" descr="YouTube icon"/>
          <p:cNvPicPr>
            <a:picLocks noChangeAspect="1"/>
          </p:cNvPicPr>
          <p:nvPr/>
        </p:nvPicPr>
        <p:blipFill>
          <a:blip r:embed="rId7"/>
          <a:stretch>
            <a:fillRect/>
          </a:stretch>
        </p:blipFill>
        <p:spPr>
          <a:xfrm>
            <a:off x="7635240" y="6089904"/>
            <a:ext cx="256032" cy="256032"/>
          </a:xfrm>
          <a:prstGeom prst="rect">
            <a:avLst/>
          </a:prstGeom>
        </p:spPr>
      </p:pic>
      <p:sp>
        <p:nvSpPr>
          <p:cNvPr id="32" name="Text 19"/>
          <p:cNvSpPr txBox="1"/>
          <p:nvPr/>
        </p:nvSpPr>
        <p:spPr>
          <a:xfrm>
            <a:off x="7982712" y="5760720"/>
            <a:ext cx="1737360" cy="86868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Demo: []</a:t>
            </a:r>
            <a:endParaRPr lang="en-US" sz="1300" dirty="0"/>
          </a:p>
        </p:txBody>
      </p:sp>
      <p:sp>
        <p:nvSpPr>
          <p:cNvPr id="33" name="QR placeholder GitHub QR"/>
          <p:cNvSpPr/>
          <p:nvPr/>
        </p:nvSpPr>
        <p:spPr>
          <a:xfrm>
            <a:off x="9921240" y="5870448"/>
            <a:ext cx="822960" cy="640080"/>
          </a:xfrm>
          <a:prstGeom prst="rect">
            <a:avLst/>
          </a:prstGeom>
          <a:solidFill>
            <a:srgbClr val="1F4D36"/>
          </a:solidFill>
          <a:ln w="19050">
            <a:solidFill>
              <a:srgbClr val="D9B84A"/>
            </a:solidFill>
            <a:prstDash val="dash"/>
          </a:ln>
        </p:spPr>
        <p:txBody>
          <a:bodyPr wrap="square" lIns="381" tIns="381" rIns="381" bIns="381" rtlCol="0" anchor="ctr"/>
          <a:lstStyle/>
          <a:p>
            <a:pPr marL="0" indent="0" algn="ctr">
              <a:buNone/>
            </a:pPr>
            <a:endParaRPr lang="en-US" sz="1000" dirty="0"/>
          </a:p>
        </p:txBody>
      </p:sp>
      <p:sp>
        <p:nvSpPr>
          <p:cNvPr id="34" name="QR placeholder Demo QR"/>
          <p:cNvSpPr/>
          <p:nvPr/>
        </p:nvSpPr>
        <p:spPr>
          <a:xfrm>
            <a:off x="10835640" y="5870448"/>
            <a:ext cx="822960" cy="640080"/>
          </a:xfrm>
          <a:prstGeom prst="rect">
            <a:avLst/>
          </a:prstGeom>
          <a:solidFill>
            <a:srgbClr val="1F4D36"/>
          </a:solidFill>
          <a:ln w="19050">
            <a:solidFill>
              <a:srgbClr val="D9B84A"/>
            </a:solidFill>
            <a:prstDash val="dash"/>
          </a:ln>
        </p:spPr>
        <p:txBody>
          <a:bodyPr wrap="square" lIns="381" tIns="381" rIns="381" bIns="381" rtlCol="0" anchor="ctr"/>
          <a:lstStyle/>
          <a:p>
            <a:pPr marL="0" indent="0" algn="ctr">
              <a:buNone/>
            </a:pPr>
            <a:endParaRPr lang="en-US" sz="1000" dirty="0"/>
          </a:p>
        </p:txBody>
      </p:sp>
    </p:spTree>
  </p:cSld>
  <p:clrMapOvr>
    <a:masterClrMapping/>
  </p:clrMapOvr>
</p:sld>
</file>

<file path=ppt/theme/theme1.xml><?xml version="1.0" encoding="utf-8"?>
<a:theme xmlns:a="http://schemas.openxmlformats.org/drawingml/2006/main" name="Smart Bijuka">
  <a:themeElements>
    <a:clrScheme name="Smart Bijuka">
      <a:dk1>
        <a:srgbClr val="1B2A22"/>
      </a:dk1>
      <a:lt1>
        <a:srgbClr val="FFFFFF"/>
      </a:lt1>
      <a:dk2>
        <a:srgbClr val="1F4D36"/>
      </a:dk2>
      <a:lt2>
        <a:srgbClr val="F6F1E3"/>
      </a:lt2>
      <a:accent1>
        <a:srgbClr val="1F4D36"/>
      </a:accent1>
      <a:accent2>
        <a:srgbClr val="2E7D4F"/>
      </a:accent2>
      <a:accent3>
        <a:srgbClr val="D9B84A"/>
      </a:accent3>
      <a:accent4>
        <a:srgbClr val="66756D"/>
      </a:accent4>
      <a:accent5>
        <a:srgbClr val="A65F1B"/>
      </a:accent5>
      <a:accent6>
        <a:srgbClr val="DCE8DC"/>
      </a:accent6>
      <a:hlink>
        <a:srgbClr val="2E7D4F"/>
      </a:hlink>
      <a:folHlink>
        <a:srgbClr val="66756D"/>
      </a:folHlink>
    </a:clrScheme>
    <a:fontScheme name="Smart Bijuk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80</TotalTime>
  <Words>1915</Words>
  <Application>Microsoft Office PowerPoint</Application>
  <PresentationFormat>Widescreen</PresentationFormat>
  <Paragraphs>327</Paragraphs>
  <Slides>10</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Cambria</vt:lpstr>
      <vt:lpstr>Times New Roman</vt:lpstr>
      <vt:lpstr>Smart Bijuka</vt:lpstr>
      <vt:lpstr>PowerPoint Presentation</vt:lpstr>
      <vt:lpstr>Guarding fields is manual and alarms are blind</vt:lpstr>
      <vt:lpstr>PowerPoint Presentation</vt:lpstr>
      <vt:lpstr>A modular, AI-assisted crop protection system</vt:lpstr>
      <vt:lpstr>The prototype: what is built and visible today</vt:lpstr>
      <vt:lpstr>From field images to class-based decisions</vt:lpstr>
      <vt:lpstr>PowerPoint Presentation</vt:lpstr>
      <vt:lpstr>Smarter decisions. Selective deterrence. Sustainable design</vt:lpstr>
      <vt:lpstr>From a traditional scarecrow to intelligent crop protection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Bijuka - HackCult '26 Pitch Deck</dc:title>
  <dc:subject>PptxGenJS Presentation</dc:subject>
  <dc:creator>Pravash Singh</dc:creator>
  <cp:lastModifiedBy>Pravash Singh</cp:lastModifiedBy>
  <cp:revision>4</cp:revision>
  <dcterms:created xsi:type="dcterms:W3CDTF">2026-10-26T23:52:48Z</dcterms:created>
  <dcterms:modified xsi:type="dcterms:W3CDTF">2026-10-28T01:59:37Z</dcterms:modified>
</cp:coreProperties>
</file>